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embeddedFontLst>
    <p:embeddedFont>
      <p:font typeface="Malgun Gothic" panose="020B0503020000020004" pitchFamily="50" charset="-127"/>
      <p:regular r:id="rId30"/>
      <p:bold r:id="rId31"/>
    </p:embeddedFont>
    <p:embeddedFont>
      <p:font typeface="Helvetica Neue" panose="020B0600000101010101" charset="0"/>
      <p:regular r:id="rId32"/>
      <p:bold r:id="rId33"/>
      <p:italic r:id="rId34"/>
      <p:boldItalic r:id="rId35"/>
    </p:embeddedFont>
    <p:embeddedFont>
      <p:font typeface="Noto Sans KR" panose="020B0200000000000000" pitchFamily="50" charset="-127"/>
      <p:regular r:id="rId36"/>
      <p:bold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hGuDjZWaSU6iuWSv8LwaQwyV6X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09EC1F8-AC1D-4D89-8362-BFE88D794B3A}">
  <a:tblStyle styleId="{009EC1F8-AC1D-4D89-8362-BFE88D794B3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26C74ED-47C9-4CF2-91C9-739396BFA55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customschemas.google.com/relationships/presentationmetadata" Target="meta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d98813954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6d98813954_1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36d98813954_1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d693eaac2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6d693eaac2_1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6d693eaac2_1_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d693eaac2_1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6d693eaac2_1_2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g36d693eaac2_1_2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6d693eaac2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6d693eaac2_1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36d693eaac2_1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d693eaac2_1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6d693eaac2_1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g36d693eaac2_1_1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d693eaac2_1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6d693eaac2_1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6d693eaac2_1_1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6d693eaac2_1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6d693eaac2_1_1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6d693eaac2_1_1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d693eaac2_1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6d693eaac2_1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g36d693eaac2_1_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d693eaac2_1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6d693eaac2_1_1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36d693eaac2_1_1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6d693eaac2_1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6d693eaac2_1_1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g36d693eaac2_1_1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6d693eaac2_1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6d693eaac2_1_1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36d693eaac2_1_1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6d693eaac2_1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6d693eaac2_1_2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36d693eaac2_1_20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6d693eaac2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6d693eaac2_1_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36d693eaac2_1_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6e4a02d997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6e4a02d997_2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g36e4a02d997_2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6d98813954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6d98813954_1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g36d98813954_1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6e44e7ea0d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6e44e7ea0d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g36e44e7ea0d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6d8c37080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6d8c37080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g36d8c37080f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6d8c3708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6d8c37080f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g36d8c37080f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6e44e7ea0d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6e44e7ea0d_0_1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g36e44e7ea0d_0_1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6d8c37080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6d8c37080f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g36d8c37080f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6d8c37080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6d8c37080f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g36d8c37080f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6d8c37080f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6d8c37080f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g36d8c37080f_0_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6d8c37080f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6d8c37080f_0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g36d8c37080f_0_1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6d8c37080f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6d8c37080f_0_1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g36d8c37080f_0_1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6d9881395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6d98813954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g36d98813954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Google Shape;15;p5"/>
            <p:cNvSpPr/>
            <p:nvPr/>
          </p:nvSpPr>
          <p:spPr>
            <a:xfrm>
              <a:off x="0" y="0"/>
              <a:ext cx="12192000" cy="3676650"/>
            </a:xfrm>
            <a:prstGeom prst="rect">
              <a:avLst/>
            </a:prstGeom>
            <a:solidFill>
              <a:srgbClr val="1F3864"/>
            </a:solidFill>
            <a:ln w="12700" cap="flat" cmpd="sng">
              <a:solidFill>
                <a:srgbClr val="1F386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" name="Google Shape;16;p5"/>
            <p:cNvSpPr/>
            <p:nvPr/>
          </p:nvSpPr>
          <p:spPr>
            <a:xfrm>
              <a:off x="0" y="5981700"/>
              <a:ext cx="12192000" cy="876300"/>
            </a:xfrm>
            <a:prstGeom prst="rect">
              <a:avLst/>
            </a:prstGeom>
            <a:solidFill>
              <a:srgbClr val="1F3864"/>
            </a:solidFill>
            <a:ln w="12700" cap="flat" cmpd="sng">
              <a:solidFill>
                <a:srgbClr val="1F386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Google Shape;11;p4"/>
            <p:cNvSpPr/>
            <p:nvPr/>
          </p:nvSpPr>
          <p:spPr>
            <a:xfrm>
              <a:off x="0" y="0"/>
              <a:ext cx="12192000" cy="762000"/>
            </a:xfrm>
            <a:prstGeom prst="rect">
              <a:avLst/>
            </a:prstGeom>
            <a:solidFill>
              <a:srgbClr val="1F3864"/>
            </a:solidFill>
            <a:ln w="12700" cap="flat" cmpd="sng">
              <a:solidFill>
                <a:srgbClr val="1F386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" name="Google Shape;12;p4"/>
            <p:cNvSpPr/>
            <p:nvPr/>
          </p:nvSpPr>
          <p:spPr>
            <a:xfrm>
              <a:off x="0" y="6496050"/>
              <a:ext cx="12192000" cy="361950"/>
            </a:xfrm>
            <a:prstGeom prst="rect">
              <a:avLst/>
            </a:prstGeom>
            <a:solidFill>
              <a:srgbClr val="1F3864"/>
            </a:solidFill>
            <a:ln w="12700" cap="flat" cmpd="sng">
              <a:solidFill>
                <a:srgbClr val="1F386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12192000" cy="3676650"/>
            </a:xfrm>
            <a:prstGeom prst="rect">
              <a:avLst/>
            </a:prstGeom>
            <a:solidFill>
              <a:srgbClr val="1F3864"/>
            </a:solidFill>
            <a:ln w="12700" cap="flat" cmpd="sng">
              <a:solidFill>
                <a:srgbClr val="1F386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0" y="5981700"/>
              <a:ext cx="12192000" cy="876300"/>
            </a:xfrm>
            <a:prstGeom prst="rect">
              <a:avLst/>
            </a:prstGeom>
            <a:solidFill>
              <a:srgbClr val="1F3864"/>
            </a:solidFill>
            <a:ln w="12700" cap="flat" cmpd="sng">
              <a:solidFill>
                <a:srgbClr val="1F386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88" name="Google Shape;88;p1"/>
          <p:cNvSpPr txBox="1"/>
          <p:nvPr/>
        </p:nvSpPr>
        <p:spPr>
          <a:xfrm>
            <a:off x="3637951" y="5535150"/>
            <a:ext cx="4916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626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Medical AI Research Center</a:t>
            </a:r>
            <a:endParaRPr/>
          </a:p>
        </p:txBody>
      </p:sp>
      <p:grpSp>
        <p:nvGrpSpPr>
          <p:cNvPr id="89" name="Google Shape;89;p1"/>
          <p:cNvGrpSpPr/>
          <p:nvPr/>
        </p:nvGrpSpPr>
        <p:grpSpPr>
          <a:xfrm>
            <a:off x="7989487" y="122537"/>
            <a:ext cx="4050370" cy="431138"/>
            <a:chOff x="2579031" y="14099464"/>
            <a:chExt cx="4050370" cy="431138"/>
          </a:xfrm>
        </p:grpSpPr>
        <p:pic>
          <p:nvPicPr>
            <p:cNvPr id="90" name="Google Shape;90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349641" y="14145975"/>
              <a:ext cx="1279760" cy="3846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579031" y="14145975"/>
              <a:ext cx="2373899" cy="35291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2" name="Google Shape;92;p1"/>
            <p:cNvCxnSpPr/>
            <p:nvPr/>
          </p:nvCxnSpPr>
          <p:spPr>
            <a:xfrm>
              <a:off x="5151285" y="14099464"/>
              <a:ext cx="0" cy="399427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93" name="Google Shape;93;p1"/>
          <p:cNvSpPr txBox="1"/>
          <p:nvPr/>
        </p:nvSpPr>
        <p:spPr>
          <a:xfrm>
            <a:off x="9475328" y="648625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D5DBE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fld>
            <a:endParaRPr sz="1200" b="0" i="0" u="none" strike="noStrike" cap="none">
              <a:solidFill>
                <a:srgbClr val="D5DBE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4679797" y="6473609"/>
            <a:ext cx="2832406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Medical  AI Research Center, SMC</a:t>
            </a:r>
            <a:endParaRPr sz="1200" dirty="0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6528" y="6547542"/>
            <a:ext cx="62869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DA9D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MARS</a:t>
            </a:r>
            <a:endParaRPr sz="1200">
              <a:solidFill>
                <a:srgbClr val="8DA9D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4813986" y="4819604"/>
            <a:ext cx="256403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62626"/>
                </a:solidFill>
                <a:latin typeface="Noto Sans KR"/>
                <a:ea typeface="Noto Sans KR"/>
                <a:cs typeface="Noto Sans KR"/>
                <a:sym typeface="Noto Sans KR"/>
              </a:rPr>
              <a:t>July. 11. 2025</a:t>
            </a:r>
            <a:endParaRPr sz="2000">
              <a:solidFill>
                <a:srgbClr val="26262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5056352" y="4079600"/>
            <a:ext cx="207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62626"/>
                </a:solidFill>
                <a:latin typeface="Noto Sans KR"/>
                <a:ea typeface="Noto Sans KR"/>
                <a:cs typeface="Noto Sans KR"/>
                <a:sym typeface="Noto Sans KR"/>
              </a:rPr>
              <a:t>홍창희, 박민선</a:t>
            </a:r>
            <a:endParaRPr sz="1800">
              <a:solidFill>
                <a:srgbClr val="26262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360809" y="2065028"/>
            <a:ext cx="1147038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F2F2F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VGGNet - Backbone Paper Review</a:t>
            </a:r>
            <a:endParaRPr sz="4000" b="1">
              <a:solidFill>
                <a:srgbClr val="F2F2F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sldNum" idx="12"/>
          </p:nvPr>
        </p:nvSpPr>
        <p:spPr>
          <a:xfrm>
            <a:off x="9418002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2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2134740" y="1770842"/>
            <a:ext cx="118800" cy="3117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2324588" y="1726588"/>
            <a:ext cx="3548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VGGNet 백본 논문</a:t>
            </a:r>
            <a:endParaRPr sz="2200" b="1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74893" y="-12741"/>
            <a:ext cx="12042213" cy="695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DCE5"/>
              </a:buClr>
              <a:buSzPts val="2800"/>
              <a:buFont typeface="Malgun Gothic"/>
              <a:buNone/>
            </a:pPr>
            <a:r>
              <a:rPr lang="en-US" sz="36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Contents</a:t>
            </a:r>
            <a:endParaRPr sz="36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2324607" y="2426263"/>
            <a:ext cx="324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1. Introduction</a:t>
            </a:r>
            <a:endParaRPr sz="1800" b="1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2324607" y="2929950"/>
            <a:ext cx="324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2. Architecture</a:t>
            </a:r>
            <a:endParaRPr sz="1800" b="1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2324607" y="3433663"/>
            <a:ext cx="324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3. Train &amp; Test</a:t>
            </a:r>
            <a:endParaRPr sz="1800" b="1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2324607" y="3937350"/>
            <a:ext cx="324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4. Experiments</a:t>
            </a:r>
            <a:endParaRPr sz="1800" b="1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2324607" y="4441063"/>
            <a:ext cx="324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5. Conclusion</a:t>
            </a:r>
            <a:endParaRPr sz="1800" b="1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2324607" y="4944750"/>
            <a:ext cx="324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+ )</a:t>
            </a:r>
            <a:r>
              <a:rPr lang="en-US" sz="18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논문 구현 실습</a:t>
            </a:r>
            <a:endParaRPr sz="1800" b="1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6318990" y="1770842"/>
            <a:ext cx="118800" cy="311700"/>
          </a:xfrm>
          <a:prstGeom prst="rect">
            <a:avLst/>
          </a:prstGeom>
          <a:solidFill>
            <a:srgbClr val="203864"/>
          </a:solidFill>
          <a:ln w="12700" cap="flat" cmpd="sng">
            <a:solidFill>
              <a:srgbClr val="20386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6508838" y="1726588"/>
            <a:ext cx="3548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VGGNet 활용 임상 저널</a:t>
            </a:r>
            <a:endParaRPr sz="2200" b="1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6508857" y="2426238"/>
            <a:ext cx="324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1. 소개</a:t>
            </a:r>
            <a:endParaRPr sz="1800" b="1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6508857" y="2929925"/>
            <a:ext cx="324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2. 사용 데이터셋</a:t>
            </a:r>
            <a:endParaRPr sz="1800" b="1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6508857" y="3433638"/>
            <a:ext cx="324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3. 모델 적용 &amp; 성능</a:t>
            </a:r>
            <a:endParaRPr sz="1800" b="1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d98813954_1_25"/>
          <p:cNvSpPr txBox="1"/>
          <p:nvPr/>
        </p:nvSpPr>
        <p:spPr>
          <a:xfrm>
            <a:off x="74893" y="26439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9EBF5"/>
              </a:buClr>
              <a:buSzPts val="3600"/>
              <a:buFont typeface="Helvetica Neue"/>
              <a:buNone/>
            </a:pPr>
            <a:r>
              <a:rPr lang="en-US" sz="36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Introduction</a:t>
            </a:r>
            <a:endParaRPr sz="3600" b="1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25" name="Google Shape;125;g36d98813954_1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293" y="1087500"/>
            <a:ext cx="5672050" cy="191121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6d98813954_1_25"/>
          <p:cNvSpPr txBox="1"/>
          <p:nvPr/>
        </p:nvSpPr>
        <p:spPr>
          <a:xfrm>
            <a:off x="2649472" y="2904787"/>
            <a:ext cx="17697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ex) ALEXNET</a:t>
            </a:r>
            <a:endParaRPr dirty="0"/>
          </a:p>
        </p:txBody>
      </p:sp>
      <p:sp>
        <p:nvSpPr>
          <p:cNvPr id="127" name="Google Shape;127;g36d98813954_1_25"/>
          <p:cNvSpPr txBox="1">
            <a:spLocks noGrp="1"/>
          </p:cNvSpPr>
          <p:nvPr>
            <p:ph type="sldNum" idx="12"/>
          </p:nvPr>
        </p:nvSpPr>
        <p:spPr>
          <a:xfrm>
            <a:off x="9418002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3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28" name="Google Shape;128;g36d98813954_1_25"/>
          <p:cNvSpPr/>
          <p:nvPr/>
        </p:nvSpPr>
        <p:spPr>
          <a:xfrm rot="-5400000">
            <a:off x="10347850" y="-1255300"/>
            <a:ext cx="429900" cy="3258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6D9EEB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6d98813954_1_25"/>
          <p:cNvSpPr txBox="1"/>
          <p:nvPr/>
        </p:nvSpPr>
        <p:spPr>
          <a:xfrm>
            <a:off x="9365788" y="181538"/>
            <a:ext cx="3548400" cy="384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VGGNet 백본 논문</a:t>
            </a:r>
            <a:endParaRPr sz="1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30;g36d98813954_1_25"/>
          <p:cNvSpPr/>
          <p:nvPr/>
        </p:nvSpPr>
        <p:spPr>
          <a:xfrm>
            <a:off x="8998150" y="218600"/>
            <a:ext cx="310800" cy="310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 cap="flat" cmpd="sng">
            <a:solidFill>
              <a:srgbClr val="1F386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3864"/>
                </a:solidFill>
              </a:rPr>
              <a:t>1</a:t>
            </a:r>
            <a:endParaRPr>
              <a:solidFill>
                <a:srgbClr val="1F3864"/>
              </a:solidFill>
            </a:endParaRPr>
          </a:p>
        </p:txBody>
      </p:sp>
      <p:pic>
        <p:nvPicPr>
          <p:cNvPr id="131" name="Google Shape;131;g36d98813954_1_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399" y="3532117"/>
            <a:ext cx="5906447" cy="2440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6d98813954_1_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89150" y="2156800"/>
            <a:ext cx="5384875" cy="291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d693eaac2_1_29"/>
          <p:cNvSpPr txBox="1"/>
          <p:nvPr/>
        </p:nvSpPr>
        <p:spPr>
          <a:xfrm>
            <a:off x="74893" y="26439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9EBF5"/>
              </a:buClr>
              <a:buSzPts val="3600"/>
              <a:buFont typeface="Helvetica Neue"/>
              <a:buNone/>
            </a:pPr>
            <a:r>
              <a:rPr lang="en-US" sz="36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Architecture</a:t>
            </a:r>
            <a:endParaRPr sz="3600" b="1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39" name="Google Shape;139;g36d693eaac2_1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5050" y="997400"/>
            <a:ext cx="5146675" cy="508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6d693eaac2_1_29"/>
          <p:cNvSpPr/>
          <p:nvPr/>
        </p:nvSpPr>
        <p:spPr>
          <a:xfrm>
            <a:off x="6831275" y="1854900"/>
            <a:ext cx="405000" cy="31482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6d693eaac2_1_29"/>
          <p:cNvSpPr/>
          <p:nvPr/>
        </p:nvSpPr>
        <p:spPr>
          <a:xfrm>
            <a:off x="7305825" y="3049200"/>
            <a:ext cx="2861100" cy="695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Focus on ‘DEPTH’</a:t>
            </a:r>
            <a:endParaRPr sz="1600" b="1"/>
          </a:p>
        </p:txBody>
      </p:sp>
      <p:sp>
        <p:nvSpPr>
          <p:cNvPr id="142" name="Google Shape;142;g36d693eaac2_1_29"/>
          <p:cNvSpPr/>
          <p:nvPr/>
        </p:nvSpPr>
        <p:spPr>
          <a:xfrm>
            <a:off x="6831275" y="5099775"/>
            <a:ext cx="3335700" cy="835500"/>
          </a:xfrm>
          <a:prstGeom prst="leftArrowCallout">
            <a:avLst>
              <a:gd name="adj1" fmla="val 36099"/>
              <a:gd name="adj2" fmla="val 37882"/>
              <a:gd name="adj3" fmla="val 45557"/>
              <a:gd name="adj4" fmla="val 81989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Fix the FC layers</a:t>
            </a:r>
            <a:endParaRPr sz="1600" b="1"/>
          </a:p>
        </p:txBody>
      </p:sp>
      <p:sp>
        <p:nvSpPr>
          <p:cNvPr id="143" name="Google Shape;143;g36d693eaac2_1_29"/>
          <p:cNvSpPr/>
          <p:nvPr/>
        </p:nvSpPr>
        <p:spPr>
          <a:xfrm>
            <a:off x="6831275" y="997400"/>
            <a:ext cx="3335700" cy="835500"/>
          </a:xfrm>
          <a:prstGeom prst="leftArrowCallout">
            <a:avLst>
              <a:gd name="adj1" fmla="val 36099"/>
              <a:gd name="adj2" fmla="val 37882"/>
              <a:gd name="adj3" fmla="val 45557"/>
              <a:gd name="adj4" fmla="val 81989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Compare A to E</a:t>
            </a:r>
            <a:endParaRPr sz="1600" b="1">
              <a:solidFill>
                <a:schemeClr val="dk1"/>
              </a:solidFill>
            </a:endParaRPr>
          </a:p>
        </p:txBody>
      </p:sp>
      <p:sp>
        <p:nvSpPr>
          <p:cNvPr id="144" name="Google Shape;144;g36d693eaac2_1_29"/>
          <p:cNvSpPr txBox="1">
            <a:spLocks noGrp="1"/>
          </p:cNvSpPr>
          <p:nvPr>
            <p:ph type="sldNum" idx="12"/>
          </p:nvPr>
        </p:nvSpPr>
        <p:spPr>
          <a:xfrm>
            <a:off x="9418002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4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45" name="Google Shape;145;g36d693eaac2_1_29"/>
          <p:cNvSpPr/>
          <p:nvPr/>
        </p:nvSpPr>
        <p:spPr>
          <a:xfrm rot="-5400000">
            <a:off x="10347850" y="-1255300"/>
            <a:ext cx="429900" cy="3258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6D9EEB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36d693eaac2_1_29"/>
          <p:cNvSpPr txBox="1"/>
          <p:nvPr/>
        </p:nvSpPr>
        <p:spPr>
          <a:xfrm>
            <a:off x="9365788" y="181538"/>
            <a:ext cx="3548400" cy="384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VGGNet 백본 논문</a:t>
            </a:r>
            <a:endParaRPr sz="1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" name="Google Shape;147;g36d693eaac2_1_29"/>
          <p:cNvSpPr/>
          <p:nvPr/>
        </p:nvSpPr>
        <p:spPr>
          <a:xfrm>
            <a:off x="8998150" y="218600"/>
            <a:ext cx="310800" cy="310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 cap="flat" cmpd="sng">
            <a:solidFill>
              <a:srgbClr val="1F386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3864"/>
                </a:solidFill>
              </a:rPr>
              <a:t>1</a:t>
            </a:r>
            <a:endParaRPr>
              <a:solidFill>
                <a:srgbClr val="1F386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6d693eaac2_1_252"/>
          <p:cNvSpPr txBox="1"/>
          <p:nvPr/>
        </p:nvSpPr>
        <p:spPr>
          <a:xfrm>
            <a:off x="581900" y="1108725"/>
            <a:ext cx="8008800" cy="1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Convolution</a:t>
            </a: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(합성곱): 입력 이미지에서 에지(윤곽선)나 패턴과 같은 중요한 특징을 추출한다. 학습 가능한 필터를 사용하여 특징 맵(feature map)을 생성한다.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Max Pooling</a:t>
            </a: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(최대 풀링): 가장 중요한 정보만 남기고 공간적인 크기를 줄인다. 이를 통해 네트워크가 위치 변화에 더 robust해지고 연산량도 줄일 수 있다.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54" name="Google Shape;154;g36d693eaac2_1_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9775" y="3166952"/>
            <a:ext cx="4839100" cy="249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36d693eaac2_1_2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625" y="2866850"/>
            <a:ext cx="45148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6d693eaac2_1_252"/>
          <p:cNvSpPr txBox="1">
            <a:spLocks noGrp="1"/>
          </p:cNvSpPr>
          <p:nvPr>
            <p:ph type="sldNum" idx="12"/>
          </p:nvPr>
        </p:nvSpPr>
        <p:spPr>
          <a:xfrm>
            <a:off x="9418002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5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57" name="Google Shape;157;g36d693eaac2_1_252"/>
          <p:cNvSpPr/>
          <p:nvPr/>
        </p:nvSpPr>
        <p:spPr>
          <a:xfrm rot="-5400000">
            <a:off x="10347850" y="-1255300"/>
            <a:ext cx="429900" cy="3258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6D9EEB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36d693eaac2_1_252"/>
          <p:cNvSpPr txBox="1"/>
          <p:nvPr/>
        </p:nvSpPr>
        <p:spPr>
          <a:xfrm>
            <a:off x="9365788" y="181538"/>
            <a:ext cx="3548400" cy="384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VGGNet 백본 논문</a:t>
            </a:r>
            <a:endParaRPr sz="1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9" name="Google Shape;159;g36d693eaac2_1_252"/>
          <p:cNvSpPr/>
          <p:nvPr/>
        </p:nvSpPr>
        <p:spPr>
          <a:xfrm>
            <a:off x="8998150" y="218600"/>
            <a:ext cx="310800" cy="310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 cap="flat" cmpd="sng">
            <a:solidFill>
              <a:srgbClr val="1F386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3864"/>
                </a:solidFill>
              </a:rPr>
              <a:t>1</a:t>
            </a:r>
            <a:endParaRPr>
              <a:solidFill>
                <a:srgbClr val="1F3864"/>
              </a:solidFill>
            </a:endParaRPr>
          </a:p>
        </p:txBody>
      </p:sp>
      <p:sp>
        <p:nvSpPr>
          <p:cNvPr id="160" name="Google Shape;160;g36d693eaac2_1_252"/>
          <p:cNvSpPr txBox="1"/>
          <p:nvPr/>
        </p:nvSpPr>
        <p:spPr>
          <a:xfrm>
            <a:off x="74893" y="26439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9EBF5"/>
              </a:buClr>
              <a:buSzPts val="3600"/>
              <a:buFont typeface="Helvetica Neue"/>
              <a:buNone/>
            </a:pPr>
            <a:r>
              <a:rPr lang="en-US" sz="36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Architecture</a:t>
            </a:r>
            <a:endParaRPr sz="3600" b="1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6" name="Google Shape;166;g36d693eaac2_1_43"/>
          <p:cNvGraphicFramePr/>
          <p:nvPr/>
        </p:nvGraphicFramePr>
        <p:xfrm>
          <a:off x="1202125" y="2004525"/>
          <a:ext cx="3539500" cy="3352950"/>
        </p:xfrm>
        <a:graphic>
          <a:graphicData uri="http://schemas.openxmlformats.org/drawingml/2006/table">
            <a:tbl>
              <a:tblPr>
                <a:noFill/>
                <a:tableStyleId>{009EC1F8-AC1D-4D89-8362-BFE88D794B3A}</a:tableStyleId>
              </a:tblPr>
              <a:tblGrid>
                <a:gridCol w="70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6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7" name="Google Shape;167;g36d693eaac2_1_43"/>
          <p:cNvSpPr/>
          <p:nvPr/>
        </p:nvSpPr>
        <p:spPr>
          <a:xfrm>
            <a:off x="1196700" y="2015975"/>
            <a:ext cx="2129100" cy="2021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68" name="Google Shape;168;g36d693eaac2_1_43"/>
          <p:cNvGraphicFramePr/>
          <p:nvPr/>
        </p:nvGraphicFramePr>
        <p:xfrm>
          <a:off x="7701750" y="2683013"/>
          <a:ext cx="2129100" cy="1995950"/>
        </p:xfrm>
        <a:graphic>
          <a:graphicData uri="http://schemas.openxmlformats.org/drawingml/2006/table">
            <a:tbl>
              <a:tblPr>
                <a:noFill/>
                <a:tableStyleId>{009EC1F8-AC1D-4D89-8362-BFE88D794B3A}</a:tableStyleId>
              </a:tblPr>
              <a:tblGrid>
                <a:gridCol w="7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2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9" name="Google Shape;169;g36d693eaac2_1_43"/>
          <p:cNvSpPr txBox="1"/>
          <p:nvPr/>
        </p:nvSpPr>
        <p:spPr>
          <a:xfrm>
            <a:off x="4840039" y="3441600"/>
            <a:ext cx="27633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3x3 filter, stride=1, padding=1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36d693eaac2_1_43"/>
          <p:cNvSpPr txBox="1">
            <a:spLocks noGrp="1"/>
          </p:cNvSpPr>
          <p:nvPr>
            <p:ph type="sldNum" idx="12"/>
          </p:nvPr>
        </p:nvSpPr>
        <p:spPr>
          <a:xfrm>
            <a:off x="9418002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6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71" name="Google Shape;171;g36d693eaac2_1_43"/>
          <p:cNvSpPr/>
          <p:nvPr/>
        </p:nvSpPr>
        <p:spPr>
          <a:xfrm rot="-5400000">
            <a:off x="10347850" y="-1255300"/>
            <a:ext cx="429900" cy="3258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6D9EEB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36d693eaac2_1_43"/>
          <p:cNvSpPr txBox="1"/>
          <p:nvPr/>
        </p:nvSpPr>
        <p:spPr>
          <a:xfrm>
            <a:off x="9365788" y="181538"/>
            <a:ext cx="3548400" cy="384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VGGNet 백본 논문</a:t>
            </a:r>
            <a:endParaRPr sz="1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3" name="Google Shape;173;g36d693eaac2_1_43"/>
          <p:cNvSpPr/>
          <p:nvPr/>
        </p:nvSpPr>
        <p:spPr>
          <a:xfrm>
            <a:off x="8998150" y="218600"/>
            <a:ext cx="310800" cy="310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 cap="flat" cmpd="sng">
            <a:solidFill>
              <a:srgbClr val="1F386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3864"/>
                </a:solidFill>
              </a:rPr>
              <a:t>1</a:t>
            </a:r>
            <a:endParaRPr>
              <a:solidFill>
                <a:srgbClr val="1F3864"/>
              </a:solidFill>
            </a:endParaRPr>
          </a:p>
        </p:txBody>
      </p:sp>
      <p:sp>
        <p:nvSpPr>
          <p:cNvPr id="174" name="Google Shape;174;g36d693eaac2_1_43"/>
          <p:cNvSpPr txBox="1"/>
          <p:nvPr/>
        </p:nvSpPr>
        <p:spPr>
          <a:xfrm>
            <a:off x="74893" y="26439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9EBF5"/>
              </a:buClr>
              <a:buSzPts val="3600"/>
              <a:buFont typeface="Helvetica Neue"/>
              <a:buNone/>
            </a:pPr>
            <a:r>
              <a:rPr lang="en-US" sz="36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Architecture</a:t>
            </a:r>
            <a:endParaRPr sz="3600" b="1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0" name="Google Shape;180;g36d693eaac2_1_135"/>
          <p:cNvGraphicFramePr/>
          <p:nvPr/>
        </p:nvGraphicFramePr>
        <p:xfrm>
          <a:off x="1202125" y="2004525"/>
          <a:ext cx="3539500" cy="3352950"/>
        </p:xfrm>
        <a:graphic>
          <a:graphicData uri="http://schemas.openxmlformats.org/drawingml/2006/table">
            <a:tbl>
              <a:tblPr>
                <a:noFill/>
                <a:tableStyleId>{009EC1F8-AC1D-4D89-8362-BFE88D794B3A}</a:tableStyleId>
              </a:tblPr>
              <a:tblGrid>
                <a:gridCol w="70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6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1" name="Google Shape;181;g36d693eaac2_1_135"/>
          <p:cNvSpPr/>
          <p:nvPr/>
        </p:nvSpPr>
        <p:spPr>
          <a:xfrm>
            <a:off x="1910025" y="2004525"/>
            <a:ext cx="2123700" cy="2032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82" name="Google Shape;182;g36d693eaac2_1_135"/>
          <p:cNvGraphicFramePr/>
          <p:nvPr/>
        </p:nvGraphicFramePr>
        <p:xfrm>
          <a:off x="7701750" y="2683013"/>
          <a:ext cx="2129100" cy="1995950"/>
        </p:xfrm>
        <a:graphic>
          <a:graphicData uri="http://schemas.openxmlformats.org/drawingml/2006/table">
            <a:tbl>
              <a:tblPr>
                <a:noFill/>
                <a:tableStyleId>{009EC1F8-AC1D-4D89-8362-BFE88D794B3A}</a:tableStyleId>
              </a:tblPr>
              <a:tblGrid>
                <a:gridCol w="7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2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3" name="Google Shape;183;g36d693eaac2_1_135"/>
          <p:cNvSpPr txBox="1">
            <a:spLocks noGrp="1"/>
          </p:cNvSpPr>
          <p:nvPr>
            <p:ph type="sldNum" idx="12"/>
          </p:nvPr>
        </p:nvSpPr>
        <p:spPr>
          <a:xfrm>
            <a:off x="9418002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7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84" name="Google Shape;184;g36d693eaac2_1_135"/>
          <p:cNvSpPr/>
          <p:nvPr/>
        </p:nvSpPr>
        <p:spPr>
          <a:xfrm rot="-5400000">
            <a:off x="10347850" y="-1255300"/>
            <a:ext cx="429900" cy="3258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6D9EEB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6d693eaac2_1_135"/>
          <p:cNvSpPr txBox="1"/>
          <p:nvPr/>
        </p:nvSpPr>
        <p:spPr>
          <a:xfrm>
            <a:off x="9365788" y="181538"/>
            <a:ext cx="3548400" cy="384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VGGNet 백본 논문</a:t>
            </a:r>
            <a:endParaRPr sz="1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" name="Google Shape;186;g36d693eaac2_1_135"/>
          <p:cNvSpPr/>
          <p:nvPr/>
        </p:nvSpPr>
        <p:spPr>
          <a:xfrm>
            <a:off x="8998150" y="218600"/>
            <a:ext cx="310800" cy="310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 cap="flat" cmpd="sng">
            <a:solidFill>
              <a:srgbClr val="1F386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3864"/>
                </a:solidFill>
              </a:rPr>
              <a:t>1</a:t>
            </a:r>
            <a:endParaRPr>
              <a:solidFill>
                <a:srgbClr val="1F3864"/>
              </a:solidFill>
            </a:endParaRPr>
          </a:p>
        </p:txBody>
      </p:sp>
      <p:sp>
        <p:nvSpPr>
          <p:cNvPr id="187" name="Google Shape;187;g36d693eaac2_1_135"/>
          <p:cNvSpPr txBox="1"/>
          <p:nvPr/>
        </p:nvSpPr>
        <p:spPr>
          <a:xfrm>
            <a:off x="74893" y="26439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9EBF5"/>
              </a:buClr>
              <a:buSzPts val="3600"/>
              <a:buFont typeface="Helvetica Neue"/>
              <a:buNone/>
            </a:pPr>
            <a:r>
              <a:rPr lang="en-US" sz="36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Architecture</a:t>
            </a:r>
            <a:endParaRPr sz="3600" b="1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8" name="Google Shape;188;g36d693eaac2_1_135"/>
          <p:cNvSpPr txBox="1"/>
          <p:nvPr/>
        </p:nvSpPr>
        <p:spPr>
          <a:xfrm>
            <a:off x="4840039" y="3441600"/>
            <a:ext cx="27633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3x3 filter, stride=1, padding=1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" name="Google Shape;194;g36d693eaac2_1_159"/>
          <p:cNvGraphicFramePr/>
          <p:nvPr/>
        </p:nvGraphicFramePr>
        <p:xfrm>
          <a:off x="1202125" y="2004525"/>
          <a:ext cx="3539500" cy="3352950"/>
        </p:xfrm>
        <a:graphic>
          <a:graphicData uri="http://schemas.openxmlformats.org/drawingml/2006/table">
            <a:tbl>
              <a:tblPr>
                <a:noFill/>
                <a:tableStyleId>{009EC1F8-AC1D-4D89-8362-BFE88D794B3A}</a:tableStyleId>
              </a:tblPr>
              <a:tblGrid>
                <a:gridCol w="70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6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5" name="Google Shape;195;g36d693eaac2_1_159"/>
          <p:cNvSpPr/>
          <p:nvPr/>
        </p:nvSpPr>
        <p:spPr>
          <a:xfrm>
            <a:off x="2617925" y="2004525"/>
            <a:ext cx="2123700" cy="2032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96" name="Google Shape;196;g36d693eaac2_1_159"/>
          <p:cNvGraphicFramePr/>
          <p:nvPr/>
        </p:nvGraphicFramePr>
        <p:xfrm>
          <a:off x="7701750" y="2683013"/>
          <a:ext cx="2129100" cy="1995950"/>
        </p:xfrm>
        <a:graphic>
          <a:graphicData uri="http://schemas.openxmlformats.org/drawingml/2006/table">
            <a:tbl>
              <a:tblPr>
                <a:noFill/>
                <a:tableStyleId>{009EC1F8-AC1D-4D89-8362-BFE88D794B3A}</a:tableStyleId>
              </a:tblPr>
              <a:tblGrid>
                <a:gridCol w="7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2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7" name="Google Shape;197;g36d693eaac2_1_159"/>
          <p:cNvSpPr txBox="1">
            <a:spLocks noGrp="1"/>
          </p:cNvSpPr>
          <p:nvPr>
            <p:ph type="sldNum" idx="12"/>
          </p:nvPr>
        </p:nvSpPr>
        <p:spPr>
          <a:xfrm>
            <a:off x="9418002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8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98" name="Google Shape;198;g36d693eaac2_1_159"/>
          <p:cNvSpPr/>
          <p:nvPr/>
        </p:nvSpPr>
        <p:spPr>
          <a:xfrm rot="-5400000">
            <a:off x="10347850" y="-1255300"/>
            <a:ext cx="429900" cy="3258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6D9EEB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6d693eaac2_1_159"/>
          <p:cNvSpPr txBox="1"/>
          <p:nvPr/>
        </p:nvSpPr>
        <p:spPr>
          <a:xfrm>
            <a:off x="9365788" y="181538"/>
            <a:ext cx="3548400" cy="384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VGGNet 백본 논문</a:t>
            </a:r>
            <a:endParaRPr sz="1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" name="Google Shape;200;g36d693eaac2_1_159"/>
          <p:cNvSpPr/>
          <p:nvPr/>
        </p:nvSpPr>
        <p:spPr>
          <a:xfrm>
            <a:off x="8998150" y="218600"/>
            <a:ext cx="310800" cy="310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 cap="flat" cmpd="sng">
            <a:solidFill>
              <a:srgbClr val="1F386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3864"/>
                </a:solidFill>
              </a:rPr>
              <a:t>1</a:t>
            </a:r>
            <a:endParaRPr>
              <a:solidFill>
                <a:srgbClr val="1F3864"/>
              </a:solidFill>
            </a:endParaRPr>
          </a:p>
        </p:txBody>
      </p:sp>
      <p:sp>
        <p:nvSpPr>
          <p:cNvPr id="201" name="Google Shape;201;g36d693eaac2_1_159"/>
          <p:cNvSpPr txBox="1"/>
          <p:nvPr/>
        </p:nvSpPr>
        <p:spPr>
          <a:xfrm>
            <a:off x="74893" y="26439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9EBF5"/>
              </a:buClr>
              <a:buSzPts val="3600"/>
              <a:buFont typeface="Helvetica Neue"/>
              <a:buNone/>
            </a:pPr>
            <a:r>
              <a:rPr lang="en-US" sz="36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Architecture</a:t>
            </a:r>
            <a:endParaRPr sz="3600" b="1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2" name="Google Shape;202;g36d693eaac2_1_159"/>
          <p:cNvSpPr txBox="1"/>
          <p:nvPr/>
        </p:nvSpPr>
        <p:spPr>
          <a:xfrm>
            <a:off x="4840039" y="3441600"/>
            <a:ext cx="27633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3x3 filter, stride=1, padding=1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8" name="Google Shape;208;g36d693eaac2_1_167"/>
          <p:cNvGraphicFramePr/>
          <p:nvPr/>
        </p:nvGraphicFramePr>
        <p:xfrm>
          <a:off x="1202125" y="2004525"/>
          <a:ext cx="3539500" cy="3352950"/>
        </p:xfrm>
        <a:graphic>
          <a:graphicData uri="http://schemas.openxmlformats.org/drawingml/2006/table">
            <a:tbl>
              <a:tblPr>
                <a:noFill/>
                <a:tableStyleId>{009EC1F8-AC1D-4D89-8362-BFE88D794B3A}</a:tableStyleId>
              </a:tblPr>
              <a:tblGrid>
                <a:gridCol w="70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6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9" name="Google Shape;209;g36d693eaac2_1_167"/>
          <p:cNvSpPr/>
          <p:nvPr/>
        </p:nvSpPr>
        <p:spPr>
          <a:xfrm>
            <a:off x="1202125" y="2690925"/>
            <a:ext cx="2123700" cy="2032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10" name="Google Shape;210;g36d693eaac2_1_167"/>
          <p:cNvGraphicFramePr/>
          <p:nvPr/>
        </p:nvGraphicFramePr>
        <p:xfrm>
          <a:off x="7701750" y="2683013"/>
          <a:ext cx="2129100" cy="1995950"/>
        </p:xfrm>
        <a:graphic>
          <a:graphicData uri="http://schemas.openxmlformats.org/drawingml/2006/table">
            <a:tbl>
              <a:tblPr>
                <a:noFill/>
                <a:tableStyleId>{009EC1F8-AC1D-4D89-8362-BFE88D794B3A}</a:tableStyleId>
              </a:tblPr>
              <a:tblGrid>
                <a:gridCol w="7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2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1" name="Google Shape;211;g36d693eaac2_1_167"/>
          <p:cNvSpPr txBox="1">
            <a:spLocks noGrp="1"/>
          </p:cNvSpPr>
          <p:nvPr>
            <p:ph type="sldNum" idx="12"/>
          </p:nvPr>
        </p:nvSpPr>
        <p:spPr>
          <a:xfrm>
            <a:off x="9418002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9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12" name="Google Shape;212;g36d693eaac2_1_167"/>
          <p:cNvSpPr/>
          <p:nvPr/>
        </p:nvSpPr>
        <p:spPr>
          <a:xfrm rot="-5400000">
            <a:off x="10347850" y="-1255300"/>
            <a:ext cx="429900" cy="3258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6D9EEB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g36d693eaac2_1_167"/>
          <p:cNvSpPr txBox="1"/>
          <p:nvPr/>
        </p:nvSpPr>
        <p:spPr>
          <a:xfrm>
            <a:off x="9365788" y="181538"/>
            <a:ext cx="3548400" cy="384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VGGNet 백본 논문</a:t>
            </a:r>
            <a:endParaRPr sz="1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4" name="Google Shape;214;g36d693eaac2_1_167"/>
          <p:cNvSpPr/>
          <p:nvPr/>
        </p:nvSpPr>
        <p:spPr>
          <a:xfrm>
            <a:off x="8998150" y="218600"/>
            <a:ext cx="310800" cy="310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 cap="flat" cmpd="sng">
            <a:solidFill>
              <a:srgbClr val="1F386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3864"/>
                </a:solidFill>
              </a:rPr>
              <a:t>1</a:t>
            </a:r>
            <a:endParaRPr>
              <a:solidFill>
                <a:srgbClr val="1F3864"/>
              </a:solidFill>
            </a:endParaRPr>
          </a:p>
        </p:txBody>
      </p:sp>
      <p:sp>
        <p:nvSpPr>
          <p:cNvPr id="215" name="Google Shape;215;g36d693eaac2_1_167"/>
          <p:cNvSpPr txBox="1"/>
          <p:nvPr/>
        </p:nvSpPr>
        <p:spPr>
          <a:xfrm>
            <a:off x="74893" y="26439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9EBF5"/>
              </a:buClr>
              <a:buSzPts val="3600"/>
              <a:buFont typeface="Helvetica Neue"/>
              <a:buNone/>
            </a:pPr>
            <a:r>
              <a:rPr lang="en-US" sz="36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Architecture</a:t>
            </a:r>
            <a:endParaRPr sz="3600" b="1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6" name="Google Shape;216;g36d693eaac2_1_167"/>
          <p:cNvSpPr txBox="1"/>
          <p:nvPr/>
        </p:nvSpPr>
        <p:spPr>
          <a:xfrm>
            <a:off x="4840039" y="3441600"/>
            <a:ext cx="27633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3x3 filter, stride=1, padding=1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2" name="Google Shape;222;g36d693eaac2_1_50"/>
          <p:cNvGraphicFramePr/>
          <p:nvPr/>
        </p:nvGraphicFramePr>
        <p:xfrm>
          <a:off x="1202125" y="2004525"/>
          <a:ext cx="3539500" cy="3352950"/>
        </p:xfrm>
        <a:graphic>
          <a:graphicData uri="http://schemas.openxmlformats.org/drawingml/2006/table">
            <a:tbl>
              <a:tblPr>
                <a:noFill/>
                <a:tableStyleId>{009EC1F8-AC1D-4D89-8362-BFE88D794B3A}</a:tableStyleId>
              </a:tblPr>
              <a:tblGrid>
                <a:gridCol w="70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6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3" name="Google Shape;223;g36d693eaac2_1_50"/>
          <p:cNvSpPr/>
          <p:nvPr/>
        </p:nvSpPr>
        <p:spPr>
          <a:xfrm>
            <a:off x="1910025" y="2690925"/>
            <a:ext cx="2123700" cy="2032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24" name="Google Shape;224;g36d693eaac2_1_50"/>
          <p:cNvGraphicFramePr/>
          <p:nvPr/>
        </p:nvGraphicFramePr>
        <p:xfrm>
          <a:off x="7701750" y="2683013"/>
          <a:ext cx="2129100" cy="1995950"/>
        </p:xfrm>
        <a:graphic>
          <a:graphicData uri="http://schemas.openxmlformats.org/drawingml/2006/table">
            <a:tbl>
              <a:tblPr>
                <a:noFill/>
                <a:tableStyleId>{009EC1F8-AC1D-4D89-8362-BFE88D794B3A}</a:tableStyleId>
              </a:tblPr>
              <a:tblGrid>
                <a:gridCol w="7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2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5" name="Google Shape;225;g36d693eaac2_1_50"/>
          <p:cNvSpPr txBox="1">
            <a:spLocks noGrp="1"/>
          </p:cNvSpPr>
          <p:nvPr>
            <p:ph type="sldNum" idx="12"/>
          </p:nvPr>
        </p:nvSpPr>
        <p:spPr>
          <a:xfrm>
            <a:off x="9418002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10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26" name="Google Shape;226;g36d693eaac2_1_50"/>
          <p:cNvSpPr/>
          <p:nvPr/>
        </p:nvSpPr>
        <p:spPr>
          <a:xfrm rot="-5400000">
            <a:off x="10347850" y="-1255300"/>
            <a:ext cx="429900" cy="3258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6D9EEB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g36d693eaac2_1_50"/>
          <p:cNvSpPr txBox="1"/>
          <p:nvPr/>
        </p:nvSpPr>
        <p:spPr>
          <a:xfrm>
            <a:off x="9365788" y="181538"/>
            <a:ext cx="3548400" cy="384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VGGNet 백본 논문</a:t>
            </a:r>
            <a:endParaRPr sz="1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8" name="Google Shape;228;g36d693eaac2_1_50"/>
          <p:cNvSpPr/>
          <p:nvPr/>
        </p:nvSpPr>
        <p:spPr>
          <a:xfrm>
            <a:off x="8998150" y="218600"/>
            <a:ext cx="310800" cy="310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 cap="flat" cmpd="sng">
            <a:solidFill>
              <a:srgbClr val="1F386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3864"/>
                </a:solidFill>
              </a:rPr>
              <a:t>1</a:t>
            </a:r>
            <a:endParaRPr>
              <a:solidFill>
                <a:srgbClr val="1F3864"/>
              </a:solidFill>
            </a:endParaRPr>
          </a:p>
        </p:txBody>
      </p:sp>
      <p:sp>
        <p:nvSpPr>
          <p:cNvPr id="229" name="Google Shape;229;g36d693eaac2_1_50"/>
          <p:cNvSpPr txBox="1"/>
          <p:nvPr/>
        </p:nvSpPr>
        <p:spPr>
          <a:xfrm>
            <a:off x="74893" y="26439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9EBF5"/>
              </a:buClr>
              <a:buSzPts val="3600"/>
              <a:buFont typeface="Helvetica Neue"/>
              <a:buNone/>
            </a:pPr>
            <a:r>
              <a:rPr lang="en-US" sz="36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Architecture</a:t>
            </a:r>
            <a:endParaRPr sz="3600" b="1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0" name="Google Shape;230;g36d693eaac2_1_50"/>
          <p:cNvSpPr txBox="1"/>
          <p:nvPr/>
        </p:nvSpPr>
        <p:spPr>
          <a:xfrm>
            <a:off x="4840039" y="3441600"/>
            <a:ext cx="27633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3x3 filter, stride=1, padding=1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6" name="Google Shape;236;g36d693eaac2_1_184"/>
          <p:cNvGraphicFramePr/>
          <p:nvPr/>
        </p:nvGraphicFramePr>
        <p:xfrm>
          <a:off x="1202125" y="2004525"/>
          <a:ext cx="3539500" cy="3352950"/>
        </p:xfrm>
        <a:graphic>
          <a:graphicData uri="http://schemas.openxmlformats.org/drawingml/2006/table">
            <a:tbl>
              <a:tblPr>
                <a:noFill/>
                <a:tableStyleId>{009EC1F8-AC1D-4D89-8362-BFE88D794B3A}</a:tableStyleId>
              </a:tblPr>
              <a:tblGrid>
                <a:gridCol w="70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6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7" name="Google Shape;237;g36d693eaac2_1_184"/>
          <p:cNvSpPr/>
          <p:nvPr/>
        </p:nvSpPr>
        <p:spPr>
          <a:xfrm>
            <a:off x="2617925" y="2690925"/>
            <a:ext cx="2123700" cy="2032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38" name="Google Shape;238;g36d693eaac2_1_184"/>
          <p:cNvGraphicFramePr/>
          <p:nvPr/>
        </p:nvGraphicFramePr>
        <p:xfrm>
          <a:off x="7701750" y="2683013"/>
          <a:ext cx="2129100" cy="1995950"/>
        </p:xfrm>
        <a:graphic>
          <a:graphicData uri="http://schemas.openxmlformats.org/drawingml/2006/table">
            <a:tbl>
              <a:tblPr>
                <a:noFill/>
                <a:tableStyleId>{009EC1F8-AC1D-4D89-8362-BFE88D794B3A}</a:tableStyleId>
              </a:tblPr>
              <a:tblGrid>
                <a:gridCol w="7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2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9" name="Google Shape;239;g36d693eaac2_1_184"/>
          <p:cNvSpPr txBox="1">
            <a:spLocks noGrp="1"/>
          </p:cNvSpPr>
          <p:nvPr>
            <p:ph type="sldNum" idx="12"/>
          </p:nvPr>
        </p:nvSpPr>
        <p:spPr>
          <a:xfrm>
            <a:off x="9418002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11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40" name="Google Shape;240;g36d693eaac2_1_184"/>
          <p:cNvSpPr/>
          <p:nvPr/>
        </p:nvSpPr>
        <p:spPr>
          <a:xfrm rot="-5400000">
            <a:off x="10347850" y="-1255300"/>
            <a:ext cx="429900" cy="3258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6D9EEB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g36d693eaac2_1_184"/>
          <p:cNvSpPr txBox="1"/>
          <p:nvPr/>
        </p:nvSpPr>
        <p:spPr>
          <a:xfrm>
            <a:off x="9365788" y="181538"/>
            <a:ext cx="3548400" cy="384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VGGNet 백본 논문</a:t>
            </a:r>
            <a:endParaRPr sz="1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2" name="Google Shape;242;g36d693eaac2_1_184"/>
          <p:cNvSpPr/>
          <p:nvPr/>
        </p:nvSpPr>
        <p:spPr>
          <a:xfrm>
            <a:off x="8998150" y="218600"/>
            <a:ext cx="310800" cy="310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 cap="flat" cmpd="sng">
            <a:solidFill>
              <a:srgbClr val="1F386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3864"/>
                </a:solidFill>
              </a:rPr>
              <a:t>1</a:t>
            </a:r>
            <a:endParaRPr>
              <a:solidFill>
                <a:srgbClr val="1F3864"/>
              </a:solidFill>
            </a:endParaRPr>
          </a:p>
        </p:txBody>
      </p:sp>
      <p:sp>
        <p:nvSpPr>
          <p:cNvPr id="243" name="Google Shape;243;g36d693eaac2_1_184"/>
          <p:cNvSpPr txBox="1"/>
          <p:nvPr/>
        </p:nvSpPr>
        <p:spPr>
          <a:xfrm>
            <a:off x="74893" y="26439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9EBF5"/>
              </a:buClr>
              <a:buSzPts val="3600"/>
              <a:buFont typeface="Helvetica Neue"/>
              <a:buNone/>
            </a:pPr>
            <a:r>
              <a:rPr lang="en-US" sz="36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Architecture</a:t>
            </a:r>
            <a:endParaRPr sz="3600" b="1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4" name="Google Shape;244;g36d693eaac2_1_184"/>
          <p:cNvSpPr txBox="1"/>
          <p:nvPr/>
        </p:nvSpPr>
        <p:spPr>
          <a:xfrm>
            <a:off x="4840039" y="3441600"/>
            <a:ext cx="27633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3x3 filter, stride=1, padding=1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0" name="Google Shape;250;g36d693eaac2_1_190"/>
          <p:cNvGraphicFramePr/>
          <p:nvPr/>
        </p:nvGraphicFramePr>
        <p:xfrm>
          <a:off x="1202125" y="2004525"/>
          <a:ext cx="3539500" cy="3352950"/>
        </p:xfrm>
        <a:graphic>
          <a:graphicData uri="http://schemas.openxmlformats.org/drawingml/2006/table">
            <a:tbl>
              <a:tblPr>
                <a:noFill/>
                <a:tableStyleId>{009EC1F8-AC1D-4D89-8362-BFE88D794B3A}</a:tableStyleId>
              </a:tblPr>
              <a:tblGrid>
                <a:gridCol w="70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6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1" name="Google Shape;251;g36d693eaac2_1_190"/>
          <p:cNvSpPr/>
          <p:nvPr/>
        </p:nvSpPr>
        <p:spPr>
          <a:xfrm>
            <a:off x="1202125" y="3365825"/>
            <a:ext cx="2123700" cy="19959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52" name="Google Shape;252;g36d693eaac2_1_190"/>
          <p:cNvGraphicFramePr/>
          <p:nvPr/>
        </p:nvGraphicFramePr>
        <p:xfrm>
          <a:off x="7701750" y="2683013"/>
          <a:ext cx="2129100" cy="1995950"/>
        </p:xfrm>
        <a:graphic>
          <a:graphicData uri="http://schemas.openxmlformats.org/drawingml/2006/table">
            <a:tbl>
              <a:tblPr>
                <a:noFill/>
                <a:tableStyleId>{009EC1F8-AC1D-4D89-8362-BFE88D794B3A}</a:tableStyleId>
              </a:tblPr>
              <a:tblGrid>
                <a:gridCol w="7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2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3" name="Google Shape;253;g36d693eaac2_1_190"/>
          <p:cNvSpPr txBox="1">
            <a:spLocks noGrp="1"/>
          </p:cNvSpPr>
          <p:nvPr>
            <p:ph type="sldNum" idx="12"/>
          </p:nvPr>
        </p:nvSpPr>
        <p:spPr>
          <a:xfrm>
            <a:off x="9418002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12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54" name="Google Shape;254;g36d693eaac2_1_190"/>
          <p:cNvSpPr/>
          <p:nvPr/>
        </p:nvSpPr>
        <p:spPr>
          <a:xfrm rot="-5400000">
            <a:off x="10347850" y="-1255300"/>
            <a:ext cx="429900" cy="3258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6D9EEB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g36d693eaac2_1_190"/>
          <p:cNvSpPr txBox="1"/>
          <p:nvPr/>
        </p:nvSpPr>
        <p:spPr>
          <a:xfrm>
            <a:off x="9365788" y="181538"/>
            <a:ext cx="3548400" cy="384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VGGNet 백본 논문</a:t>
            </a:r>
            <a:endParaRPr sz="1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6" name="Google Shape;256;g36d693eaac2_1_190"/>
          <p:cNvSpPr/>
          <p:nvPr/>
        </p:nvSpPr>
        <p:spPr>
          <a:xfrm>
            <a:off x="8998150" y="218600"/>
            <a:ext cx="310800" cy="310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 cap="flat" cmpd="sng">
            <a:solidFill>
              <a:srgbClr val="1F386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3864"/>
                </a:solidFill>
              </a:rPr>
              <a:t>1</a:t>
            </a:r>
            <a:endParaRPr>
              <a:solidFill>
                <a:srgbClr val="1F3864"/>
              </a:solidFill>
            </a:endParaRPr>
          </a:p>
        </p:txBody>
      </p:sp>
      <p:sp>
        <p:nvSpPr>
          <p:cNvPr id="257" name="Google Shape;257;g36d693eaac2_1_190"/>
          <p:cNvSpPr txBox="1"/>
          <p:nvPr/>
        </p:nvSpPr>
        <p:spPr>
          <a:xfrm>
            <a:off x="74893" y="26439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9EBF5"/>
              </a:buClr>
              <a:buSzPts val="3600"/>
              <a:buFont typeface="Helvetica Neue"/>
              <a:buNone/>
            </a:pPr>
            <a:r>
              <a:rPr lang="en-US" sz="36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Architecture</a:t>
            </a:r>
            <a:endParaRPr sz="3600" b="1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8" name="Google Shape;258;g36d693eaac2_1_190"/>
          <p:cNvSpPr txBox="1"/>
          <p:nvPr/>
        </p:nvSpPr>
        <p:spPr>
          <a:xfrm>
            <a:off x="4840039" y="3441600"/>
            <a:ext cx="27633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3x3 filter, stride=1, padding=1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4" name="Google Shape;264;g36d693eaac2_1_196"/>
          <p:cNvGraphicFramePr/>
          <p:nvPr/>
        </p:nvGraphicFramePr>
        <p:xfrm>
          <a:off x="1202125" y="2004525"/>
          <a:ext cx="3539500" cy="3352950"/>
        </p:xfrm>
        <a:graphic>
          <a:graphicData uri="http://schemas.openxmlformats.org/drawingml/2006/table">
            <a:tbl>
              <a:tblPr>
                <a:noFill/>
                <a:tableStyleId>{009EC1F8-AC1D-4D89-8362-BFE88D794B3A}</a:tableStyleId>
              </a:tblPr>
              <a:tblGrid>
                <a:gridCol w="70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6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5" name="Google Shape;265;g36d693eaac2_1_196"/>
          <p:cNvSpPr/>
          <p:nvPr/>
        </p:nvSpPr>
        <p:spPr>
          <a:xfrm>
            <a:off x="1910025" y="3377325"/>
            <a:ext cx="2129100" cy="19959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66" name="Google Shape;266;g36d693eaac2_1_196"/>
          <p:cNvGraphicFramePr/>
          <p:nvPr/>
        </p:nvGraphicFramePr>
        <p:xfrm>
          <a:off x="7701750" y="2683013"/>
          <a:ext cx="2129100" cy="1995950"/>
        </p:xfrm>
        <a:graphic>
          <a:graphicData uri="http://schemas.openxmlformats.org/drawingml/2006/table">
            <a:tbl>
              <a:tblPr>
                <a:noFill/>
                <a:tableStyleId>{009EC1F8-AC1D-4D89-8362-BFE88D794B3A}</a:tableStyleId>
              </a:tblPr>
              <a:tblGrid>
                <a:gridCol w="7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2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7" name="Google Shape;267;g36d693eaac2_1_196"/>
          <p:cNvSpPr txBox="1">
            <a:spLocks noGrp="1"/>
          </p:cNvSpPr>
          <p:nvPr>
            <p:ph type="sldNum" idx="12"/>
          </p:nvPr>
        </p:nvSpPr>
        <p:spPr>
          <a:xfrm>
            <a:off x="9418002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13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68" name="Google Shape;268;g36d693eaac2_1_196"/>
          <p:cNvSpPr/>
          <p:nvPr/>
        </p:nvSpPr>
        <p:spPr>
          <a:xfrm rot="-5400000">
            <a:off x="10347850" y="-1255300"/>
            <a:ext cx="429900" cy="3258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6D9EEB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g36d693eaac2_1_196"/>
          <p:cNvSpPr txBox="1"/>
          <p:nvPr/>
        </p:nvSpPr>
        <p:spPr>
          <a:xfrm>
            <a:off x="9365788" y="181538"/>
            <a:ext cx="3548400" cy="384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VGGNet 백본 논문</a:t>
            </a:r>
            <a:endParaRPr sz="1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0" name="Google Shape;270;g36d693eaac2_1_196"/>
          <p:cNvSpPr/>
          <p:nvPr/>
        </p:nvSpPr>
        <p:spPr>
          <a:xfrm>
            <a:off x="8998150" y="218600"/>
            <a:ext cx="310800" cy="310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 cap="flat" cmpd="sng">
            <a:solidFill>
              <a:srgbClr val="1F386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3864"/>
                </a:solidFill>
              </a:rPr>
              <a:t>1</a:t>
            </a:r>
            <a:endParaRPr>
              <a:solidFill>
                <a:srgbClr val="1F3864"/>
              </a:solidFill>
            </a:endParaRPr>
          </a:p>
        </p:txBody>
      </p:sp>
      <p:sp>
        <p:nvSpPr>
          <p:cNvPr id="271" name="Google Shape;271;g36d693eaac2_1_196"/>
          <p:cNvSpPr txBox="1"/>
          <p:nvPr/>
        </p:nvSpPr>
        <p:spPr>
          <a:xfrm>
            <a:off x="74893" y="26439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9EBF5"/>
              </a:buClr>
              <a:buSzPts val="3600"/>
              <a:buFont typeface="Helvetica Neue"/>
              <a:buNone/>
            </a:pPr>
            <a:r>
              <a:rPr lang="en-US" sz="36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Architecture</a:t>
            </a:r>
            <a:endParaRPr sz="3600" b="1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2" name="Google Shape;272;g36d693eaac2_1_196"/>
          <p:cNvSpPr txBox="1"/>
          <p:nvPr/>
        </p:nvSpPr>
        <p:spPr>
          <a:xfrm>
            <a:off x="4840039" y="3441600"/>
            <a:ext cx="27633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3x3 filter, stride=1, padding=1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8" name="Google Shape;278;g36d693eaac2_1_202"/>
          <p:cNvGraphicFramePr/>
          <p:nvPr/>
        </p:nvGraphicFramePr>
        <p:xfrm>
          <a:off x="1202125" y="2004525"/>
          <a:ext cx="3539500" cy="3352950"/>
        </p:xfrm>
        <a:graphic>
          <a:graphicData uri="http://schemas.openxmlformats.org/drawingml/2006/table">
            <a:tbl>
              <a:tblPr>
                <a:noFill/>
                <a:tableStyleId>{009EC1F8-AC1D-4D89-8362-BFE88D794B3A}</a:tableStyleId>
              </a:tblPr>
              <a:tblGrid>
                <a:gridCol w="70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7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6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88888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9" name="Google Shape;279;g36d693eaac2_1_202"/>
          <p:cNvSpPr/>
          <p:nvPr/>
        </p:nvSpPr>
        <p:spPr>
          <a:xfrm>
            <a:off x="2617925" y="3377325"/>
            <a:ext cx="2123700" cy="19959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280" name="Google Shape;280;g36d693eaac2_1_202"/>
          <p:cNvGraphicFramePr/>
          <p:nvPr/>
        </p:nvGraphicFramePr>
        <p:xfrm>
          <a:off x="7701750" y="2683013"/>
          <a:ext cx="2129100" cy="1995950"/>
        </p:xfrm>
        <a:graphic>
          <a:graphicData uri="http://schemas.openxmlformats.org/drawingml/2006/table">
            <a:tbl>
              <a:tblPr>
                <a:noFill/>
                <a:tableStyleId>{009EC1F8-AC1D-4D89-8362-BFE88D794B3A}</a:tableStyleId>
              </a:tblPr>
              <a:tblGrid>
                <a:gridCol w="7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2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1" name="Google Shape;281;g36d693eaac2_1_202"/>
          <p:cNvSpPr/>
          <p:nvPr/>
        </p:nvSpPr>
        <p:spPr>
          <a:xfrm>
            <a:off x="7701750" y="4878850"/>
            <a:ext cx="2129100" cy="635100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same output size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2" name="Google Shape;282;g36d693eaac2_1_202"/>
          <p:cNvSpPr txBox="1"/>
          <p:nvPr/>
        </p:nvSpPr>
        <p:spPr>
          <a:xfrm>
            <a:off x="4938438" y="3441600"/>
            <a:ext cx="25665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3x3 filter, stride=1, padding=1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3" name="Google Shape;283;g36d693eaac2_1_202"/>
          <p:cNvSpPr txBox="1">
            <a:spLocks noGrp="1"/>
          </p:cNvSpPr>
          <p:nvPr>
            <p:ph type="sldNum" idx="12"/>
          </p:nvPr>
        </p:nvSpPr>
        <p:spPr>
          <a:xfrm>
            <a:off x="9418002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14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84" name="Google Shape;284;g36d693eaac2_1_202"/>
          <p:cNvSpPr/>
          <p:nvPr/>
        </p:nvSpPr>
        <p:spPr>
          <a:xfrm rot="-5400000">
            <a:off x="10347850" y="-1255300"/>
            <a:ext cx="429900" cy="3258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6D9EEB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g36d693eaac2_1_202"/>
          <p:cNvSpPr txBox="1"/>
          <p:nvPr/>
        </p:nvSpPr>
        <p:spPr>
          <a:xfrm>
            <a:off x="9365788" y="181538"/>
            <a:ext cx="3548400" cy="384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VGGNet 백본 논문</a:t>
            </a:r>
            <a:endParaRPr sz="1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6" name="Google Shape;286;g36d693eaac2_1_202"/>
          <p:cNvSpPr/>
          <p:nvPr/>
        </p:nvSpPr>
        <p:spPr>
          <a:xfrm>
            <a:off x="8998150" y="218600"/>
            <a:ext cx="310800" cy="310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 cap="flat" cmpd="sng">
            <a:solidFill>
              <a:srgbClr val="1F386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3864"/>
                </a:solidFill>
              </a:rPr>
              <a:t>1</a:t>
            </a:r>
            <a:endParaRPr>
              <a:solidFill>
                <a:srgbClr val="1F3864"/>
              </a:solidFill>
            </a:endParaRPr>
          </a:p>
        </p:txBody>
      </p:sp>
      <p:graphicFrame>
        <p:nvGraphicFramePr>
          <p:cNvPr id="287" name="Google Shape;287;g36d693eaac2_1_202"/>
          <p:cNvGraphicFramePr/>
          <p:nvPr/>
        </p:nvGraphicFramePr>
        <p:xfrm>
          <a:off x="1910025" y="3044763"/>
          <a:ext cx="8326400" cy="1248384"/>
        </p:xfrm>
        <a:graphic>
          <a:graphicData uri="http://schemas.openxmlformats.org/drawingml/2006/table">
            <a:tbl>
              <a:tblPr>
                <a:noFill/>
                <a:tableStyleId>{B26C74ED-47C9-4CF2-91C9-739396BFA554}</a:tableStyleId>
              </a:tblPr>
              <a:tblGrid>
                <a:gridCol w="270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Step</a:t>
                      </a:r>
                      <a:endParaRPr sz="1500"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Purpose</a:t>
                      </a:r>
                      <a:endParaRPr sz="1500"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Convolution + Padding</a:t>
                      </a:r>
                      <a:endParaRPr sz="1500"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Preserve input size while extracting features</a:t>
                      </a:r>
                      <a:endParaRPr sz="15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Max Pooling</a:t>
                      </a:r>
                      <a:endParaRPr sz="1500" b="1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Downsample feature map and retain important information</a:t>
                      </a:r>
                      <a:endParaRPr sz="15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8" name="Google Shape;288;g36d693eaac2_1_202"/>
          <p:cNvSpPr txBox="1"/>
          <p:nvPr/>
        </p:nvSpPr>
        <p:spPr>
          <a:xfrm>
            <a:off x="74893" y="26439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9EBF5"/>
              </a:buClr>
              <a:buSzPts val="3600"/>
              <a:buFont typeface="Helvetica Neue"/>
              <a:buNone/>
            </a:pPr>
            <a:r>
              <a:rPr lang="en-US" sz="36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Architecture</a:t>
            </a:r>
            <a:endParaRPr sz="3600" b="1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g36d693eaac2_1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075" y="1399298"/>
            <a:ext cx="6928701" cy="405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g36d693eaac2_1_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0198" y="1238125"/>
            <a:ext cx="4829428" cy="476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g36d693eaac2_1_36"/>
          <p:cNvSpPr/>
          <p:nvPr/>
        </p:nvSpPr>
        <p:spPr>
          <a:xfrm>
            <a:off x="11152450" y="1399300"/>
            <a:ext cx="636600" cy="5964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36d693eaac2_1_36"/>
          <p:cNvSpPr/>
          <p:nvPr/>
        </p:nvSpPr>
        <p:spPr>
          <a:xfrm>
            <a:off x="1123700" y="4437150"/>
            <a:ext cx="886500" cy="380100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lt1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Noto Sans KR"/>
                <a:ea typeface="Noto Sans KR"/>
                <a:cs typeface="Noto Sans KR"/>
                <a:sym typeface="Noto Sans KR"/>
              </a:rPr>
              <a:t>112x112x64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8" name="Google Shape;298;g36d693eaac2_1_36"/>
          <p:cNvSpPr/>
          <p:nvPr/>
        </p:nvSpPr>
        <p:spPr>
          <a:xfrm>
            <a:off x="1682725" y="3969050"/>
            <a:ext cx="806700" cy="380100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lt1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Noto Sans KR"/>
                <a:ea typeface="Noto Sans KR"/>
                <a:cs typeface="Noto Sans KR"/>
                <a:sym typeface="Noto Sans KR"/>
              </a:rPr>
              <a:t>56x56x128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9" name="Google Shape;299;g36d693eaac2_1_36"/>
          <p:cNvSpPr/>
          <p:nvPr/>
        </p:nvSpPr>
        <p:spPr>
          <a:xfrm>
            <a:off x="2553750" y="3742675"/>
            <a:ext cx="806700" cy="380100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lt1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Noto Sans KR"/>
                <a:ea typeface="Noto Sans KR"/>
                <a:cs typeface="Noto Sans KR"/>
                <a:sym typeface="Noto Sans KR"/>
              </a:rPr>
              <a:t>28x28x256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0" name="Google Shape;300;g36d693eaac2_1_36"/>
          <p:cNvSpPr/>
          <p:nvPr/>
        </p:nvSpPr>
        <p:spPr>
          <a:xfrm>
            <a:off x="3515700" y="3645250"/>
            <a:ext cx="806700" cy="380100"/>
          </a:xfrm>
          <a:prstGeom prst="upArrowCallout">
            <a:avLst>
              <a:gd name="adj1" fmla="val 25000"/>
              <a:gd name="adj2" fmla="val 25000"/>
              <a:gd name="adj3" fmla="val 25000"/>
              <a:gd name="adj4" fmla="val 64977"/>
            </a:avLst>
          </a:prstGeom>
          <a:solidFill>
            <a:schemeClr val="lt1"/>
          </a:solidFill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Noto Sans KR"/>
                <a:ea typeface="Noto Sans KR"/>
                <a:cs typeface="Noto Sans KR"/>
                <a:sym typeface="Noto Sans KR"/>
              </a:rPr>
              <a:t>14x14x512</a:t>
            </a:r>
            <a:endParaRPr sz="10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1" name="Google Shape;301;g36d693eaac2_1_36"/>
          <p:cNvSpPr txBox="1">
            <a:spLocks noGrp="1"/>
          </p:cNvSpPr>
          <p:nvPr>
            <p:ph type="sldNum" idx="12"/>
          </p:nvPr>
        </p:nvSpPr>
        <p:spPr>
          <a:xfrm>
            <a:off x="9418002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15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02" name="Google Shape;302;g36d693eaac2_1_36"/>
          <p:cNvSpPr/>
          <p:nvPr/>
        </p:nvSpPr>
        <p:spPr>
          <a:xfrm rot="-5400000">
            <a:off x="10347850" y="-1255300"/>
            <a:ext cx="429900" cy="3258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6D9EEB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36d693eaac2_1_36"/>
          <p:cNvSpPr txBox="1"/>
          <p:nvPr/>
        </p:nvSpPr>
        <p:spPr>
          <a:xfrm>
            <a:off x="9365788" y="181538"/>
            <a:ext cx="3548400" cy="384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VGGNet 백본 논문</a:t>
            </a:r>
            <a:endParaRPr sz="1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4" name="Google Shape;304;g36d693eaac2_1_36"/>
          <p:cNvSpPr/>
          <p:nvPr/>
        </p:nvSpPr>
        <p:spPr>
          <a:xfrm>
            <a:off x="8998150" y="218600"/>
            <a:ext cx="310800" cy="310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 cap="flat" cmpd="sng">
            <a:solidFill>
              <a:srgbClr val="1F386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3864"/>
                </a:solidFill>
              </a:rPr>
              <a:t>1</a:t>
            </a:r>
            <a:endParaRPr>
              <a:solidFill>
                <a:srgbClr val="1F3864"/>
              </a:solidFill>
            </a:endParaRPr>
          </a:p>
        </p:txBody>
      </p:sp>
      <p:sp>
        <p:nvSpPr>
          <p:cNvPr id="305" name="Google Shape;305;g36d693eaac2_1_36"/>
          <p:cNvSpPr txBox="1"/>
          <p:nvPr/>
        </p:nvSpPr>
        <p:spPr>
          <a:xfrm>
            <a:off x="74893" y="26439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9EBF5"/>
              </a:buClr>
              <a:buSzPts val="3600"/>
              <a:buFont typeface="Helvetica Neue"/>
              <a:buNone/>
            </a:pPr>
            <a:r>
              <a:rPr lang="en-US" sz="36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Architecture</a:t>
            </a:r>
            <a:endParaRPr sz="3600" b="1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6e4a02d997_2_5"/>
          <p:cNvSpPr txBox="1"/>
          <p:nvPr/>
        </p:nvSpPr>
        <p:spPr>
          <a:xfrm>
            <a:off x="4394900" y="1636750"/>
            <a:ext cx="277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C: number of channels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2" name="Google Shape;312;g36e4a02d997_2_5"/>
          <p:cNvSpPr txBox="1"/>
          <p:nvPr/>
        </p:nvSpPr>
        <p:spPr>
          <a:xfrm>
            <a:off x="312050" y="1059550"/>
            <a:ext cx="6244500" cy="15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latin typeface="Noto Sans KR"/>
                <a:ea typeface="Noto Sans KR"/>
                <a:cs typeface="Noto Sans KR"/>
                <a:sym typeface="Noto Sans KR"/>
              </a:rPr>
              <a:t>Benefit of using 3</a:t>
            </a:r>
            <a:r>
              <a:rPr lang="en-US" sz="15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✕3 filter </a:t>
            </a:r>
            <a:endParaRPr sz="150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AutoNum type="arabicPeriod"/>
            </a:pPr>
            <a:r>
              <a:rPr lang="en-US" sz="15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Decreasing number of parameters</a:t>
            </a:r>
            <a:endParaRPr sz="150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-"/>
            </a:pPr>
            <a:r>
              <a:rPr lang="en-US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using 3x3 filter = 3✕3✕3✕C✕C</a:t>
            </a:r>
            <a:endParaRPr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-"/>
            </a:pPr>
            <a:r>
              <a:rPr lang="en-US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using 7x7 filter = 7✕7✕C✕C</a:t>
            </a:r>
            <a:endParaRPr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</a:pPr>
            <a:r>
              <a:rPr lang="en-US" sz="15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2.    Increases non-linearity</a:t>
            </a:r>
            <a:endParaRPr sz="150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         → more efficient computation and better performance</a:t>
            </a:r>
            <a:endParaRPr sz="150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3" name="Google Shape;313;g36e4a02d997_2_5"/>
          <p:cNvSpPr txBox="1">
            <a:spLocks noGrp="1"/>
          </p:cNvSpPr>
          <p:nvPr>
            <p:ph type="sldNum" idx="12"/>
          </p:nvPr>
        </p:nvSpPr>
        <p:spPr>
          <a:xfrm>
            <a:off x="9418002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16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14" name="Google Shape;314;g36e4a02d997_2_5"/>
          <p:cNvSpPr/>
          <p:nvPr/>
        </p:nvSpPr>
        <p:spPr>
          <a:xfrm rot="-5400000">
            <a:off x="10347850" y="-1255300"/>
            <a:ext cx="429900" cy="3258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6D9EEB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g36e4a02d997_2_5"/>
          <p:cNvSpPr txBox="1"/>
          <p:nvPr/>
        </p:nvSpPr>
        <p:spPr>
          <a:xfrm>
            <a:off x="9365788" y="181538"/>
            <a:ext cx="3548400" cy="384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VGGNet 백본 논문</a:t>
            </a:r>
            <a:endParaRPr sz="1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6" name="Google Shape;316;g36e4a02d997_2_5"/>
          <p:cNvSpPr/>
          <p:nvPr/>
        </p:nvSpPr>
        <p:spPr>
          <a:xfrm>
            <a:off x="8998150" y="218600"/>
            <a:ext cx="310800" cy="310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 cap="flat" cmpd="sng">
            <a:solidFill>
              <a:srgbClr val="1F386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3864"/>
                </a:solidFill>
              </a:rPr>
              <a:t>1</a:t>
            </a:r>
            <a:endParaRPr>
              <a:solidFill>
                <a:srgbClr val="1F3864"/>
              </a:solidFill>
            </a:endParaRPr>
          </a:p>
        </p:txBody>
      </p:sp>
      <p:pic>
        <p:nvPicPr>
          <p:cNvPr id="317" name="Google Shape;317;g36e4a02d997_2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050" y="2791201"/>
            <a:ext cx="5558849" cy="313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g36e4a02d997_2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024" y="2952150"/>
            <a:ext cx="5600094" cy="269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g36e4a02d997_2_5"/>
          <p:cNvSpPr txBox="1"/>
          <p:nvPr/>
        </p:nvSpPr>
        <p:spPr>
          <a:xfrm>
            <a:off x="1591475" y="59217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using 3x3 filter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0" name="Google Shape;320;g36e4a02d997_2_5"/>
          <p:cNvSpPr txBox="1"/>
          <p:nvPr/>
        </p:nvSpPr>
        <p:spPr>
          <a:xfrm>
            <a:off x="7653550" y="59217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using 7x7 filter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1" name="Google Shape;321;g36e4a02d997_2_5"/>
          <p:cNvSpPr txBox="1"/>
          <p:nvPr/>
        </p:nvSpPr>
        <p:spPr>
          <a:xfrm>
            <a:off x="74893" y="26439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9EBF5"/>
              </a:buClr>
              <a:buSzPts val="3600"/>
              <a:buFont typeface="Helvetica Neue"/>
              <a:buNone/>
            </a:pPr>
            <a:r>
              <a:rPr lang="en-US" sz="36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Architecture</a:t>
            </a:r>
            <a:endParaRPr sz="3600" b="1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6d98813954_1_4"/>
          <p:cNvSpPr txBox="1">
            <a:spLocks noGrp="1"/>
          </p:cNvSpPr>
          <p:nvPr>
            <p:ph type="sldNum" idx="12"/>
          </p:nvPr>
        </p:nvSpPr>
        <p:spPr>
          <a:xfrm>
            <a:off x="9418002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17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28" name="Google Shape;328;g36d98813954_1_4"/>
          <p:cNvSpPr/>
          <p:nvPr/>
        </p:nvSpPr>
        <p:spPr>
          <a:xfrm rot="-5400000">
            <a:off x="10347850" y="-1255300"/>
            <a:ext cx="429900" cy="3258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6D9EEB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36d98813954_1_4"/>
          <p:cNvSpPr txBox="1"/>
          <p:nvPr/>
        </p:nvSpPr>
        <p:spPr>
          <a:xfrm>
            <a:off x="9365788" y="181538"/>
            <a:ext cx="3548400" cy="384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VGGNet 백본 논문</a:t>
            </a:r>
            <a:endParaRPr sz="1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0" name="Google Shape;330;g36d98813954_1_4"/>
          <p:cNvSpPr/>
          <p:nvPr/>
        </p:nvSpPr>
        <p:spPr>
          <a:xfrm>
            <a:off x="8998150" y="218600"/>
            <a:ext cx="310800" cy="310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 cap="flat" cmpd="sng">
            <a:solidFill>
              <a:srgbClr val="1F386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3864"/>
                </a:solidFill>
              </a:rPr>
              <a:t>1</a:t>
            </a:r>
            <a:endParaRPr>
              <a:solidFill>
                <a:srgbClr val="1F3864"/>
              </a:solidFill>
            </a:endParaRPr>
          </a:p>
        </p:txBody>
      </p:sp>
      <p:sp>
        <p:nvSpPr>
          <p:cNvPr id="331" name="Google Shape;331;g36d98813954_1_4"/>
          <p:cNvSpPr txBox="1"/>
          <p:nvPr/>
        </p:nvSpPr>
        <p:spPr>
          <a:xfrm>
            <a:off x="312050" y="1059550"/>
            <a:ext cx="6244500" cy="15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latin typeface="Noto Sans KR"/>
                <a:ea typeface="Noto Sans KR"/>
                <a:cs typeface="Noto Sans KR"/>
                <a:sym typeface="Noto Sans KR"/>
              </a:rPr>
              <a:t>Benefit of using 3</a:t>
            </a:r>
            <a:r>
              <a:rPr lang="en-US" sz="15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✕3 filter </a:t>
            </a:r>
            <a:endParaRPr sz="150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AutoNum type="arabicPeriod"/>
            </a:pPr>
            <a:r>
              <a:rPr lang="en-US" sz="15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Decreasing number of parameters</a:t>
            </a:r>
            <a:endParaRPr sz="150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KR"/>
              <a:buChar char="-"/>
            </a:pPr>
            <a:r>
              <a:rPr lang="en-US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using 3x3 filter = 3✕3✕3✕C✕C</a:t>
            </a:r>
            <a:endParaRPr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9144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-"/>
            </a:pPr>
            <a:r>
              <a:rPr lang="en-US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using 7x7 filter = 7✕7✕C✕C</a:t>
            </a:r>
            <a:endParaRPr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</a:pPr>
            <a:r>
              <a:rPr lang="en-US" sz="15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2.    Increases non-linearity</a:t>
            </a:r>
            <a:endParaRPr sz="150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         → more efficient computation and better performance</a:t>
            </a:r>
            <a:endParaRPr sz="1500"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32" name="Google Shape;332;g36d98813954_1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400" y="2614150"/>
            <a:ext cx="4969851" cy="372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g36d98813954_1_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3713" y="2333450"/>
            <a:ext cx="3979675" cy="3494351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g36d98813954_1_4"/>
          <p:cNvSpPr txBox="1"/>
          <p:nvPr/>
        </p:nvSpPr>
        <p:spPr>
          <a:xfrm>
            <a:off x="74893" y="26439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9EBF5"/>
              </a:buClr>
              <a:buSzPts val="3600"/>
              <a:buFont typeface="Helvetica Neue"/>
              <a:buNone/>
            </a:pPr>
            <a:r>
              <a:rPr lang="en-US" sz="36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Architecture</a:t>
            </a:r>
            <a:endParaRPr sz="3600" b="1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e44e7ea0d_0_23"/>
          <p:cNvSpPr txBox="1"/>
          <p:nvPr/>
        </p:nvSpPr>
        <p:spPr>
          <a:xfrm>
            <a:off x="74893" y="26439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9EBF5"/>
              </a:buClr>
              <a:buSzPts val="3600"/>
              <a:buFont typeface="Helvetica Neue"/>
              <a:buNone/>
            </a:pPr>
            <a:r>
              <a:rPr lang="en-US" sz="36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Train</a:t>
            </a:r>
            <a:endParaRPr sz="3600" b="1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1" name="Google Shape;341;g36e44e7ea0d_0_23"/>
          <p:cNvSpPr txBox="1">
            <a:spLocks noGrp="1"/>
          </p:cNvSpPr>
          <p:nvPr>
            <p:ph type="sldNum" idx="12"/>
          </p:nvPr>
        </p:nvSpPr>
        <p:spPr>
          <a:xfrm>
            <a:off x="9418002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18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42" name="Google Shape;342;g36e44e7ea0d_0_23"/>
          <p:cNvSpPr/>
          <p:nvPr/>
        </p:nvSpPr>
        <p:spPr>
          <a:xfrm rot="-5400000">
            <a:off x="10347850" y="-1255300"/>
            <a:ext cx="429900" cy="3258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6D9EEB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g36e44e7ea0d_0_23"/>
          <p:cNvSpPr txBox="1"/>
          <p:nvPr/>
        </p:nvSpPr>
        <p:spPr>
          <a:xfrm>
            <a:off x="9365788" y="181538"/>
            <a:ext cx="3548400" cy="384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VGGNet 백본 논문</a:t>
            </a:r>
            <a:endParaRPr sz="1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4" name="Google Shape;344;g36e44e7ea0d_0_23"/>
          <p:cNvSpPr/>
          <p:nvPr/>
        </p:nvSpPr>
        <p:spPr>
          <a:xfrm>
            <a:off x="8998150" y="218600"/>
            <a:ext cx="310800" cy="310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 cap="flat" cmpd="sng">
            <a:solidFill>
              <a:srgbClr val="1F386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3864"/>
                </a:solidFill>
              </a:rPr>
              <a:t>1</a:t>
            </a:r>
            <a:endParaRPr>
              <a:solidFill>
                <a:srgbClr val="1F3864"/>
              </a:solidFill>
            </a:endParaRPr>
          </a:p>
        </p:txBody>
      </p:sp>
      <p:sp>
        <p:nvSpPr>
          <p:cNvPr id="345" name="Google Shape;345;g36e44e7ea0d_0_23"/>
          <p:cNvSpPr txBox="1"/>
          <p:nvPr/>
        </p:nvSpPr>
        <p:spPr>
          <a:xfrm>
            <a:off x="672275" y="1679825"/>
            <a:ext cx="4695000" cy="244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§"/>
            </a:pP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다중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분류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(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Softmax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+ Cross Entropy)</a:t>
            </a:r>
            <a:endParaRPr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§"/>
            </a:pP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Mini-batch gradient descent (256)</a:t>
            </a:r>
            <a:endParaRPr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§"/>
            </a:pP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Momentum(0.9)</a:t>
            </a:r>
            <a:endParaRPr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§"/>
            </a:pP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weight decay (L2 Norm)</a:t>
            </a:r>
            <a:endParaRPr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§"/>
            </a:pP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처음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2개의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FC레이어에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dropout(0.5)</a:t>
            </a:r>
            <a:endParaRPr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§"/>
            </a:pP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초기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learning rate: 0.01</a:t>
            </a:r>
            <a:endParaRPr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346" name="Google Shape;346;g36e44e7ea0d_0_23"/>
          <p:cNvGrpSpPr/>
          <p:nvPr/>
        </p:nvGrpSpPr>
        <p:grpSpPr>
          <a:xfrm>
            <a:off x="6761911" y="1187001"/>
            <a:ext cx="4337893" cy="4781564"/>
            <a:chOff x="6683231" y="1528138"/>
            <a:chExt cx="4238293" cy="4656763"/>
          </a:xfrm>
        </p:grpSpPr>
        <p:pic>
          <p:nvPicPr>
            <p:cNvPr id="347" name="Google Shape;347;g36e44e7ea0d_0_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941911" y="2058057"/>
              <a:ext cx="3979613" cy="399749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48" name="Google Shape;348;g36e44e7ea0d_0_23"/>
            <p:cNvCxnSpPr/>
            <p:nvPr/>
          </p:nvCxnSpPr>
          <p:spPr>
            <a:xfrm rot="10800000">
              <a:off x="7293709" y="2611614"/>
              <a:ext cx="0" cy="3573000"/>
            </a:xfrm>
            <a:prstGeom prst="straightConnector1">
              <a:avLst/>
            </a:prstGeom>
            <a:noFill/>
            <a:ln w="28575" cap="flat" cmpd="sng">
              <a:solidFill>
                <a:srgbClr val="ED7D3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9" name="Google Shape;349;g36e44e7ea0d_0_23"/>
            <p:cNvCxnSpPr/>
            <p:nvPr/>
          </p:nvCxnSpPr>
          <p:spPr>
            <a:xfrm rot="10800000">
              <a:off x="6683231" y="1806556"/>
              <a:ext cx="3866700" cy="0"/>
            </a:xfrm>
            <a:prstGeom prst="straightConnector1">
              <a:avLst/>
            </a:prstGeom>
            <a:noFill/>
            <a:ln w="28575" cap="flat" cmpd="sng">
              <a:solidFill>
                <a:srgbClr val="ED7D31"/>
              </a:solidFill>
              <a:prstDash val="solid"/>
              <a:round/>
              <a:headEnd type="none" w="sm" len="sm"/>
              <a:tailEnd type="none" w="med" len="med"/>
            </a:ln>
          </p:spPr>
        </p:cxnSp>
        <p:cxnSp>
          <p:nvCxnSpPr>
            <p:cNvPr id="350" name="Google Shape;350;g36e44e7ea0d_0_23"/>
            <p:cNvCxnSpPr/>
            <p:nvPr/>
          </p:nvCxnSpPr>
          <p:spPr>
            <a:xfrm rot="10800000">
              <a:off x="6695443" y="6172333"/>
              <a:ext cx="598200" cy="0"/>
            </a:xfrm>
            <a:prstGeom prst="straightConnector1">
              <a:avLst/>
            </a:prstGeom>
            <a:noFill/>
            <a:ln w="28575" cap="flat" cmpd="sng">
              <a:solidFill>
                <a:srgbClr val="ED7D31"/>
              </a:solidFill>
              <a:prstDash val="solid"/>
              <a:round/>
              <a:headEnd type="none" w="sm" len="sm"/>
              <a:tailEnd type="none" w="med" len="med"/>
            </a:ln>
          </p:spPr>
        </p:cxnSp>
        <p:cxnSp>
          <p:nvCxnSpPr>
            <p:cNvPr id="351" name="Google Shape;351;g36e44e7ea0d_0_23"/>
            <p:cNvCxnSpPr/>
            <p:nvPr/>
          </p:nvCxnSpPr>
          <p:spPr>
            <a:xfrm rot="10800000">
              <a:off x="6695507" y="1795900"/>
              <a:ext cx="0" cy="4389000"/>
            </a:xfrm>
            <a:prstGeom prst="straightConnector1">
              <a:avLst/>
            </a:prstGeom>
            <a:noFill/>
            <a:ln w="28575" cap="flat" cmpd="sng">
              <a:solidFill>
                <a:srgbClr val="ED7D3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2" name="Google Shape;352;g36e44e7ea0d_0_23"/>
            <p:cNvCxnSpPr/>
            <p:nvPr/>
          </p:nvCxnSpPr>
          <p:spPr>
            <a:xfrm>
              <a:off x="8586060" y="1809456"/>
              <a:ext cx="0" cy="376500"/>
            </a:xfrm>
            <a:prstGeom prst="straightConnector1">
              <a:avLst/>
            </a:prstGeom>
            <a:noFill/>
            <a:ln w="28575" cap="flat" cmpd="sng">
              <a:solidFill>
                <a:srgbClr val="ED7D31"/>
              </a:solidFill>
              <a:prstDash val="solid"/>
              <a:round/>
              <a:headEnd type="none" w="sm" len="sm"/>
              <a:tailEnd type="stealth" w="sm" len="sm"/>
            </a:ln>
          </p:spPr>
        </p:cxnSp>
        <p:cxnSp>
          <p:nvCxnSpPr>
            <p:cNvPr id="353" name="Google Shape;353;g36e44e7ea0d_0_23"/>
            <p:cNvCxnSpPr/>
            <p:nvPr/>
          </p:nvCxnSpPr>
          <p:spPr>
            <a:xfrm>
              <a:off x="9242837" y="1809456"/>
              <a:ext cx="0" cy="376500"/>
            </a:xfrm>
            <a:prstGeom prst="straightConnector1">
              <a:avLst/>
            </a:prstGeom>
            <a:noFill/>
            <a:ln w="28575" cap="flat" cmpd="sng">
              <a:solidFill>
                <a:srgbClr val="ED7D31"/>
              </a:solidFill>
              <a:prstDash val="solid"/>
              <a:round/>
              <a:headEnd type="none" w="sm" len="sm"/>
              <a:tailEnd type="stealth" w="sm" len="sm"/>
            </a:ln>
          </p:spPr>
        </p:cxnSp>
        <p:cxnSp>
          <p:nvCxnSpPr>
            <p:cNvPr id="354" name="Google Shape;354;g36e44e7ea0d_0_23"/>
            <p:cNvCxnSpPr/>
            <p:nvPr/>
          </p:nvCxnSpPr>
          <p:spPr>
            <a:xfrm>
              <a:off x="9883135" y="1809456"/>
              <a:ext cx="0" cy="376500"/>
            </a:xfrm>
            <a:prstGeom prst="straightConnector1">
              <a:avLst/>
            </a:prstGeom>
            <a:noFill/>
            <a:ln w="28575" cap="flat" cmpd="sng">
              <a:solidFill>
                <a:srgbClr val="ED7D31"/>
              </a:solidFill>
              <a:prstDash val="solid"/>
              <a:round/>
              <a:headEnd type="none" w="sm" len="sm"/>
              <a:tailEnd type="stealth" w="sm" len="sm"/>
            </a:ln>
          </p:spPr>
        </p:cxnSp>
        <p:cxnSp>
          <p:nvCxnSpPr>
            <p:cNvPr id="355" name="Google Shape;355;g36e44e7ea0d_0_23"/>
            <p:cNvCxnSpPr/>
            <p:nvPr/>
          </p:nvCxnSpPr>
          <p:spPr>
            <a:xfrm>
              <a:off x="10538550" y="1809456"/>
              <a:ext cx="0" cy="376500"/>
            </a:xfrm>
            <a:prstGeom prst="straightConnector1">
              <a:avLst/>
            </a:prstGeom>
            <a:noFill/>
            <a:ln w="28575" cap="flat" cmpd="sng">
              <a:solidFill>
                <a:srgbClr val="ED7D31"/>
              </a:solidFill>
              <a:prstDash val="solid"/>
              <a:round/>
              <a:headEnd type="none" w="sm" len="sm"/>
              <a:tailEnd type="stealth" w="sm" len="sm"/>
            </a:ln>
          </p:spPr>
        </p:cxnSp>
        <p:sp>
          <p:nvSpPr>
            <p:cNvPr id="356" name="Google Shape;356;g36e44e7ea0d_0_23"/>
            <p:cNvSpPr/>
            <p:nvPr/>
          </p:nvSpPr>
          <p:spPr>
            <a:xfrm>
              <a:off x="7032848" y="2167692"/>
              <a:ext cx="538500" cy="444000"/>
            </a:xfrm>
            <a:prstGeom prst="rect">
              <a:avLst/>
            </a:prstGeom>
            <a:noFill/>
            <a:ln w="38100" cap="flat" cmpd="sng">
              <a:solidFill>
                <a:srgbClr val="ED7D3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g36e44e7ea0d_0_23"/>
            <p:cNvSpPr txBox="1"/>
            <p:nvPr/>
          </p:nvSpPr>
          <p:spPr>
            <a:xfrm>
              <a:off x="8924469" y="1528138"/>
              <a:ext cx="1095300" cy="26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b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600"/>
                <a:buFont typeface="Noto Sans KR"/>
                <a:buNone/>
              </a:pPr>
              <a:r>
                <a:rPr lang="en-US" sz="1200" b="1">
                  <a:solidFill>
                    <a:srgbClr val="ED7D3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parameters</a:t>
              </a:r>
              <a:endParaRPr sz="1200" b="0" i="0" u="none" strike="noStrike" cap="none">
                <a:solidFill>
                  <a:srgbClr val="ED7D3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358" name="Google Shape;358;g36e44e7ea0d_0_23"/>
          <p:cNvSpPr txBox="1"/>
          <p:nvPr/>
        </p:nvSpPr>
        <p:spPr>
          <a:xfrm>
            <a:off x="748475" y="1255850"/>
            <a:ext cx="530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[Optimization]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9" name="Google Shape;359;g36e44e7ea0d_0_23"/>
          <p:cNvSpPr txBox="1"/>
          <p:nvPr/>
        </p:nvSpPr>
        <p:spPr>
          <a:xfrm>
            <a:off x="672275" y="4752575"/>
            <a:ext cx="5526600" cy="1154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§"/>
            </a:pPr>
            <a:r>
              <a:rPr lang="en-US" b="1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깊은</a:t>
            </a:r>
            <a:r>
              <a:rPr lang="en-US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1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모델</a:t>
            </a:r>
            <a:r>
              <a:rPr lang="en-US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들은</a:t>
            </a:r>
            <a:r>
              <a:rPr lang="en-US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 </a:t>
            </a:r>
            <a:r>
              <a:rPr lang="en-US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모델의</a:t>
            </a:r>
            <a:r>
              <a:rPr lang="en-US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1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파라미터</a:t>
            </a:r>
            <a:r>
              <a:rPr lang="en-US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를</a:t>
            </a:r>
            <a:r>
              <a:rPr lang="en-US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가져와</a:t>
            </a:r>
            <a:r>
              <a:rPr lang="en-US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parameter initialization</a:t>
            </a:r>
            <a:r>
              <a:rPr lang="en-US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(첫 4개 </a:t>
            </a:r>
            <a:r>
              <a:rPr lang="en-US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conv층과</a:t>
            </a:r>
            <a:r>
              <a:rPr lang="en-US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3개의 </a:t>
            </a:r>
            <a:r>
              <a:rPr lang="en-US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FC층만</a:t>
            </a:r>
            <a:r>
              <a:rPr lang="en-US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나머지는</a:t>
            </a:r>
            <a:r>
              <a:rPr lang="en-US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평균</a:t>
            </a:r>
            <a:r>
              <a:rPr lang="en-US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=0, </a:t>
            </a:r>
            <a:r>
              <a:rPr lang="en-US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분산</a:t>
            </a:r>
            <a:r>
              <a:rPr lang="en-US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=0.01인 </a:t>
            </a:r>
            <a:r>
              <a:rPr lang="en-US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정규분포에서</a:t>
            </a:r>
            <a:r>
              <a:rPr lang="en-US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랜덤</a:t>
            </a:r>
            <a:r>
              <a:rPr lang="en-US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초기화</a:t>
            </a:r>
            <a:r>
              <a:rPr lang="en-US" dirty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0" name="Google Shape;360;g36e44e7ea0d_0_23"/>
          <p:cNvSpPr txBox="1"/>
          <p:nvPr/>
        </p:nvSpPr>
        <p:spPr>
          <a:xfrm>
            <a:off x="748475" y="4289550"/>
            <a:ext cx="530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[Parameter Initialization]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6d8c37080f_0_0"/>
          <p:cNvSpPr txBox="1">
            <a:spLocks noGrp="1"/>
          </p:cNvSpPr>
          <p:nvPr>
            <p:ph type="sldNum" idx="12"/>
          </p:nvPr>
        </p:nvSpPr>
        <p:spPr>
          <a:xfrm>
            <a:off x="9418002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19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67" name="Google Shape;367;g36d8c37080f_0_0"/>
          <p:cNvSpPr/>
          <p:nvPr/>
        </p:nvSpPr>
        <p:spPr>
          <a:xfrm rot="-5400000">
            <a:off x="10347850" y="-1255300"/>
            <a:ext cx="429900" cy="3258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6D9EEB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g36d8c37080f_0_0"/>
          <p:cNvSpPr txBox="1"/>
          <p:nvPr/>
        </p:nvSpPr>
        <p:spPr>
          <a:xfrm>
            <a:off x="9365788" y="181538"/>
            <a:ext cx="3548400" cy="384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VGGNet 백본 논문</a:t>
            </a:r>
            <a:endParaRPr sz="1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9" name="Google Shape;369;g36d8c37080f_0_0"/>
          <p:cNvSpPr/>
          <p:nvPr/>
        </p:nvSpPr>
        <p:spPr>
          <a:xfrm>
            <a:off x="8998150" y="218600"/>
            <a:ext cx="310800" cy="310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 cap="flat" cmpd="sng">
            <a:solidFill>
              <a:srgbClr val="1F386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3864"/>
                </a:solidFill>
              </a:rPr>
              <a:t>1</a:t>
            </a:r>
            <a:endParaRPr>
              <a:solidFill>
                <a:srgbClr val="1F3864"/>
              </a:solidFill>
            </a:endParaRPr>
          </a:p>
        </p:txBody>
      </p:sp>
      <p:sp>
        <p:nvSpPr>
          <p:cNvPr id="370" name="Google Shape;370;g36d8c37080f_0_0"/>
          <p:cNvSpPr txBox="1"/>
          <p:nvPr/>
        </p:nvSpPr>
        <p:spPr>
          <a:xfrm>
            <a:off x="6099375" y="1465600"/>
            <a:ext cx="7065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71" name="Google Shape;371;g36d8c37080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6931" y="1167925"/>
            <a:ext cx="4240240" cy="2443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g36d8c37080f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39450" y="3698977"/>
            <a:ext cx="4387725" cy="237222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3" name="Google Shape;373;g36d8c37080f_0_0"/>
          <p:cNvCxnSpPr/>
          <p:nvPr/>
        </p:nvCxnSpPr>
        <p:spPr>
          <a:xfrm>
            <a:off x="8145250" y="2294900"/>
            <a:ext cx="627600" cy="0"/>
          </a:xfrm>
          <a:prstGeom prst="straightConnector1">
            <a:avLst/>
          </a:prstGeom>
          <a:noFill/>
          <a:ln w="28575" cap="flat" cmpd="sng">
            <a:solidFill>
              <a:srgbClr val="ED7D3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374" name="Google Shape;374;g36d8c37080f_0_0"/>
          <p:cNvCxnSpPr/>
          <p:nvPr/>
        </p:nvCxnSpPr>
        <p:spPr>
          <a:xfrm>
            <a:off x="8145250" y="4800825"/>
            <a:ext cx="627600" cy="0"/>
          </a:xfrm>
          <a:prstGeom prst="straightConnector1">
            <a:avLst/>
          </a:prstGeom>
          <a:noFill/>
          <a:ln w="28575" cap="flat" cmpd="sng">
            <a:solidFill>
              <a:srgbClr val="ED7D3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75" name="Google Shape;375;g36d8c37080f_0_0"/>
          <p:cNvSpPr txBox="1"/>
          <p:nvPr/>
        </p:nvSpPr>
        <p:spPr>
          <a:xfrm>
            <a:off x="700275" y="1793950"/>
            <a:ext cx="5459700" cy="22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§"/>
            </a:pPr>
            <a:r>
              <a:rPr lang="en-US" b="1" dirty="0">
                <a:latin typeface="Noto Sans KR"/>
                <a:ea typeface="Noto Sans KR"/>
                <a:cs typeface="Noto Sans KR"/>
                <a:sym typeface="Noto Sans KR"/>
              </a:rPr>
              <a:t>Single-scale</a:t>
            </a:r>
            <a:endParaRPr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입력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이미지의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S를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S = 256,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또는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S = 384 로 </a:t>
            </a:r>
            <a:endParaRPr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scale을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고정하는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방식</a:t>
            </a:r>
            <a:endParaRPr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§"/>
            </a:pPr>
            <a:r>
              <a:rPr lang="en-US" b="1" dirty="0">
                <a:latin typeface="Noto Sans KR"/>
                <a:ea typeface="Noto Sans KR"/>
                <a:cs typeface="Noto Sans KR"/>
                <a:sym typeface="Noto Sans KR"/>
              </a:rPr>
              <a:t>Multi-scale</a:t>
            </a:r>
            <a:endParaRPr b="1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S를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Smin과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Smax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범위에서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무작위로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선택하는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방식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br>
              <a:rPr lang="en-US" dirty="0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dirty="0">
                <a:solidFill>
                  <a:srgbClr val="212529"/>
                </a:solidFill>
                <a:highlight>
                  <a:schemeClr val="lt1"/>
                </a:highlight>
                <a:latin typeface="Noto Sans KR"/>
                <a:ea typeface="Noto Sans KR"/>
                <a:cs typeface="Noto Sans KR"/>
                <a:sym typeface="Noto Sans KR"/>
              </a:rPr>
              <a:t>S∈[256,512]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) </a:t>
            </a:r>
            <a:endParaRPr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다양한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크기에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대한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대응이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가능하여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정확도가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올라감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이를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1" dirty="0">
                <a:latin typeface="Noto Sans KR"/>
                <a:ea typeface="Noto Sans KR"/>
                <a:cs typeface="Noto Sans KR"/>
                <a:sym typeface="Noto Sans KR"/>
              </a:rPr>
              <a:t>Scale </a:t>
            </a:r>
            <a:r>
              <a:rPr lang="en-US" b="1" dirty="0" err="1">
                <a:latin typeface="Noto Sans KR"/>
                <a:ea typeface="Noto Sans KR"/>
                <a:cs typeface="Noto Sans KR"/>
                <a:sym typeface="Noto Sans KR"/>
              </a:rPr>
              <a:t>Jittering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이라고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함</a:t>
            </a:r>
            <a:endParaRPr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6" name="Google Shape;376;g36d8c37080f_0_0"/>
          <p:cNvSpPr txBox="1"/>
          <p:nvPr/>
        </p:nvSpPr>
        <p:spPr>
          <a:xfrm>
            <a:off x="74843" y="26439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9EBF5"/>
              </a:buClr>
              <a:buSzPts val="3600"/>
              <a:buFont typeface="Helvetica Neue"/>
              <a:buNone/>
            </a:pPr>
            <a:r>
              <a:rPr lang="en-US" sz="36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Train</a:t>
            </a:r>
            <a:endParaRPr sz="3600" b="1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7" name="Google Shape;377;g36d8c37080f_0_0"/>
          <p:cNvSpPr txBox="1"/>
          <p:nvPr/>
        </p:nvSpPr>
        <p:spPr>
          <a:xfrm>
            <a:off x="775425" y="1389400"/>
            <a:ext cx="530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[</a:t>
            </a:r>
            <a:r>
              <a:rPr lang="en-US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Single/Multi-Scale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]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8" name="Google Shape;378;g36d8c37080f_0_0"/>
          <p:cNvSpPr txBox="1"/>
          <p:nvPr/>
        </p:nvSpPr>
        <p:spPr>
          <a:xfrm>
            <a:off x="775425" y="4343088"/>
            <a:ext cx="70650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&gt;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   학습 이미지를 임의의 크기 스케일 S에서 </a:t>
            </a:r>
            <a:br>
              <a:rPr lang="en-US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     여러개의 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224x224 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이미지들로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 크롭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한뒤</a:t>
            </a:r>
            <a:r>
              <a:rPr lang="en-US" b="1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학습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9" name="Google Shape;379;g36d8c37080f_0_0"/>
          <p:cNvSpPr txBox="1"/>
          <p:nvPr/>
        </p:nvSpPr>
        <p:spPr>
          <a:xfrm>
            <a:off x="700275" y="49327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    (+  랜덤 horizontal flip)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6d8c37080f_0_6"/>
          <p:cNvSpPr txBox="1">
            <a:spLocks noGrp="1"/>
          </p:cNvSpPr>
          <p:nvPr>
            <p:ph type="sldNum" idx="12"/>
          </p:nvPr>
        </p:nvSpPr>
        <p:spPr>
          <a:xfrm>
            <a:off x="9418002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20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86" name="Google Shape;386;g36d8c37080f_0_6"/>
          <p:cNvSpPr/>
          <p:nvPr/>
        </p:nvSpPr>
        <p:spPr>
          <a:xfrm rot="-5400000">
            <a:off x="10347850" y="-1255300"/>
            <a:ext cx="429900" cy="3258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6D9EEB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g36d8c37080f_0_6"/>
          <p:cNvSpPr txBox="1"/>
          <p:nvPr/>
        </p:nvSpPr>
        <p:spPr>
          <a:xfrm>
            <a:off x="9365788" y="181538"/>
            <a:ext cx="3548400" cy="384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VGGNet 백본 논문</a:t>
            </a:r>
            <a:endParaRPr sz="1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8" name="Google Shape;388;g36d8c37080f_0_6"/>
          <p:cNvSpPr/>
          <p:nvPr/>
        </p:nvSpPr>
        <p:spPr>
          <a:xfrm>
            <a:off x="8998150" y="218600"/>
            <a:ext cx="310800" cy="310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 cap="flat" cmpd="sng">
            <a:solidFill>
              <a:srgbClr val="1F386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3864"/>
                </a:solidFill>
              </a:rPr>
              <a:t>1</a:t>
            </a:r>
            <a:endParaRPr>
              <a:solidFill>
                <a:srgbClr val="1F3864"/>
              </a:solidFill>
            </a:endParaRPr>
          </a:p>
        </p:txBody>
      </p:sp>
      <p:sp>
        <p:nvSpPr>
          <p:cNvPr id="389" name="Google Shape;389;g36d8c37080f_0_6"/>
          <p:cNvSpPr txBox="1"/>
          <p:nvPr/>
        </p:nvSpPr>
        <p:spPr>
          <a:xfrm>
            <a:off x="6525500" y="1573063"/>
            <a:ext cx="5655600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§"/>
            </a:pP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Training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완료된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모델을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Testing할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때는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신경망의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br>
              <a:rPr lang="en-US" dirty="0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마지막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3개의 </a:t>
            </a:r>
            <a:r>
              <a:rPr lang="en-US" b="1" dirty="0">
                <a:latin typeface="Noto Sans KR"/>
                <a:ea typeface="Noto Sans KR"/>
                <a:cs typeface="Noto Sans KR"/>
                <a:sym typeface="Noto Sans KR"/>
              </a:rPr>
              <a:t>Fully-Connected </a:t>
            </a:r>
            <a:r>
              <a:rPr lang="en-US" b="1" dirty="0" err="1">
                <a:latin typeface="Noto Sans KR"/>
                <a:ea typeface="Noto Sans KR"/>
                <a:cs typeface="Noto Sans KR"/>
                <a:sym typeface="Noto Sans KR"/>
              </a:rPr>
              <a:t>layer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를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br>
              <a:rPr lang="en-US" dirty="0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b="1" dirty="0">
                <a:latin typeface="Noto Sans KR"/>
                <a:ea typeface="Noto Sans KR"/>
                <a:cs typeface="Noto Sans KR"/>
                <a:sym typeface="Noto Sans KR"/>
              </a:rPr>
              <a:t>Convolutional </a:t>
            </a:r>
            <a:r>
              <a:rPr lang="en-US" b="1" dirty="0" err="1">
                <a:latin typeface="Noto Sans KR"/>
                <a:ea typeface="Noto Sans KR"/>
                <a:cs typeface="Noto Sans KR"/>
                <a:sym typeface="Noto Sans KR"/>
              </a:rPr>
              <a:t>layer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로</a:t>
            </a:r>
            <a:r>
              <a:rPr lang="en-US" b="1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1" dirty="0" err="1">
                <a:latin typeface="Noto Sans KR"/>
                <a:ea typeface="Noto Sans KR"/>
                <a:cs typeface="Noto Sans KR"/>
                <a:sym typeface="Noto Sans KR"/>
              </a:rPr>
              <a:t>변환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하여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사용</a:t>
            </a:r>
            <a:endParaRPr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§"/>
            </a:pP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첫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번째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Fully-Connected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layer는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1" dirty="0">
                <a:latin typeface="Noto Sans KR"/>
                <a:ea typeface="Noto Sans KR"/>
                <a:cs typeface="Noto Sans KR"/>
                <a:sym typeface="Noto Sans KR"/>
              </a:rPr>
              <a:t>7x7 </a:t>
            </a:r>
            <a:r>
              <a:rPr lang="en-US" b="1" dirty="0" err="1">
                <a:latin typeface="Noto Sans KR"/>
                <a:ea typeface="Noto Sans KR"/>
                <a:cs typeface="Noto Sans KR"/>
                <a:sym typeface="Noto Sans KR"/>
              </a:rPr>
              <a:t>Conv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로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br>
              <a:rPr lang="en-US" dirty="0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마지막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두 Fully-Connected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layer는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1" dirty="0">
                <a:latin typeface="Noto Sans KR"/>
                <a:ea typeface="Noto Sans KR"/>
                <a:cs typeface="Noto Sans KR"/>
                <a:sym typeface="Noto Sans KR"/>
              </a:rPr>
              <a:t>1x1 </a:t>
            </a:r>
            <a:r>
              <a:rPr lang="en-US" b="1" dirty="0" err="1">
                <a:latin typeface="Noto Sans KR"/>
                <a:ea typeface="Noto Sans KR"/>
                <a:cs typeface="Noto Sans KR"/>
                <a:sym typeface="Noto Sans KR"/>
              </a:rPr>
              <a:t>Conv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로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변환</a:t>
            </a:r>
            <a:br>
              <a:rPr lang="en-US" dirty="0">
                <a:latin typeface="Noto Sans KR"/>
                <a:ea typeface="Noto Sans KR"/>
                <a:cs typeface="Noto Sans KR"/>
                <a:sym typeface="Noto Sans KR"/>
              </a:rPr>
            </a:br>
            <a:endParaRPr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§"/>
            </a:pPr>
            <a:r>
              <a:rPr lang="en-US" b="1" dirty="0" err="1">
                <a:latin typeface="Noto Sans KR"/>
                <a:ea typeface="Noto Sans KR"/>
                <a:cs typeface="Noto Sans KR"/>
                <a:sym typeface="Noto Sans KR"/>
              </a:rPr>
              <a:t>입력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이미지의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1" dirty="0" err="1">
                <a:latin typeface="Noto Sans KR"/>
                <a:ea typeface="Noto Sans KR"/>
                <a:cs typeface="Noto Sans KR"/>
                <a:sym typeface="Noto Sans KR"/>
              </a:rPr>
              <a:t>크기</a:t>
            </a:r>
            <a:r>
              <a:rPr lang="en-US" b="1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1" dirty="0" err="1">
                <a:latin typeface="Noto Sans KR"/>
                <a:ea typeface="Noto Sans KR"/>
                <a:cs typeface="Noto Sans KR"/>
                <a:sym typeface="Noto Sans KR"/>
              </a:rPr>
              <a:t>제약</a:t>
            </a:r>
            <a:r>
              <a:rPr lang="en-US" dirty="0" err="1">
                <a:latin typeface="Noto Sans KR"/>
                <a:ea typeface="Noto Sans KR"/>
                <a:cs typeface="Noto Sans KR"/>
                <a:sym typeface="Noto Sans KR"/>
              </a:rPr>
              <a:t>을</a:t>
            </a:r>
            <a:r>
              <a:rPr lang="en-US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1" dirty="0" err="1">
                <a:latin typeface="Noto Sans KR"/>
                <a:ea typeface="Noto Sans KR"/>
                <a:cs typeface="Noto Sans KR"/>
                <a:sym typeface="Noto Sans KR"/>
              </a:rPr>
              <a:t>없애기</a:t>
            </a:r>
            <a:r>
              <a:rPr lang="en-US" b="1" dirty="0"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1" dirty="0" err="1">
                <a:latin typeface="Noto Sans KR"/>
                <a:ea typeface="Noto Sans KR"/>
                <a:cs typeface="Noto Sans KR"/>
                <a:sym typeface="Noto Sans KR"/>
              </a:rPr>
              <a:t>위함</a:t>
            </a:r>
            <a:endParaRPr b="1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90" name="Google Shape;390;g36d8c37080f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925" y="1041375"/>
            <a:ext cx="4893576" cy="2593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1" name="Google Shape;391;g36d8c37080f_0_6"/>
          <p:cNvGrpSpPr/>
          <p:nvPr/>
        </p:nvGrpSpPr>
        <p:grpSpPr>
          <a:xfrm>
            <a:off x="413150" y="4214375"/>
            <a:ext cx="1978800" cy="1392000"/>
            <a:chOff x="1443775" y="4214375"/>
            <a:chExt cx="1978800" cy="1392000"/>
          </a:xfrm>
        </p:grpSpPr>
        <p:sp>
          <p:nvSpPr>
            <p:cNvPr id="392" name="Google Shape;392;g36d8c37080f_0_6"/>
            <p:cNvSpPr/>
            <p:nvPr/>
          </p:nvSpPr>
          <p:spPr>
            <a:xfrm>
              <a:off x="1443775" y="5016875"/>
              <a:ext cx="588900" cy="5889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93" name="Google Shape;393;g36d8c37080f_0_6"/>
            <p:cNvCxnSpPr/>
            <p:nvPr/>
          </p:nvCxnSpPr>
          <p:spPr>
            <a:xfrm rot="10800000" flipH="1">
              <a:off x="1443775" y="4214375"/>
              <a:ext cx="1389900" cy="802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g36d8c37080f_0_6"/>
            <p:cNvCxnSpPr/>
            <p:nvPr/>
          </p:nvCxnSpPr>
          <p:spPr>
            <a:xfrm rot="10800000" flipH="1">
              <a:off x="2032675" y="4803275"/>
              <a:ext cx="1389900" cy="802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5" name="Google Shape;395;g36d8c37080f_0_6"/>
            <p:cNvCxnSpPr/>
            <p:nvPr/>
          </p:nvCxnSpPr>
          <p:spPr>
            <a:xfrm rot="10800000" flipH="1">
              <a:off x="2032675" y="4214375"/>
              <a:ext cx="1389900" cy="802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6" name="Google Shape;396;g36d8c37080f_0_6"/>
            <p:cNvCxnSpPr/>
            <p:nvPr/>
          </p:nvCxnSpPr>
          <p:spPr>
            <a:xfrm>
              <a:off x="2833675" y="4214375"/>
              <a:ext cx="588900" cy="1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7" name="Google Shape;397;g36d8c37080f_0_6"/>
            <p:cNvCxnSpPr/>
            <p:nvPr/>
          </p:nvCxnSpPr>
          <p:spPr>
            <a:xfrm>
              <a:off x="3419075" y="4218200"/>
              <a:ext cx="0" cy="589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8" name="Google Shape;398;g36d8c37080f_0_6"/>
            <p:cNvCxnSpPr/>
            <p:nvPr/>
          </p:nvCxnSpPr>
          <p:spPr>
            <a:xfrm>
              <a:off x="1449025" y="5109450"/>
              <a:ext cx="586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9" name="Google Shape;399;g36d8c37080f_0_6"/>
            <p:cNvCxnSpPr/>
            <p:nvPr/>
          </p:nvCxnSpPr>
          <p:spPr>
            <a:xfrm>
              <a:off x="1445125" y="5193350"/>
              <a:ext cx="586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" name="Google Shape;400;g36d8c37080f_0_6"/>
            <p:cNvCxnSpPr/>
            <p:nvPr/>
          </p:nvCxnSpPr>
          <p:spPr>
            <a:xfrm>
              <a:off x="1445125" y="5280000"/>
              <a:ext cx="586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1" name="Google Shape;401;g36d8c37080f_0_6"/>
            <p:cNvCxnSpPr/>
            <p:nvPr/>
          </p:nvCxnSpPr>
          <p:spPr>
            <a:xfrm>
              <a:off x="1445125" y="5372250"/>
              <a:ext cx="586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2" name="Google Shape;402;g36d8c37080f_0_6"/>
            <p:cNvCxnSpPr/>
            <p:nvPr/>
          </p:nvCxnSpPr>
          <p:spPr>
            <a:xfrm>
              <a:off x="1445125" y="5453350"/>
              <a:ext cx="586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3" name="Google Shape;403;g36d8c37080f_0_6"/>
            <p:cNvCxnSpPr/>
            <p:nvPr/>
          </p:nvCxnSpPr>
          <p:spPr>
            <a:xfrm>
              <a:off x="1445125" y="5534400"/>
              <a:ext cx="586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4" name="Google Shape;404;g36d8c37080f_0_6"/>
            <p:cNvCxnSpPr/>
            <p:nvPr/>
          </p:nvCxnSpPr>
          <p:spPr>
            <a:xfrm rot="5400000">
              <a:off x="1657600" y="5313275"/>
              <a:ext cx="586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g36d8c37080f_0_6"/>
            <p:cNvCxnSpPr/>
            <p:nvPr/>
          </p:nvCxnSpPr>
          <p:spPr>
            <a:xfrm rot="5400000">
              <a:off x="1573700" y="5309375"/>
              <a:ext cx="586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6" name="Google Shape;406;g36d8c37080f_0_6"/>
            <p:cNvCxnSpPr/>
            <p:nvPr/>
          </p:nvCxnSpPr>
          <p:spPr>
            <a:xfrm rot="5400000">
              <a:off x="1487050" y="5309375"/>
              <a:ext cx="586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7" name="Google Shape;407;g36d8c37080f_0_6"/>
            <p:cNvCxnSpPr/>
            <p:nvPr/>
          </p:nvCxnSpPr>
          <p:spPr>
            <a:xfrm rot="5400000">
              <a:off x="1394800" y="5309375"/>
              <a:ext cx="586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8" name="Google Shape;408;g36d8c37080f_0_6"/>
            <p:cNvCxnSpPr/>
            <p:nvPr/>
          </p:nvCxnSpPr>
          <p:spPr>
            <a:xfrm rot="5400000">
              <a:off x="1313700" y="5309375"/>
              <a:ext cx="586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9" name="Google Shape;409;g36d8c37080f_0_6"/>
            <p:cNvCxnSpPr/>
            <p:nvPr/>
          </p:nvCxnSpPr>
          <p:spPr>
            <a:xfrm rot="5400000">
              <a:off x="1232650" y="5309375"/>
              <a:ext cx="586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10" name="Google Shape;410;g36d8c37080f_0_6"/>
          <p:cNvSpPr/>
          <p:nvPr/>
        </p:nvSpPr>
        <p:spPr>
          <a:xfrm>
            <a:off x="3115875" y="4729675"/>
            <a:ext cx="588900" cy="588900"/>
          </a:xfrm>
          <a:prstGeom prst="rect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1" name="Google Shape;411;g36d8c37080f_0_6"/>
          <p:cNvCxnSpPr/>
          <p:nvPr/>
        </p:nvCxnSpPr>
        <p:spPr>
          <a:xfrm>
            <a:off x="3121125" y="4822250"/>
            <a:ext cx="586200" cy="0"/>
          </a:xfrm>
          <a:prstGeom prst="straightConnector1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2" name="Google Shape;412;g36d8c37080f_0_6"/>
          <p:cNvCxnSpPr/>
          <p:nvPr/>
        </p:nvCxnSpPr>
        <p:spPr>
          <a:xfrm>
            <a:off x="3117225" y="4906150"/>
            <a:ext cx="586200" cy="0"/>
          </a:xfrm>
          <a:prstGeom prst="straightConnector1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3" name="Google Shape;413;g36d8c37080f_0_6"/>
          <p:cNvCxnSpPr/>
          <p:nvPr/>
        </p:nvCxnSpPr>
        <p:spPr>
          <a:xfrm>
            <a:off x="3117225" y="4992800"/>
            <a:ext cx="586200" cy="0"/>
          </a:xfrm>
          <a:prstGeom prst="straightConnector1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4" name="Google Shape;414;g36d8c37080f_0_6"/>
          <p:cNvCxnSpPr/>
          <p:nvPr/>
        </p:nvCxnSpPr>
        <p:spPr>
          <a:xfrm>
            <a:off x="3117225" y="5085050"/>
            <a:ext cx="586200" cy="0"/>
          </a:xfrm>
          <a:prstGeom prst="straightConnector1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5" name="Google Shape;415;g36d8c37080f_0_6"/>
          <p:cNvCxnSpPr/>
          <p:nvPr/>
        </p:nvCxnSpPr>
        <p:spPr>
          <a:xfrm>
            <a:off x="3117225" y="5166150"/>
            <a:ext cx="586200" cy="0"/>
          </a:xfrm>
          <a:prstGeom prst="straightConnector1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6" name="Google Shape;416;g36d8c37080f_0_6"/>
          <p:cNvCxnSpPr/>
          <p:nvPr/>
        </p:nvCxnSpPr>
        <p:spPr>
          <a:xfrm>
            <a:off x="3117225" y="5247200"/>
            <a:ext cx="586200" cy="0"/>
          </a:xfrm>
          <a:prstGeom prst="straightConnector1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7" name="Google Shape;417;g36d8c37080f_0_6"/>
          <p:cNvCxnSpPr/>
          <p:nvPr/>
        </p:nvCxnSpPr>
        <p:spPr>
          <a:xfrm rot="5400000">
            <a:off x="3329700" y="5026075"/>
            <a:ext cx="586200" cy="0"/>
          </a:xfrm>
          <a:prstGeom prst="straightConnector1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8" name="Google Shape;418;g36d8c37080f_0_6"/>
          <p:cNvCxnSpPr/>
          <p:nvPr/>
        </p:nvCxnSpPr>
        <p:spPr>
          <a:xfrm rot="5400000">
            <a:off x="3245800" y="5022175"/>
            <a:ext cx="586200" cy="0"/>
          </a:xfrm>
          <a:prstGeom prst="straightConnector1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9" name="Google Shape;419;g36d8c37080f_0_6"/>
          <p:cNvCxnSpPr/>
          <p:nvPr/>
        </p:nvCxnSpPr>
        <p:spPr>
          <a:xfrm rot="5400000">
            <a:off x="3159150" y="5022175"/>
            <a:ext cx="586200" cy="0"/>
          </a:xfrm>
          <a:prstGeom prst="straightConnector1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0" name="Google Shape;420;g36d8c37080f_0_6"/>
          <p:cNvCxnSpPr/>
          <p:nvPr/>
        </p:nvCxnSpPr>
        <p:spPr>
          <a:xfrm rot="5400000">
            <a:off x="3066900" y="5022175"/>
            <a:ext cx="586200" cy="0"/>
          </a:xfrm>
          <a:prstGeom prst="straightConnector1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1" name="Google Shape;421;g36d8c37080f_0_6"/>
          <p:cNvCxnSpPr/>
          <p:nvPr/>
        </p:nvCxnSpPr>
        <p:spPr>
          <a:xfrm rot="5400000">
            <a:off x="2985800" y="5022175"/>
            <a:ext cx="586200" cy="0"/>
          </a:xfrm>
          <a:prstGeom prst="straightConnector1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2" name="Google Shape;422;g36d8c37080f_0_6"/>
          <p:cNvCxnSpPr/>
          <p:nvPr/>
        </p:nvCxnSpPr>
        <p:spPr>
          <a:xfrm rot="5400000">
            <a:off x="2904750" y="5022175"/>
            <a:ext cx="586200" cy="0"/>
          </a:xfrm>
          <a:prstGeom prst="straightConnector1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3" name="Google Shape;423;g36d8c37080f_0_6"/>
          <p:cNvSpPr txBox="1"/>
          <p:nvPr/>
        </p:nvSpPr>
        <p:spPr>
          <a:xfrm>
            <a:off x="3115875" y="5372175"/>
            <a:ext cx="908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9900FF"/>
                </a:solidFill>
                <a:latin typeface="Noto Sans KR"/>
                <a:ea typeface="Noto Sans KR"/>
                <a:cs typeface="Noto Sans KR"/>
                <a:sym typeface="Noto Sans KR"/>
              </a:rPr>
              <a:t>7x7 conv</a:t>
            </a:r>
            <a:endParaRPr sz="800">
              <a:solidFill>
                <a:srgbClr val="9900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4" name="Google Shape;424;g36d8c37080f_0_6"/>
          <p:cNvSpPr txBox="1"/>
          <p:nvPr/>
        </p:nvSpPr>
        <p:spPr>
          <a:xfrm>
            <a:off x="418400" y="5609675"/>
            <a:ext cx="908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Noto Sans KR"/>
                <a:ea typeface="Noto Sans KR"/>
                <a:cs typeface="Noto Sans KR"/>
                <a:sym typeface="Noto Sans KR"/>
              </a:rPr>
              <a:t>7x7x512</a:t>
            </a:r>
            <a:endParaRPr sz="8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5" name="Google Shape;425;g36d8c37080f_0_6"/>
          <p:cNvSpPr txBox="1"/>
          <p:nvPr/>
        </p:nvSpPr>
        <p:spPr>
          <a:xfrm>
            <a:off x="4325850" y="5609675"/>
            <a:ext cx="908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Noto Sans KR"/>
                <a:ea typeface="Noto Sans KR"/>
                <a:cs typeface="Noto Sans KR"/>
                <a:sym typeface="Noto Sans KR"/>
              </a:rPr>
              <a:t>1x1x4096</a:t>
            </a:r>
            <a:endParaRPr sz="8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426" name="Google Shape;426;g36d8c37080f_0_6"/>
          <p:cNvGrpSpPr/>
          <p:nvPr/>
        </p:nvGrpSpPr>
        <p:grpSpPr>
          <a:xfrm>
            <a:off x="4338725" y="4465800"/>
            <a:ext cx="1470000" cy="889150"/>
            <a:chOff x="5245125" y="4504900"/>
            <a:chExt cx="1470000" cy="889150"/>
          </a:xfrm>
        </p:grpSpPr>
        <p:sp>
          <p:nvSpPr>
            <p:cNvPr id="427" name="Google Shape;427;g36d8c37080f_0_6"/>
            <p:cNvSpPr/>
            <p:nvPr/>
          </p:nvSpPr>
          <p:spPr>
            <a:xfrm>
              <a:off x="5245125" y="5307401"/>
              <a:ext cx="84900" cy="849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28" name="Google Shape;428;g36d8c37080f_0_6"/>
            <p:cNvCxnSpPr/>
            <p:nvPr/>
          </p:nvCxnSpPr>
          <p:spPr>
            <a:xfrm rot="10800000" flipH="1">
              <a:off x="5245125" y="4504900"/>
              <a:ext cx="1389900" cy="802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9" name="Google Shape;429;g36d8c37080f_0_6"/>
            <p:cNvCxnSpPr/>
            <p:nvPr/>
          </p:nvCxnSpPr>
          <p:spPr>
            <a:xfrm rot="10800000" flipH="1">
              <a:off x="5325225" y="4504900"/>
              <a:ext cx="1389900" cy="802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0" name="Google Shape;430;g36d8c37080f_0_6"/>
            <p:cNvCxnSpPr/>
            <p:nvPr/>
          </p:nvCxnSpPr>
          <p:spPr>
            <a:xfrm rot="10800000" flipH="1">
              <a:off x="5325225" y="4591550"/>
              <a:ext cx="1389900" cy="802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1" name="Google Shape;431;g36d8c37080f_0_6"/>
            <p:cNvCxnSpPr/>
            <p:nvPr/>
          </p:nvCxnSpPr>
          <p:spPr>
            <a:xfrm>
              <a:off x="6632050" y="4506100"/>
              <a:ext cx="81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2" name="Google Shape;432;g36d8c37080f_0_6"/>
            <p:cNvCxnSpPr/>
            <p:nvPr/>
          </p:nvCxnSpPr>
          <p:spPr>
            <a:xfrm>
              <a:off x="6712275" y="4506875"/>
              <a:ext cx="0" cy="87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433" name="Google Shape;433;g36d8c37080f_0_6"/>
          <p:cNvCxnSpPr/>
          <p:nvPr/>
        </p:nvCxnSpPr>
        <p:spPr>
          <a:xfrm>
            <a:off x="2521375" y="5026075"/>
            <a:ext cx="385500" cy="0"/>
          </a:xfrm>
          <a:prstGeom prst="straightConnector1">
            <a:avLst/>
          </a:prstGeom>
          <a:noFill/>
          <a:ln w="28575" cap="flat" cmpd="sng">
            <a:solidFill>
              <a:srgbClr val="ED7D3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34" name="Google Shape;434;g36d8c37080f_0_6"/>
          <p:cNvCxnSpPr/>
          <p:nvPr/>
        </p:nvCxnSpPr>
        <p:spPr>
          <a:xfrm>
            <a:off x="3885600" y="5022175"/>
            <a:ext cx="385500" cy="0"/>
          </a:xfrm>
          <a:prstGeom prst="straightConnector1">
            <a:avLst/>
          </a:prstGeom>
          <a:noFill/>
          <a:ln w="28575" cap="flat" cmpd="sng">
            <a:solidFill>
              <a:srgbClr val="ED7D3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35" name="Google Shape;435;g36d8c37080f_0_6"/>
          <p:cNvCxnSpPr/>
          <p:nvPr/>
        </p:nvCxnSpPr>
        <p:spPr>
          <a:xfrm>
            <a:off x="3463625" y="3565975"/>
            <a:ext cx="1621500" cy="0"/>
          </a:xfrm>
          <a:prstGeom prst="straightConnector1">
            <a:avLst/>
          </a:prstGeom>
          <a:noFill/>
          <a:ln w="28575" cap="flat" cmpd="sng">
            <a:solidFill>
              <a:srgbClr val="99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6" name="Google Shape;436;g36d8c37080f_0_6"/>
          <p:cNvCxnSpPr/>
          <p:nvPr/>
        </p:nvCxnSpPr>
        <p:spPr>
          <a:xfrm>
            <a:off x="4292900" y="3561900"/>
            <a:ext cx="0" cy="478500"/>
          </a:xfrm>
          <a:prstGeom prst="straightConnector1">
            <a:avLst/>
          </a:prstGeom>
          <a:noFill/>
          <a:ln w="19050" cap="flat" cmpd="sng">
            <a:solidFill>
              <a:srgbClr val="9900FF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437" name="Google Shape;437;g36d8c37080f_0_6"/>
          <p:cNvCxnSpPr/>
          <p:nvPr/>
        </p:nvCxnSpPr>
        <p:spPr>
          <a:xfrm>
            <a:off x="5651550" y="5024125"/>
            <a:ext cx="385500" cy="0"/>
          </a:xfrm>
          <a:prstGeom prst="straightConnector1">
            <a:avLst/>
          </a:prstGeom>
          <a:noFill/>
          <a:ln w="28575" cap="flat" cmpd="sng">
            <a:solidFill>
              <a:srgbClr val="ED7D3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38" name="Google Shape;438;g36d8c37080f_0_6"/>
          <p:cNvSpPr/>
          <p:nvPr/>
        </p:nvSpPr>
        <p:spPr>
          <a:xfrm>
            <a:off x="6440600" y="4983626"/>
            <a:ext cx="84900" cy="84900"/>
          </a:xfrm>
          <a:prstGeom prst="rect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g36d8c37080f_0_6"/>
          <p:cNvSpPr txBox="1"/>
          <p:nvPr/>
        </p:nvSpPr>
        <p:spPr>
          <a:xfrm>
            <a:off x="6188175" y="5372175"/>
            <a:ext cx="908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9900FF"/>
                </a:solidFill>
                <a:latin typeface="Noto Sans KR"/>
                <a:ea typeface="Noto Sans KR"/>
                <a:cs typeface="Noto Sans KR"/>
                <a:sym typeface="Noto Sans KR"/>
              </a:rPr>
              <a:t>1x1 conv</a:t>
            </a:r>
            <a:endParaRPr sz="800">
              <a:solidFill>
                <a:srgbClr val="9900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440" name="Google Shape;440;g36d8c37080f_0_6"/>
          <p:cNvGrpSpPr/>
          <p:nvPr/>
        </p:nvGrpSpPr>
        <p:grpSpPr>
          <a:xfrm>
            <a:off x="7479525" y="4465800"/>
            <a:ext cx="1470000" cy="889150"/>
            <a:chOff x="5245125" y="4504900"/>
            <a:chExt cx="1470000" cy="889150"/>
          </a:xfrm>
        </p:grpSpPr>
        <p:sp>
          <p:nvSpPr>
            <p:cNvPr id="441" name="Google Shape;441;g36d8c37080f_0_6"/>
            <p:cNvSpPr/>
            <p:nvPr/>
          </p:nvSpPr>
          <p:spPr>
            <a:xfrm>
              <a:off x="5245125" y="5307401"/>
              <a:ext cx="84900" cy="849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42" name="Google Shape;442;g36d8c37080f_0_6"/>
            <p:cNvCxnSpPr/>
            <p:nvPr/>
          </p:nvCxnSpPr>
          <p:spPr>
            <a:xfrm rot="10800000" flipH="1">
              <a:off x="5245125" y="4504900"/>
              <a:ext cx="1389900" cy="802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3" name="Google Shape;443;g36d8c37080f_0_6"/>
            <p:cNvCxnSpPr/>
            <p:nvPr/>
          </p:nvCxnSpPr>
          <p:spPr>
            <a:xfrm rot="10800000" flipH="1">
              <a:off x="5325225" y="4504900"/>
              <a:ext cx="1389900" cy="802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4" name="Google Shape;444;g36d8c37080f_0_6"/>
            <p:cNvCxnSpPr/>
            <p:nvPr/>
          </p:nvCxnSpPr>
          <p:spPr>
            <a:xfrm rot="10800000" flipH="1">
              <a:off x="5325225" y="4591550"/>
              <a:ext cx="1389900" cy="802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5" name="Google Shape;445;g36d8c37080f_0_6"/>
            <p:cNvCxnSpPr/>
            <p:nvPr/>
          </p:nvCxnSpPr>
          <p:spPr>
            <a:xfrm>
              <a:off x="6632050" y="4506100"/>
              <a:ext cx="81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6" name="Google Shape;446;g36d8c37080f_0_6"/>
            <p:cNvCxnSpPr/>
            <p:nvPr/>
          </p:nvCxnSpPr>
          <p:spPr>
            <a:xfrm>
              <a:off x="6712275" y="4506875"/>
              <a:ext cx="0" cy="87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47" name="Google Shape;447;g36d8c37080f_0_6"/>
          <p:cNvSpPr txBox="1"/>
          <p:nvPr/>
        </p:nvSpPr>
        <p:spPr>
          <a:xfrm>
            <a:off x="7498325" y="5609675"/>
            <a:ext cx="908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Noto Sans KR"/>
                <a:ea typeface="Noto Sans KR"/>
                <a:cs typeface="Noto Sans KR"/>
                <a:sym typeface="Noto Sans KR"/>
              </a:rPr>
              <a:t>1x1x4096</a:t>
            </a:r>
            <a:endParaRPr sz="8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48" name="Google Shape;448;g36d8c37080f_0_6"/>
          <p:cNvCxnSpPr/>
          <p:nvPr/>
        </p:nvCxnSpPr>
        <p:spPr>
          <a:xfrm>
            <a:off x="6882400" y="5022175"/>
            <a:ext cx="385500" cy="0"/>
          </a:xfrm>
          <a:prstGeom prst="straightConnector1">
            <a:avLst/>
          </a:prstGeom>
          <a:noFill/>
          <a:ln w="28575" cap="flat" cmpd="sng">
            <a:solidFill>
              <a:srgbClr val="ED7D3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49" name="Google Shape;449;g36d8c37080f_0_6"/>
          <p:cNvSpPr/>
          <p:nvPr/>
        </p:nvSpPr>
        <p:spPr>
          <a:xfrm>
            <a:off x="9526675" y="4983613"/>
            <a:ext cx="84900" cy="84900"/>
          </a:xfrm>
          <a:prstGeom prst="rect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g36d8c37080f_0_6"/>
          <p:cNvSpPr txBox="1"/>
          <p:nvPr/>
        </p:nvSpPr>
        <p:spPr>
          <a:xfrm>
            <a:off x="9274250" y="5372163"/>
            <a:ext cx="908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9900FF"/>
                </a:solidFill>
                <a:latin typeface="Noto Sans KR"/>
                <a:ea typeface="Noto Sans KR"/>
                <a:cs typeface="Noto Sans KR"/>
                <a:sym typeface="Noto Sans KR"/>
              </a:rPr>
              <a:t>1x1 conv</a:t>
            </a:r>
            <a:endParaRPr sz="800">
              <a:solidFill>
                <a:srgbClr val="9900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451" name="Google Shape;451;g36d8c37080f_0_6"/>
          <p:cNvCxnSpPr/>
          <p:nvPr/>
        </p:nvCxnSpPr>
        <p:spPr>
          <a:xfrm>
            <a:off x="9968475" y="5022163"/>
            <a:ext cx="385500" cy="0"/>
          </a:xfrm>
          <a:prstGeom prst="straightConnector1">
            <a:avLst/>
          </a:prstGeom>
          <a:noFill/>
          <a:ln w="28575" cap="flat" cmpd="sng">
            <a:solidFill>
              <a:srgbClr val="ED7D3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452" name="Google Shape;452;g36d8c37080f_0_6"/>
          <p:cNvCxnSpPr/>
          <p:nvPr/>
        </p:nvCxnSpPr>
        <p:spPr>
          <a:xfrm>
            <a:off x="8808463" y="5022175"/>
            <a:ext cx="385500" cy="0"/>
          </a:xfrm>
          <a:prstGeom prst="straightConnector1">
            <a:avLst/>
          </a:prstGeom>
          <a:noFill/>
          <a:ln w="28575" cap="flat" cmpd="sng">
            <a:solidFill>
              <a:srgbClr val="ED7D3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453" name="Google Shape;453;g36d8c37080f_0_6"/>
          <p:cNvSpPr/>
          <p:nvPr/>
        </p:nvSpPr>
        <p:spPr>
          <a:xfrm>
            <a:off x="10773125" y="5108726"/>
            <a:ext cx="84900" cy="84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54" name="Google Shape;454;g36d8c37080f_0_6"/>
          <p:cNvCxnSpPr/>
          <p:nvPr/>
        </p:nvCxnSpPr>
        <p:spPr>
          <a:xfrm rot="10800000" flipH="1">
            <a:off x="10773125" y="4858525"/>
            <a:ext cx="433200" cy="25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5" name="Google Shape;455;g36d8c37080f_0_6"/>
          <p:cNvCxnSpPr/>
          <p:nvPr/>
        </p:nvCxnSpPr>
        <p:spPr>
          <a:xfrm rot="10800000" flipH="1">
            <a:off x="11200025" y="4859925"/>
            <a:ext cx="86100" cy="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g36d8c37080f_0_6"/>
          <p:cNvCxnSpPr/>
          <p:nvPr/>
        </p:nvCxnSpPr>
        <p:spPr>
          <a:xfrm>
            <a:off x="11286425" y="4860825"/>
            <a:ext cx="0" cy="8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g36d8c37080f_0_6"/>
          <p:cNvCxnSpPr/>
          <p:nvPr/>
        </p:nvCxnSpPr>
        <p:spPr>
          <a:xfrm rot="10800000" flipH="1">
            <a:off x="10853225" y="4860813"/>
            <a:ext cx="433200" cy="25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8" name="Google Shape;458;g36d8c37080f_0_6"/>
          <p:cNvCxnSpPr/>
          <p:nvPr/>
        </p:nvCxnSpPr>
        <p:spPr>
          <a:xfrm rot="10800000" flipH="1">
            <a:off x="10858025" y="4943413"/>
            <a:ext cx="433200" cy="25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9" name="Google Shape;459;g36d8c37080f_0_6"/>
          <p:cNvSpPr txBox="1"/>
          <p:nvPr/>
        </p:nvSpPr>
        <p:spPr>
          <a:xfrm>
            <a:off x="10670800" y="5566600"/>
            <a:ext cx="908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Noto Sans KR"/>
                <a:ea typeface="Noto Sans KR"/>
                <a:cs typeface="Noto Sans KR"/>
                <a:sym typeface="Noto Sans KR"/>
              </a:rPr>
              <a:t>1x1x1000</a:t>
            </a:r>
            <a:endParaRPr sz="8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0" name="Google Shape;460;g36d8c37080f_0_6"/>
          <p:cNvSpPr txBox="1"/>
          <p:nvPr/>
        </p:nvSpPr>
        <p:spPr>
          <a:xfrm>
            <a:off x="74893" y="26439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9EBF5"/>
              </a:buClr>
              <a:buSzPts val="3600"/>
              <a:buFont typeface="Helvetica Neue"/>
              <a:buNone/>
            </a:pPr>
            <a:r>
              <a:rPr lang="en-US" sz="36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Test</a:t>
            </a:r>
            <a:endParaRPr sz="3600" b="1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6e44e7ea0d_0_111"/>
          <p:cNvSpPr txBox="1"/>
          <p:nvPr/>
        </p:nvSpPr>
        <p:spPr>
          <a:xfrm>
            <a:off x="74893" y="26439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9EBF5"/>
              </a:buClr>
              <a:buSzPts val="3600"/>
              <a:buFont typeface="Helvetica Neue"/>
              <a:buNone/>
            </a:pPr>
            <a:r>
              <a:rPr lang="en-US" sz="36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Experiments</a:t>
            </a:r>
            <a:endParaRPr sz="3600" b="1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7" name="Google Shape;467;g36e44e7ea0d_0_111"/>
          <p:cNvSpPr txBox="1">
            <a:spLocks noGrp="1"/>
          </p:cNvSpPr>
          <p:nvPr>
            <p:ph type="sldNum" idx="12"/>
          </p:nvPr>
        </p:nvSpPr>
        <p:spPr>
          <a:xfrm>
            <a:off x="9418002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21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468" name="Google Shape;468;g36e44e7ea0d_0_111"/>
          <p:cNvSpPr/>
          <p:nvPr/>
        </p:nvSpPr>
        <p:spPr>
          <a:xfrm rot="-5400000">
            <a:off x="10347850" y="-1255300"/>
            <a:ext cx="429900" cy="3258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6D9EEB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g36e44e7ea0d_0_111"/>
          <p:cNvSpPr txBox="1"/>
          <p:nvPr/>
        </p:nvSpPr>
        <p:spPr>
          <a:xfrm>
            <a:off x="9365788" y="181538"/>
            <a:ext cx="3548400" cy="384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VGGNet 백본 논문</a:t>
            </a:r>
            <a:endParaRPr sz="1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0" name="Google Shape;470;g36e44e7ea0d_0_111"/>
          <p:cNvSpPr/>
          <p:nvPr/>
        </p:nvSpPr>
        <p:spPr>
          <a:xfrm>
            <a:off x="8998150" y="218600"/>
            <a:ext cx="310800" cy="310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 cap="flat" cmpd="sng">
            <a:solidFill>
              <a:srgbClr val="1F386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3864"/>
                </a:solidFill>
              </a:rPr>
              <a:t>1</a:t>
            </a:r>
            <a:endParaRPr>
              <a:solidFill>
                <a:srgbClr val="1F3864"/>
              </a:solidFill>
            </a:endParaRPr>
          </a:p>
        </p:txBody>
      </p:sp>
      <p:sp>
        <p:nvSpPr>
          <p:cNvPr id="471" name="Google Shape;471;g36e44e7ea0d_0_111"/>
          <p:cNvSpPr txBox="1"/>
          <p:nvPr/>
        </p:nvSpPr>
        <p:spPr>
          <a:xfrm>
            <a:off x="563600" y="4122675"/>
            <a:ext cx="4056000" cy="14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§"/>
            </a:pPr>
            <a:r>
              <a:rPr lang="en-US" b="1" dirty="0">
                <a:latin typeface="Noto Sans KR"/>
                <a:ea typeface="Noto Sans KR"/>
                <a:cs typeface="Noto Sans KR"/>
                <a:sym typeface="Noto Sans KR"/>
              </a:rPr>
              <a:t>Multi-Scale Evaluation</a:t>
            </a:r>
            <a:endParaRPr b="1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01625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12529"/>
              </a:buClr>
              <a:buSzPts val="1150"/>
              <a:buFont typeface="Noto Sans KR"/>
              <a:buChar char="-"/>
            </a:pP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Q</a:t>
            </a:r>
            <a:r>
              <a:rPr lang="en-US" sz="1150" dirty="0">
                <a:solidFill>
                  <a:srgbClr val="212529"/>
                </a:solidFill>
                <a:highlight>
                  <a:schemeClr val="lt1"/>
                </a:highlight>
                <a:latin typeface="Noto Sans KR"/>
                <a:ea typeface="Noto Sans KR"/>
                <a:cs typeface="Noto Sans KR"/>
                <a:sym typeface="Noto Sans KR"/>
              </a:rPr>
              <a:t>∈</a:t>
            </a: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{S–32,S,S+32} </a:t>
            </a:r>
            <a:r>
              <a:rPr lang="en-US" sz="1150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혹은</a:t>
            </a: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Q∈{256,384,512}로 </a:t>
            </a:r>
            <a:b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150" b="1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여러</a:t>
            </a:r>
            <a:r>
              <a:rPr lang="en-US" sz="1150" b="1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50" b="1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크기에서</a:t>
            </a:r>
            <a:r>
              <a:rPr lang="en-US" sz="1150" b="1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50" b="1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예측</a:t>
            </a:r>
            <a:r>
              <a:rPr lang="en-US" sz="1150" b="1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후 </a:t>
            </a:r>
            <a:r>
              <a:rPr lang="en-US" sz="1150" b="1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평균</a:t>
            </a:r>
            <a:r>
              <a:rPr lang="en-US" sz="1150" b="1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sz="1150" b="1" dirty="0">
              <a:solidFill>
                <a:srgbClr val="212529"/>
              </a:solidFill>
              <a:highlight>
                <a:srgbClr val="FFFFFF"/>
              </a:highlight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50"/>
              <a:buFont typeface="Noto Sans KR"/>
              <a:buChar char="-"/>
            </a:pP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D, E </a:t>
            </a:r>
            <a:r>
              <a:rPr lang="en-US" sz="1150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configuration에서</a:t>
            </a: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best </a:t>
            </a:r>
            <a:r>
              <a:rPr lang="en-US" sz="1150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성능</a:t>
            </a:r>
            <a:endParaRPr sz="1150" dirty="0">
              <a:solidFill>
                <a:srgbClr val="212529"/>
              </a:solidFill>
              <a:highlight>
                <a:srgbClr val="FFFFFF"/>
              </a:highlight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50"/>
              <a:buFont typeface="Noto Sans KR"/>
              <a:buChar char="-"/>
            </a:pP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single-scale </a:t>
            </a:r>
            <a:r>
              <a:rPr lang="en-US" sz="1150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테스트보다</a:t>
            </a: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1% </a:t>
            </a:r>
            <a:r>
              <a:rPr lang="en-US" sz="1150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정도</a:t>
            </a: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50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오류율</a:t>
            </a: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50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감소</a:t>
            </a: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2" name="Google Shape;472;g36e44e7ea0d_0_111"/>
          <p:cNvSpPr txBox="1"/>
          <p:nvPr/>
        </p:nvSpPr>
        <p:spPr>
          <a:xfrm>
            <a:off x="563600" y="1307050"/>
            <a:ext cx="4496700" cy="22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§"/>
            </a:pPr>
            <a:r>
              <a:rPr lang="en-US" b="1" dirty="0">
                <a:latin typeface="Noto Sans KR"/>
                <a:ea typeface="Noto Sans KR"/>
                <a:cs typeface="Noto Sans KR"/>
                <a:sym typeface="Noto Sans KR"/>
              </a:rPr>
              <a:t>Single-Scale Evaluation</a:t>
            </a:r>
            <a:endParaRPr b="1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" b="1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01625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212529"/>
              </a:buClr>
              <a:buSzPts val="1150"/>
              <a:buFont typeface="Noto Sans KR"/>
              <a:buChar char="-"/>
            </a:pP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Local Response </a:t>
            </a:r>
            <a:r>
              <a:rPr lang="en-US" sz="1150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Normalisation은</a:t>
            </a: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50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오히려</a:t>
            </a: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50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성능을</a:t>
            </a: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50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떨어뜨림</a:t>
            </a:r>
            <a:endParaRPr sz="1150" dirty="0">
              <a:solidFill>
                <a:srgbClr val="212529"/>
              </a:solidFill>
              <a:highlight>
                <a:srgbClr val="FFFFFF"/>
              </a:highlight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50"/>
              <a:buFont typeface="Noto Sans KR"/>
              <a:buChar char="-"/>
            </a:pPr>
            <a:r>
              <a:rPr lang="en-US" sz="1150" b="1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1×1</a:t>
            </a: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50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conv를</a:t>
            </a: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50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추가한</a:t>
            </a: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50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C보다</a:t>
            </a: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150" b="1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3×3</a:t>
            </a: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만 쓴 </a:t>
            </a:r>
            <a:r>
              <a:rPr lang="en-US" sz="1150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D가</a:t>
            </a: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더 </a:t>
            </a:r>
            <a:r>
              <a:rPr lang="en-US" sz="1150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우수해</a:t>
            </a: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b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“</a:t>
            </a:r>
            <a:r>
              <a:rPr lang="en-US" sz="1150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공간</a:t>
            </a: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50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컨텍스트</a:t>
            </a: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” </a:t>
            </a:r>
            <a:r>
              <a:rPr lang="en-US" sz="1150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포착의</a:t>
            </a: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50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중요성</a:t>
            </a: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50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확인</a:t>
            </a: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sz="1150" dirty="0">
              <a:solidFill>
                <a:srgbClr val="212529"/>
              </a:solidFill>
              <a:highlight>
                <a:srgbClr val="FFFFFF"/>
              </a:highlight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50"/>
              <a:buFont typeface="Noto Sans KR"/>
              <a:buChar char="-"/>
            </a:pPr>
            <a:r>
              <a:rPr lang="en-US" sz="1150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학습</a:t>
            </a: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시 </a:t>
            </a:r>
            <a:r>
              <a:rPr lang="en-US" sz="1150" b="1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scale jittering</a:t>
            </a: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(S∈[256,512])을 </a:t>
            </a:r>
            <a:r>
              <a:rPr lang="en-US" sz="1150" b="1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도입</a:t>
            </a:r>
            <a:r>
              <a:rPr lang="en-US" sz="1150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하면</a:t>
            </a: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b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single-scale </a:t>
            </a:r>
            <a:r>
              <a:rPr lang="en-US" sz="1150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학습</a:t>
            </a: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50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대비</a:t>
            </a: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top-1 </a:t>
            </a:r>
            <a:r>
              <a:rPr lang="en-US" sz="1150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오류가</a:t>
            </a: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27.3→25.5 등 </a:t>
            </a:r>
            <a:b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150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유의미하게</a:t>
            </a: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150" b="1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개선</a:t>
            </a:r>
            <a:r>
              <a:rPr lang="en-US" sz="1150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sz="1150" dirty="0">
              <a:solidFill>
                <a:srgbClr val="212529"/>
              </a:solidFill>
              <a:highlight>
                <a:srgbClr val="FFFFFF"/>
              </a:highlight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73" name="Google Shape;473;g36e44e7ea0d_0_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3876" y="869438"/>
            <a:ext cx="6176187" cy="266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g36e44e7ea0d_0_1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6377" y="3744603"/>
            <a:ext cx="7035701" cy="2541825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g36e44e7ea0d_0_111"/>
          <p:cNvSpPr/>
          <p:nvPr/>
        </p:nvSpPr>
        <p:spPr>
          <a:xfrm>
            <a:off x="7082350" y="2793075"/>
            <a:ext cx="4252500" cy="1851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g36e44e7ea0d_0_111"/>
          <p:cNvSpPr/>
          <p:nvPr/>
        </p:nvSpPr>
        <p:spPr>
          <a:xfrm>
            <a:off x="7082350" y="3295675"/>
            <a:ext cx="4252500" cy="1851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g36e44e7ea0d_0_111"/>
          <p:cNvSpPr/>
          <p:nvPr/>
        </p:nvSpPr>
        <p:spPr>
          <a:xfrm>
            <a:off x="7082350" y="2290475"/>
            <a:ext cx="4252500" cy="1851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g36e44e7ea0d_0_111"/>
          <p:cNvSpPr/>
          <p:nvPr/>
        </p:nvSpPr>
        <p:spPr>
          <a:xfrm>
            <a:off x="6915075" y="4914575"/>
            <a:ext cx="4975200" cy="2019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g36e44e7ea0d_0_111"/>
          <p:cNvSpPr/>
          <p:nvPr/>
        </p:nvSpPr>
        <p:spPr>
          <a:xfrm>
            <a:off x="6915075" y="5464800"/>
            <a:ext cx="4975200" cy="2019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g36e44e7ea0d_0_111"/>
          <p:cNvSpPr/>
          <p:nvPr/>
        </p:nvSpPr>
        <p:spPr>
          <a:xfrm>
            <a:off x="6915075" y="6015025"/>
            <a:ext cx="4975200" cy="2019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6d8c37080f_0_12"/>
          <p:cNvSpPr txBox="1"/>
          <p:nvPr/>
        </p:nvSpPr>
        <p:spPr>
          <a:xfrm>
            <a:off x="74893" y="26439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9EBF5"/>
              </a:buClr>
              <a:buSzPts val="3600"/>
              <a:buFont typeface="Helvetica Neue"/>
              <a:buNone/>
            </a:pPr>
            <a:r>
              <a:rPr lang="en-US" sz="36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Conclusion</a:t>
            </a:r>
            <a:endParaRPr sz="3600" b="1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7" name="Google Shape;487;g36d8c37080f_0_12"/>
          <p:cNvSpPr txBox="1">
            <a:spLocks noGrp="1"/>
          </p:cNvSpPr>
          <p:nvPr>
            <p:ph type="sldNum" idx="12"/>
          </p:nvPr>
        </p:nvSpPr>
        <p:spPr>
          <a:xfrm>
            <a:off x="9418002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22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488" name="Google Shape;488;g36d8c37080f_0_12"/>
          <p:cNvSpPr/>
          <p:nvPr/>
        </p:nvSpPr>
        <p:spPr>
          <a:xfrm rot="-5400000">
            <a:off x="10347850" y="-1255300"/>
            <a:ext cx="429900" cy="3258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6D9EEB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g36d8c37080f_0_12"/>
          <p:cNvSpPr txBox="1"/>
          <p:nvPr/>
        </p:nvSpPr>
        <p:spPr>
          <a:xfrm>
            <a:off x="9365788" y="181538"/>
            <a:ext cx="3548400" cy="384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VGGNet 백본 논문</a:t>
            </a:r>
            <a:endParaRPr sz="1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0" name="Google Shape;490;g36d8c37080f_0_12"/>
          <p:cNvSpPr/>
          <p:nvPr/>
        </p:nvSpPr>
        <p:spPr>
          <a:xfrm>
            <a:off x="8998150" y="218600"/>
            <a:ext cx="310800" cy="310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 cap="flat" cmpd="sng">
            <a:solidFill>
              <a:srgbClr val="1F386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3864"/>
                </a:solidFill>
              </a:rPr>
              <a:t>1</a:t>
            </a:r>
            <a:endParaRPr>
              <a:solidFill>
                <a:srgbClr val="1F3864"/>
              </a:solidFill>
            </a:endParaRPr>
          </a:p>
        </p:txBody>
      </p:sp>
      <p:sp>
        <p:nvSpPr>
          <p:cNvPr id="491" name="Google Shape;491;g36d8c37080f_0_12"/>
          <p:cNvSpPr txBox="1"/>
          <p:nvPr/>
        </p:nvSpPr>
        <p:spPr>
          <a:xfrm>
            <a:off x="458300" y="1986000"/>
            <a:ext cx="4807200" cy="27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&gt;</a:t>
            </a:r>
            <a:r>
              <a:rPr lang="en-US" sz="135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 이전 ILSVRC 수상작 모델들에서 </a:t>
            </a:r>
            <a:r>
              <a:rPr lang="en-US" sz="1350" b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SOTA</a:t>
            </a:r>
            <a:r>
              <a:rPr lang="en-US" sz="135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를 달성했으며, </a:t>
            </a:r>
            <a:br>
              <a:rPr lang="en-US" sz="135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35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   같은 해 1위 모델인 GoogLeNet에 비했을때 </a:t>
            </a:r>
            <a:r>
              <a:rPr lang="en-US" sz="1350" b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앙상블 대비 </a:t>
            </a:r>
            <a:br>
              <a:rPr lang="en-US" sz="1350" b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350" b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   높은 성능</a:t>
            </a:r>
            <a:r>
              <a:rPr lang="en-US" sz="135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을 보임</a:t>
            </a:r>
            <a:endParaRPr sz="1350">
              <a:solidFill>
                <a:srgbClr val="212529"/>
              </a:solidFill>
              <a:highlight>
                <a:srgbClr val="FFFFFF"/>
              </a:highlight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212529"/>
                </a:solidFill>
                <a:highlight>
                  <a:schemeClr val="lt1"/>
                </a:highlight>
                <a:latin typeface="Noto Sans KR"/>
                <a:ea typeface="Noto Sans KR"/>
                <a:cs typeface="Noto Sans KR"/>
                <a:sym typeface="Noto Sans KR"/>
              </a:rPr>
              <a:t>&gt;</a:t>
            </a:r>
            <a:r>
              <a:rPr lang="en-US" sz="1350">
                <a:solidFill>
                  <a:srgbClr val="212529"/>
                </a:solidFill>
                <a:highlight>
                  <a:schemeClr val="lt1"/>
                </a:highlight>
                <a:latin typeface="Noto Sans KR"/>
                <a:ea typeface="Noto Sans KR"/>
                <a:cs typeface="Noto Sans KR"/>
                <a:sym typeface="Noto Sans KR"/>
              </a:rPr>
              <a:t>  전통적인 ConvNet 아키텍처에 깊이만 깊어져도</a:t>
            </a:r>
            <a:br>
              <a:rPr lang="en-US" sz="135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35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   이미지 분류 </a:t>
            </a:r>
            <a:r>
              <a:rPr lang="en-US" sz="1350" b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정확도가 크게 향상</a:t>
            </a:r>
            <a:r>
              <a:rPr lang="en-US" sz="135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됨을 명확히 확인함.</a:t>
            </a:r>
            <a:endParaRPr sz="1350">
              <a:solidFill>
                <a:srgbClr val="212529"/>
              </a:solidFill>
              <a:highlight>
                <a:srgbClr val="FFFFFF"/>
              </a:highlight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500" b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&gt;</a:t>
            </a:r>
            <a:r>
              <a:rPr lang="en-US" sz="1350" b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 다양한 데이터셋</a:t>
            </a:r>
            <a:r>
              <a:rPr lang="en-US" sz="135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과 과제에서도 깊은 표현이 복잡한</a:t>
            </a:r>
            <a:br>
              <a:rPr lang="en-US" sz="135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35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   파이프라인에 견줄 만큼 </a:t>
            </a:r>
            <a:r>
              <a:rPr lang="en-US" sz="1350" b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뛰어난 일반화 능력</a:t>
            </a:r>
            <a:r>
              <a:rPr lang="en-US" sz="135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을 발휘함.</a:t>
            </a:r>
            <a:endParaRPr sz="1350">
              <a:solidFill>
                <a:srgbClr val="212529"/>
              </a:solidFill>
              <a:highlight>
                <a:srgbClr val="FFFFFF"/>
              </a:highlight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92" name="Google Shape;492;g36d8c37080f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5000" y="1887750"/>
            <a:ext cx="6762050" cy="32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g36d8c37080f_0_12"/>
          <p:cNvSpPr/>
          <p:nvPr/>
        </p:nvSpPr>
        <p:spPr>
          <a:xfrm>
            <a:off x="5156125" y="2464700"/>
            <a:ext cx="6179400" cy="157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g36d8c37080f_0_12"/>
          <p:cNvSpPr/>
          <p:nvPr/>
        </p:nvSpPr>
        <p:spPr>
          <a:xfrm>
            <a:off x="5156075" y="3224400"/>
            <a:ext cx="5572800" cy="157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g36d8c37080f_0_12"/>
          <p:cNvSpPr/>
          <p:nvPr/>
        </p:nvSpPr>
        <p:spPr>
          <a:xfrm>
            <a:off x="5156175" y="2638525"/>
            <a:ext cx="6179400" cy="188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g36d8c37080f_0_12"/>
          <p:cNvSpPr/>
          <p:nvPr/>
        </p:nvSpPr>
        <p:spPr>
          <a:xfrm>
            <a:off x="5156125" y="3028150"/>
            <a:ext cx="5572800" cy="1800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6d8c37080f_0_18"/>
          <p:cNvSpPr txBox="1"/>
          <p:nvPr/>
        </p:nvSpPr>
        <p:spPr>
          <a:xfrm>
            <a:off x="74893" y="26439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9EBF5"/>
              </a:buClr>
              <a:buSzPts val="3600"/>
              <a:buFont typeface="Helvetica Neue"/>
              <a:buNone/>
            </a:pPr>
            <a:r>
              <a:rPr lang="en-US" sz="36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VGGNet 구현 실습</a:t>
            </a:r>
            <a:endParaRPr sz="3600" b="1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3" name="Google Shape;503;g36d8c37080f_0_18"/>
          <p:cNvSpPr txBox="1">
            <a:spLocks noGrp="1"/>
          </p:cNvSpPr>
          <p:nvPr>
            <p:ph type="sldNum" idx="12"/>
          </p:nvPr>
        </p:nvSpPr>
        <p:spPr>
          <a:xfrm>
            <a:off x="9418002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23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504" name="Google Shape;504;g36d8c37080f_0_18"/>
          <p:cNvSpPr/>
          <p:nvPr/>
        </p:nvSpPr>
        <p:spPr>
          <a:xfrm rot="-5400000">
            <a:off x="10347850" y="-1255300"/>
            <a:ext cx="429900" cy="3258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6D9EEB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g36d8c37080f_0_18"/>
          <p:cNvSpPr txBox="1"/>
          <p:nvPr/>
        </p:nvSpPr>
        <p:spPr>
          <a:xfrm>
            <a:off x="9365788" y="181538"/>
            <a:ext cx="3548400" cy="384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VGGNet 백본 논문</a:t>
            </a:r>
            <a:endParaRPr sz="1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6" name="Google Shape;506;g36d8c37080f_0_18"/>
          <p:cNvSpPr/>
          <p:nvPr/>
        </p:nvSpPr>
        <p:spPr>
          <a:xfrm>
            <a:off x="8998150" y="218600"/>
            <a:ext cx="310800" cy="310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 cap="flat" cmpd="sng">
            <a:solidFill>
              <a:srgbClr val="1F386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3864"/>
                </a:solidFill>
              </a:rPr>
              <a:t>1</a:t>
            </a:r>
            <a:endParaRPr>
              <a:solidFill>
                <a:srgbClr val="1F3864"/>
              </a:solidFill>
            </a:endParaRPr>
          </a:p>
        </p:txBody>
      </p:sp>
      <p:pic>
        <p:nvPicPr>
          <p:cNvPr id="507" name="Google Shape;507;g36d8c37080f_0_18"/>
          <p:cNvPicPr preferRelativeResize="0"/>
          <p:nvPr/>
        </p:nvPicPr>
        <p:blipFill rotWithShape="1">
          <a:blip r:embed="rId3">
            <a:alphaModFix/>
          </a:blip>
          <a:srcRect t="635"/>
          <a:stretch/>
        </p:blipFill>
        <p:spPr>
          <a:xfrm>
            <a:off x="274200" y="2231012"/>
            <a:ext cx="3553450" cy="26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g36d8c37080f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1094" y="2222619"/>
            <a:ext cx="3398481" cy="3697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g36d8c37080f_0_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9325" y="856713"/>
            <a:ext cx="6829868" cy="80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g36d8c37080f_0_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82675" y="1584551"/>
            <a:ext cx="4243724" cy="4045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g36d8c37080f_0_18"/>
          <p:cNvPicPr preferRelativeResize="0"/>
          <p:nvPr/>
        </p:nvPicPr>
        <p:blipFill rotWithShape="1">
          <a:blip r:embed="rId7">
            <a:alphaModFix/>
          </a:blip>
          <a:srcRect l="2854" r="13196"/>
          <a:stretch/>
        </p:blipFill>
        <p:spPr>
          <a:xfrm>
            <a:off x="7782675" y="5699325"/>
            <a:ext cx="4243724" cy="22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g36d8c37080f_0_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4200" y="1658075"/>
            <a:ext cx="5904379" cy="38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g36d8c37080f_0_18"/>
          <p:cNvPicPr preferRelativeResize="0"/>
          <p:nvPr/>
        </p:nvPicPr>
        <p:blipFill rotWithShape="1">
          <a:blip r:embed="rId9">
            <a:alphaModFix/>
          </a:blip>
          <a:srcRect l="1288" r="22919" b="10"/>
          <a:stretch/>
        </p:blipFill>
        <p:spPr>
          <a:xfrm>
            <a:off x="274200" y="4916725"/>
            <a:ext cx="3553451" cy="44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g36d8c37080f_0_18"/>
          <p:cNvPicPr preferRelativeResize="0"/>
          <p:nvPr/>
        </p:nvPicPr>
        <p:blipFill rotWithShape="1">
          <a:blip r:embed="rId10">
            <a:alphaModFix/>
          </a:blip>
          <a:srcRect l="1330" r="17050"/>
          <a:stretch/>
        </p:blipFill>
        <p:spPr>
          <a:xfrm>
            <a:off x="274200" y="5421925"/>
            <a:ext cx="3691875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6d8c37080f_0_24"/>
          <p:cNvSpPr txBox="1"/>
          <p:nvPr/>
        </p:nvSpPr>
        <p:spPr>
          <a:xfrm>
            <a:off x="74893" y="26439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9EBF5"/>
              </a:buClr>
              <a:buSzPts val="3600"/>
              <a:buFont typeface="Helvetica Neue"/>
              <a:buNone/>
            </a:pPr>
            <a:r>
              <a:rPr lang="en-US" sz="36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소개</a:t>
            </a:r>
            <a:endParaRPr sz="3600" b="1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1" name="Google Shape;521;g36d8c37080f_0_24"/>
          <p:cNvSpPr txBox="1">
            <a:spLocks noGrp="1"/>
          </p:cNvSpPr>
          <p:nvPr>
            <p:ph type="sldNum" idx="12"/>
          </p:nvPr>
        </p:nvSpPr>
        <p:spPr>
          <a:xfrm>
            <a:off x="9418002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24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522" name="Google Shape;522;g36d8c37080f_0_24"/>
          <p:cNvSpPr/>
          <p:nvPr/>
        </p:nvSpPr>
        <p:spPr>
          <a:xfrm rot="-5400000">
            <a:off x="10347850" y="-1255300"/>
            <a:ext cx="429900" cy="3258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6D9EEB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g36d8c37080f_0_24"/>
          <p:cNvSpPr txBox="1"/>
          <p:nvPr/>
        </p:nvSpPr>
        <p:spPr>
          <a:xfrm>
            <a:off x="9365788" y="181538"/>
            <a:ext cx="3548400" cy="384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VGGNet 활용 임상 저널</a:t>
            </a:r>
            <a:endParaRPr sz="1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4" name="Google Shape;524;g36d8c37080f_0_24"/>
          <p:cNvSpPr/>
          <p:nvPr/>
        </p:nvSpPr>
        <p:spPr>
          <a:xfrm>
            <a:off x="8998150" y="218600"/>
            <a:ext cx="310800" cy="310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 cap="flat" cmpd="sng">
            <a:solidFill>
              <a:srgbClr val="1F386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3864"/>
                </a:solidFill>
              </a:rPr>
              <a:t>2</a:t>
            </a:r>
            <a:endParaRPr>
              <a:solidFill>
                <a:srgbClr val="1F3864"/>
              </a:solidFill>
            </a:endParaRPr>
          </a:p>
        </p:txBody>
      </p:sp>
      <p:pic>
        <p:nvPicPr>
          <p:cNvPr id="525" name="Google Shape;525;g36d8c37080f_0_24"/>
          <p:cNvPicPr preferRelativeResize="0"/>
          <p:nvPr/>
        </p:nvPicPr>
        <p:blipFill rotWithShape="1">
          <a:blip r:embed="rId3">
            <a:alphaModFix/>
          </a:blip>
          <a:srcRect l="5223" r="4098"/>
          <a:stretch/>
        </p:blipFill>
        <p:spPr>
          <a:xfrm>
            <a:off x="8047950" y="1301875"/>
            <a:ext cx="3409675" cy="228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g36d8c37080f_0_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2200" y="3791600"/>
            <a:ext cx="3301150" cy="184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g36d8c37080f_0_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8225" y="1621439"/>
            <a:ext cx="6903722" cy="3488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6d8c37080f_0_135"/>
          <p:cNvSpPr txBox="1"/>
          <p:nvPr/>
        </p:nvSpPr>
        <p:spPr>
          <a:xfrm>
            <a:off x="74893" y="26439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9EBF5"/>
              </a:buClr>
              <a:buSzPts val="3600"/>
              <a:buFont typeface="Helvetica Neue"/>
              <a:buNone/>
            </a:pPr>
            <a:r>
              <a:rPr lang="en-US" sz="36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사용 데이터셋</a:t>
            </a:r>
            <a:endParaRPr sz="3600" b="1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4" name="Google Shape;534;g36d8c37080f_0_135"/>
          <p:cNvSpPr txBox="1">
            <a:spLocks noGrp="1"/>
          </p:cNvSpPr>
          <p:nvPr>
            <p:ph type="sldNum" idx="12"/>
          </p:nvPr>
        </p:nvSpPr>
        <p:spPr>
          <a:xfrm>
            <a:off x="9418002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25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535" name="Google Shape;535;g36d8c37080f_0_135"/>
          <p:cNvSpPr/>
          <p:nvPr/>
        </p:nvSpPr>
        <p:spPr>
          <a:xfrm rot="-5400000">
            <a:off x="10347850" y="-1255300"/>
            <a:ext cx="429900" cy="3258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6D9EEB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g36d8c37080f_0_135"/>
          <p:cNvSpPr txBox="1"/>
          <p:nvPr/>
        </p:nvSpPr>
        <p:spPr>
          <a:xfrm>
            <a:off x="9365788" y="181538"/>
            <a:ext cx="3548400" cy="384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VGGNet 활용 임상 저널</a:t>
            </a:r>
            <a:endParaRPr sz="1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7" name="Google Shape;537;g36d8c37080f_0_135"/>
          <p:cNvSpPr/>
          <p:nvPr/>
        </p:nvSpPr>
        <p:spPr>
          <a:xfrm>
            <a:off x="8998150" y="218600"/>
            <a:ext cx="310800" cy="310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 cap="flat" cmpd="sng">
            <a:solidFill>
              <a:srgbClr val="1F386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3864"/>
                </a:solidFill>
              </a:rPr>
              <a:t>2</a:t>
            </a:r>
            <a:endParaRPr>
              <a:solidFill>
                <a:srgbClr val="1F3864"/>
              </a:solidFill>
            </a:endParaRPr>
          </a:p>
        </p:txBody>
      </p:sp>
      <p:pic>
        <p:nvPicPr>
          <p:cNvPr id="538" name="Google Shape;538;g36d8c37080f_0_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1950" y="3194325"/>
            <a:ext cx="4108500" cy="2779525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g36d8c37080f_0_135"/>
          <p:cNvSpPr txBox="1"/>
          <p:nvPr/>
        </p:nvSpPr>
        <p:spPr>
          <a:xfrm>
            <a:off x="6964175" y="1459775"/>
            <a:ext cx="5445900" cy="5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888888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*SPECT</a:t>
            </a:r>
            <a:r>
              <a:rPr lang="en-US" sz="1200">
                <a:solidFill>
                  <a:srgbClr val="888888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(Single Photon Emission Computed Tomography)</a:t>
            </a:r>
            <a:endParaRPr sz="1200">
              <a:solidFill>
                <a:srgbClr val="888888"/>
              </a:solidFill>
              <a:highlight>
                <a:srgbClr val="FFFFFF"/>
              </a:highlight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50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200">
                <a:solidFill>
                  <a:srgbClr val="888888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  :  방사선 의약품을 사용해 신체 내부의 기능적 정보를 얻는 핵의학 영상 검사</a:t>
            </a:r>
            <a:endParaRPr sz="1200">
              <a:solidFill>
                <a:srgbClr val="888888"/>
              </a:solidFill>
              <a:highlight>
                <a:srgbClr val="FFFFFF"/>
              </a:highlight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0" name="Google Shape;540;g36d8c37080f_0_135"/>
          <p:cNvSpPr txBox="1"/>
          <p:nvPr/>
        </p:nvSpPr>
        <p:spPr>
          <a:xfrm>
            <a:off x="552050" y="1331675"/>
            <a:ext cx="6113100" cy="9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500" b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&gt;</a:t>
            </a:r>
            <a:r>
              <a:rPr lang="en-US" sz="150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 병원 내부 환자들의 RGB 형식 </a:t>
            </a:r>
            <a:r>
              <a:rPr lang="en-US" sz="1500" b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*SPECT</a:t>
            </a:r>
            <a:r>
              <a:rPr lang="en-US" sz="150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데이터 사용 (오픈X)</a:t>
            </a:r>
            <a:br>
              <a:rPr lang="en-US" sz="150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50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   </a:t>
            </a:r>
            <a:r>
              <a:rPr lang="en-US" sz="1500" b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암세포</a:t>
            </a:r>
            <a:r>
              <a:rPr lang="en-US" sz="150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의 </a:t>
            </a:r>
            <a:r>
              <a:rPr lang="en-US" sz="1500" b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골전이</a:t>
            </a:r>
            <a:r>
              <a:rPr lang="en-US" sz="150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를 확인하기 위해 전신 뼈를 촬영한 DICOM 데이터</a:t>
            </a:r>
            <a:br>
              <a:rPr lang="en-US" sz="150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50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    – Bone metastasis (</a:t>
            </a:r>
            <a:r>
              <a:rPr lang="en-US" sz="1500">
                <a:solidFill>
                  <a:srgbClr val="212529"/>
                </a:solidFill>
                <a:highlight>
                  <a:schemeClr val="lt1"/>
                </a:highlight>
                <a:latin typeface="Noto Sans KR"/>
                <a:ea typeface="Noto Sans KR"/>
                <a:cs typeface="Noto Sans KR"/>
                <a:sym typeface="Noto Sans KR"/>
              </a:rPr>
              <a:t>312장)</a:t>
            </a:r>
            <a:r>
              <a:rPr lang="en-US" sz="150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,  Normal (</a:t>
            </a:r>
            <a:r>
              <a:rPr lang="en-US" sz="1500">
                <a:solidFill>
                  <a:srgbClr val="212529"/>
                </a:solidFill>
                <a:highlight>
                  <a:schemeClr val="lt1"/>
                </a:highlight>
                <a:latin typeface="Noto Sans KR"/>
                <a:ea typeface="Noto Sans KR"/>
                <a:cs typeface="Noto Sans KR"/>
                <a:sym typeface="Noto Sans KR"/>
              </a:rPr>
              <a:t>330장)</a:t>
            </a:r>
            <a:endParaRPr sz="1500">
              <a:solidFill>
                <a:srgbClr val="212529"/>
              </a:solidFill>
              <a:highlight>
                <a:srgbClr val="FFFFFF"/>
              </a:highlight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1" name="Google Shape;541;g36d8c37080f_0_135"/>
          <p:cNvSpPr txBox="1"/>
          <p:nvPr/>
        </p:nvSpPr>
        <p:spPr>
          <a:xfrm>
            <a:off x="552050" y="2333125"/>
            <a:ext cx="7705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500" b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&gt;</a:t>
            </a:r>
            <a:r>
              <a:rPr lang="en-US" sz="150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 데이터가 제한적이므로 rotation과 translation을 통해 augmentation</a:t>
            </a:r>
            <a:endParaRPr sz="1500">
              <a:solidFill>
                <a:srgbClr val="212529"/>
              </a:solidFill>
              <a:highlight>
                <a:srgbClr val="FFFFFF"/>
              </a:highlight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2" name="Google Shape;542;g36d8c37080f_0_135"/>
          <p:cNvSpPr txBox="1"/>
          <p:nvPr/>
        </p:nvSpPr>
        <p:spPr>
          <a:xfrm>
            <a:off x="8599375" y="3855075"/>
            <a:ext cx="3101700" cy="6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300">
                <a:solidFill>
                  <a:srgbClr val="212529"/>
                </a:solidFill>
                <a:highlight>
                  <a:schemeClr val="lt1"/>
                </a:highlight>
                <a:latin typeface="Noto Sans KR"/>
                <a:ea typeface="Noto Sans KR"/>
                <a:cs typeface="Noto Sans KR"/>
                <a:sym typeface="Noto Sans KR"/>
              </a:rPr>
              <a:t>Bone metastasis :  312 → 2,184 </a:t>
            </a:r>
            <a:br>
              <a:rPr lang="en-US" sz="1300">
                <a:solidFill>
                  <a:srgbClr val="212529"/>
                </a:solidFill>
                <a:highlight>
                  <a:schemeClr val="lt1"/>
                </a:highlight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300">
                <a:solidFill>
                  <a:srgbClr val="212529"/>
                </a:solidFill>
                <a:highlight>
                  <a:schemeClr val="lt1"/>
                </a:highlight>
                <a:latin typeface="Noto Sans KR"/>
                <a:ea typeface="Noto Sans KR"/>
                <a:cs typeface="Noto Sans KR"/>
                <a:sym typeface="Noto Sans KR"/>
              </a:rPr>
              <a:t>Normal :  330 → 2,310</a:t>
            </a:r>
            <a:endParaRPr sz="1300">
              <a:solidFill>
                <a:srgbClr val="212529"/>
              </a:solidFill>
              <a:highlight>
                <a:schemeClr val="lt1"/>
              </a:highlight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543" name="Google Shape;543;g36d8c37080f_0_135"/>
          <p:cNvGrpSpPr/>
          <p:nvPr/>
        </p:nvGrpSpPr>
        <p:grpSpPr>
          <a:xfrm>
            <a:off x="805100" y="3111975"/>
            <a:ext cx="5286850" cy="3122875"/>
            <a:chOff x="1364033" y="3130142"/>
            <a:chExt cx="4739019" cy="2845444"/>
          </a:xfrm>
        </p:grpSpPr>
        <p:pic>
          <p:nvPicPr>
            <p:cNvPr id="544" name="Google Shape;544;g36d8c37080f_0_135"/>
            <p:cNvPicPr preferRelativeResize="0"/>
            <p:nvPr/>
          </p:nvPicPr>
          <p:blipFill rotWithShape="1">
            <a:blip r:embed="rId4">
              <a:alphaModFix/>
            </a:blip>
            <a:srcRect r="1999" b="12273"/>
            <a:stretch/>
          </p:blipFill>
          <p:spPr>
            <a:xfrm>
              <a:off x="1364033" y="3130142"/>
              <a:ext cx="4739019" cy="2635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5" name="Google Shape;545;g36d8c37080f_0_135"/>
            <p:cNvPicPr preferRelativeResize="0"/>
            <p:nvPr/>
          </p:nvPicPr>
          <p:blipFill rotWithShape="1">
            <a:blip r:embed="rId4">
              <a:alphaModFix/>
            </a:blip>
            <a:srcRect t="92997" r="1999"/>
            <a:stretch/>
          </p:blipFill>
          <p:spPr>
            <a:xfrm>
              <a:off x="1364033" y="5765245"/>
              <a:ext cx="4739019" cy="21034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6" name="Google Shape;546;g36d8c37080f_0_135"/>
          <p:cNvSpPr txBox="1"/>
          <p:nvPr/>
        </p:nvSpPr>
        <p:spPr>
          <a:xfrm>
            <a:off x="4371374" y="3889761"/>
            <a:ext cx="1412737" cy="756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200" dirty="0">
                <a:solidFill>
                  <a:srgbClr val="212529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sz="1200" dirty="0" err="1">
                <a:solidFill>
                  <a:srgbClr val="212529"/>
                </a:solidFill>
                <a:latin typeface="Noto Sans KR"/>
                <a:ea typeface="Noto Sans KR"/>
                <a:cs typeface="Noto Sans KR"/>
                <a:sym typeface="Noto Sans KR"/>
              </a:rPr>
              <a:t>골전이</a:t>
            </a:r>
            <a:r>
              <a:rPr lang="en-US" sz="1200" dirty="0">
                <a:solidFill>
                  <a:srgbClr val="212529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6d8c37080f_0_144"/>
          <p:cNvSpPr txBox="1"/>
          <p:nvPr/>
        </p:nvSpPr>
        <p:spPr>
          <a:xfrm>
            <a:off x="74893" y="26439"/>
            <a:ext cx="120423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9EBF5"/>
              </a:buClr>
              <a:buSzPts val="3600"/>
              <a:buFont typeface="Helvetica Neue"/>
              <a:buNone/>
            </a:pPr>
            <a:r>
              <a:rPr lang="en-US" sz="3600" b="1">
                <a:solidFill>
                  <a:srgbClr val="D6DCE5"/>
                </a:solidFill>
                <a:latin typeface="Noto Sans KR"/>
                <a:ea typeface="Noto Sans KR"/>
                <a:cs typeface="Noto Sans KR"/>
                <a:sym typeface="Noto Sans KR"/>
              </a:rPr>
              <a:t>모델 적용 &amp; 성능</a:t>
            </a:r>
            <a:endParaRPr sz="3600" b="1">
              <a:solidFill>
                <a:srgbClr val="D6DCE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3" name="Google Shape;553;g36d8c37080f_0_144"/>
          <p:cNvSpPr txBox="1">
            <a:spLocks noGrp="1"/>
          </p:cNvSpPr>
          <p:nvPr>
            <p:ph type="sldNum" idx="12"/>
          </p:nvPr>
        </p:nvSpPr>
        <p:spPr>
          <a:xfrm>
            <a:off x="9418002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26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554" name="Google Shape;554;g36d8c37080f_0_144"/>
          <p:cNvSpPr/>
          <p:nvPr/>
        </p:nvSpPr>
        <p:spPr>
          <a:xfrm rot="-5400000">
            <a:off x="10347850" y="-1255300"/>
            <a:ext cx="429900" cy="32586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6D9EEB"/>
          </a:solidFill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g36d8c37080f_0_144"/>
          <p:cNvSpPr txBox="1"/>
          <p:nvPr/>
        </p:nvSpPr>
        <p:spPr>
          <a:xfrm>
            <a:off x="9365788" y="181538"/>
            <a:ext cx="3548400" cy="3849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VGGNet 활용 임상 저널</a:t>
            </a:r>
            <a:endParaRPr sz="19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6" name="Google Shape;556;g36d8c37080f_0_144"/>
          <p:cNvSpPr/>
          <p:nvPr/>
        </p:nvSpPr>
        <p:spPr>
          <a:xfrm>
            <a:off x="8998150" y="218600"/>
            <a:ext cx="310800" cy="3108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 cap="flat" cmpd="sng">
            <a:solidFill>
              <a:srgbClr val="1F3864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3864"/>
                </a:solidFill>
              </a:rPr>
              <a:t>2</a:t>
            </a:r>
            <a:endParaRPr>
              <a:solidFill>
                <a:srgbClr val="1F3864"/>
              </a:solidFill>
            </a:endParaRPr>
          </a:p>
        </p:txBody>
      </p:sp>
      <p:sp>
        <p:nvSpPr>
          <p:cNvPr id="557" name="Google Shape;557;g36d8c37080f_0_144"/>
          <p:cNvSpPr txBox="1"/>
          <p:nvPr/>
        </p:nvSpPr>
        <p:spPr>
          <a:xfrm>
            <a:off x="656825" y="1196875"/>
            <a:ext cx="6250500" cy="20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&gt;</a:t>
            </a:r>
            <a:r>
              <a:rPr lang="en-US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 VGG11, VGG13, VGG16 </a:t>
            </a:r>
            <a:r>
              <a:rPr lang="en-US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각각</a:t>
            </a:r>
            <a:r>
              <a:rPr lang="en-US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적용</a:t>
            </a:r>
            <a:r>
              <a:rPr lang="en-US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후 Classification </a:t>
            </a:r>
            <a:r>
              <a:rPr lang="en-US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성능</a:t>
            </a:r>
            <a:r>
              <a:rPr lang="en-US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비교</a:t>
            </a:r>
            <a:endParaRPr dirty="0">
              <a:solidFill>
                <a:srgbClr val="212529"/>
              </a:solidFill>
              <a:highlight>
                <a:srgbClr val="FFFFFF"/>
              </a:highlight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&gt;</a:t>
            </a:r>
            <a:r>
              <a:rPr lang="en-US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 </a:t>
            </a:r>
            <a:r>
              <a:rPr lang="en-US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레이어가</a:t>
            </a:r>
            <a:r>
              <a:rPr lang="en-US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깊지</a:t>
            </a:r>
            <a:r>
              <a:rPr lang="en-US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않은</a:t>
            </a:r>
            <a:r>
              <a:rPr lang="en-US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모델인</a:t>
            </a:r>
            <a:r>
              <a:rPr lang="en-US" b="1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VGG13</a:t>
            </a:r>
            <a:r>
              <a:rPr lang="en-US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에서</a:t>
            </a:r>
            <a:br>
              <a:rPr lang="en-US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   </a:t>
            </a:r>
            <a:r>
              <a:rPr lang="en-US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오히려</a:t>
            </a:r>
            <a:r>
              <a:rPr lang="en-US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1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높은</a:t>
            </a:r>
            <a:r>
              <a:rPr lang="en-US" b="1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1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성능</a:t>
            </a:r>
            <a:r>
              <a:rPr lang="en-US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을</a:t>
            </a:r>
            <a:r>
              <a:rPr lang="en-US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보임</a:t>
            </a:r>
            <a:endParaRPr dirty="0">
              <a:solidFill>
                <a:srgbClr val="212529"/>
              </a:solidFill>
              <a:highlight>
                <a:srgbClr val="FFFFFF"/>
              </a:highlight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b="1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&gt;</a:t>
            </a:r>
            <a:r>
              <a:rPr lang="en-US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 </a:t>
            </a:r>
            <a:r>
              <a:rPr lang="en-US" b="1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데이터셋</a:t>
            </a:r>
            <a:r>
              <a:rPr lang="en-US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에</a:t>
            </a:r>
            <a:r>
              <a:rPr lang="en-US" b="1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따라</a:t>
            </a:r>
            <a:r>
              <a:rPr lang="en-US" b="1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1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올바른</a:t>
            </a:r>
            <a:r>
              <a:rPr lang="en-US" b="1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1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모델</a:t>
            </a:r>
            <a:r>
              <a:rPr lang="en-US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을</a:t>
            </a:r>
            <a:r>
              <a:rPr lang="en-US" b="1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1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선택</a:t>
            </a:r>
            <a:r>
              <a:rPr lang="en-US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해야하고</a:t>
            </a:r>
            <a:r>
              <a:rPr lang="en-US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br>
              <a:rPr lang="en-US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   </a:t>
            </a:r>
            <a:r>
              <a:rPr lang="en-US" b="1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단순히</a:t>
            </a:r>
            <a:r>
              <a:rPr lang="en-US" b="1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1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depth를</a:t>
            </a:r>
            <a:r>
              <a:rPr lang="en-US" b="1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1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깊게</a:t>
            </a:r>
            <a:r>
              <a:rPr lang="en-US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쌓기만</a:t>
            </a:r>
            <a:r>
              <a:rPr lang="en-US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하는</a:t>
            </a:r>
            <a:r>
              <a:rPr lang="en-US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기법엔</a:t>
            </a:r>
            <a:r>
              <a:rPr lang="en-US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b="1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한계</a:t>
            </a:r>
            <a:r>
              <a:rPr lang="en-US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가</a:t>
            </a:r>
            <a:r>
              <a:rPr lang="en-US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있는</a:t>
            </a:r>
            <a:r>
              <a:rPr lang="en-US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것으로</a:t>
            </a:r>
            <a:r>
              <a:rPr lang="en-US" dirty="0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dirty="0" err="1">
                <a:solidFill>
                  <a:srgbClr val="212529"/>
                </a:solidFill>
                <a:highlight>
                  <a:srgbClr val="FFFFFF"/>
                </a:highlight>
                <a:latin typeface="Noto Sans KR"/>
                <a:ea typeface="Noto Sans KR"/>
                <a:cs typeface="Noto Sans KR"/>
                <a:sym typeface="Noto Sans KR"/>
              </a:rPr>
              <a:t>보임</a:t>
            </a:r>
            <a:endParaRPr dirty="0">
              <a:solidFill>
                <a:srgbClr val="212529"/>
              </a:solidFill>
              <a:highlight>
                <a:srgbClr val="FFFFFF"/>
              </a:highlight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558" name="Google Shape;558;g36d8c37080f_0_144"/>
          <p:cNvPicPr preferRelativeResize="0"/>
          <p:nvPr/>
        </p:nvPicPr>
        <p:blipFill rotWithShape="1">
          <a:blip r:embed="rId3">
            <a:alphaModFix/>
          </a:blip>
          <a:srcRect t="46475"/>
          <a:stretch/>
        </p:blipFill>
        <p:spPr>
          <a:xfrm>
            <a:off x="7025147" y="4158637"/>
            <a:ext cx="4136166" cy="169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g36d8c37080f_0_144"/>
          <p:cNvPicPr preferRelativeResize="0"/>
          <p:nvPr/>
        </p:nvPicPr>
        <p:blipFill rotWithShape="1">
          <a:blip r:embed="rId3">
            <a:alphaModFix/>
          </a:blip>
          <a:srcRect l="12999" r="12077" b="53130"/>
          <a:stretch/>
        </p:blipFill>
        <p:spPr>
          <a:xfrm>
            <a:off x="1672587" y="3969088"/>
            <a:ext cx="4847900" cy="23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g36d8c37080f_0_1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71813" y="1196875"/>
            <a:ext cx="4163450" cy="2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g36d8c37080f_0_144"/>
          <p:cNvSpPr/>
          <p:nvPr/>
        </p:nvSpPr>
        <p:spPr>
          <a:xfrm>
            <a:off x="9228675" y="4952950"/>
            <a:ext cx="1768800" cy="8757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6d98813954_0_14"/>
          <p:cNvSpPr txBox="1">
            <a:spLocks noGrp="1"/>
          </p:cNvSpPr>
          <p:nvPr>
            <p:ph type="sldNum" idx="12"/>
          </p:nvPr>
        </p:nvSpPr>
        <p:spPr>
          <a:xfrm>
            <a:off x="9418002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27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568" name="Google Shape;568;g36d98813954_0_14"/>
          <p:cNvSpPr txBox="1"/>
          <p:nvPr/>
        </p:nvSpPr>
        <p:spPr>
          <a:xfrm>
            <a:off x="4614750" y="3028800"/>
            <a:ext cx="29625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4000" b="1">
                <a:solidFill>
                  <a:srgbClr val="1F3864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QnA</a:t>
            </a:r>
            <a:endParaRPr sz="4000">
              <a:solidFill>
                <a:srgbClr val="1F3864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1045</Words>
  <Application>Microsoft Office PowerPoint</Application>
  <PresentationFormat>와이드스크린</PresentationFormat>
  <Paragraphs>242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3" baseType="lpstr">
      <vt:lpstr>Arial</vt:lpstr>
      <vt:lpstr>Noto Sans KR</vt:lpstr>
      <vt:lpstr>Helvetica Neue</vt:lpstr>
      <vt:lpstr>Wingdings</vt:lpstr>
      <vt:lpstr>Malgun Gothic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nano</dc:creator>
  <cp:lastModifiedBy>창희 홍</cp:lastModifiedBy>
  <cp:revision>4</cp:revision>
  <dcterms:created xsi:type="dcterms:W3CDTF">2019-12-16T05:59:14Z</dcterms:created>
  <dcterms:modified xsi:type="dcterms:W3CDTF">2025-07-11T00:53:08Z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