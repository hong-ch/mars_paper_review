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311" r:id="rId4"/>
    <p:sldId id="259" r:id="rId5"/>
    <p:sldId id="260" r:id="rId6"/>
    <p:sldId id="312" r:id="rId7"/>
    <p:sldId id="262" r:id="rId8"/>
    <p:sldId id="263" r:id="rId9"/>
    <p:sldId id="264" r:id="rId10"/>
    <p:sldId id="313" r:id="rId11"/>
    <p:sldId id="266" r:id="rId12"/>
    <p:sldId id="267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268" r:id="rId23"/>
    <p:sldId id="269" r:id="rId24"/>
    <p:sldId id="270" r:id="rId25"/>
    <p:sldId id="271" r:id="rId26"/>
    <p:sldId id="272" r:id="rId27"/>
    <p:sldId id="314" r:id="rId28"/>
    <p:sldId id="274" r:id="rId29"/>
    <p:sldId id="275" r:id="rId30"/>
    <p:sldId id="276" r:id="rId31"/>
    <p:sldId id="277" r:id="rId32"/>
    <p:sldId id="278" r:id="rId33"/>
    <p:sldId id="315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</p:sldIdLst>
  <p:sldSz cx="12192000" cy="6858000"/>
  <p:notesSz cx="6858000" cy="9144000"/>
  <p:embeddedFontLst>
    <p:embeddedFont>
      <p:font typeface="Malgun Gothic" panose="020B0503020000020004" pitchFamily="50" charset="-127"/>
      <p:regular r:id="rId58"/>
      <p:bold r:id="rId59"/>
    </p:embeddedFont>
    <p:embeddedFont>
      <p:font typeface="Helvetica Neue" panose="020B0600000101010101" charset="0"/>
      <p:regular r:id="rId60"/>
      <p:bold r:id="rId61"/>
      <p:italic r:id="rId62"/>
      <p:boldItalic r:id="rId63"/>
    </p:embeddedFont>
    <p:embeddedFont>
      <p:font typeface="Noto Sans KR" panose="020B0200000000000000" pitchFamily="50" charset="-127"/>
      <p:regular r:id="rId64"/>
      <p:bold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gRVsMMhRVn42UQfKgjJdA2UbNa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78" autoAdjust="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E7E36061-10CA-300A-C81D-E97CA06B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BF378B2E-7C30-11DD-D529-DF1B8A8532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B137909-EF49-4A3D-1DAA-6EA2FB84DF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0C45DD5-57F7-FBB8-2B41-9EED9CB641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1273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de4f831eb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6de4f831eb_1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36de4f831eb_1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de4f831eb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6de4f831eb_1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36de4f831eb_1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EFEC3FB-7098-DE35-F934-DE66FDFAA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83B2F6E6-73EC-9F1D-0CB0-A4DD064F8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422D7F2-903B-A47A-C1A0-E36DD1AA9B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28F7131-FC08-789F-3BEA-7D53699A28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3226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de4f831eb_1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6de4f831eb_1_3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6de4f831eb_1_3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de4f831eb_1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6de4f831eb_1_2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g36de4f831eb_1_2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de4f831eb_1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36de4f831eb_1_2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g36de4f831eb_1_2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B496E43-F6C2-1081-F108-BAEA49CED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C4005A4B-10AB-1FDA-0D9E-C9B4E6747F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9F8574C-C985-D54A-23F9-8E8FBB7F0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09DDB3F-ABAC-0DDA-757B-13663E2613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5729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de4f831eb_1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6de4f831eb_1_1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g36de4f831eb_1_1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de4f831eb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36de4f831eb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g36de4f831eb_1_2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f27cbff70_1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36f27cbff70_1_3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g36f27cbff70_1_3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f27cbff70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6f27cbff70_1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g36f27cbff70_1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6f27cbff70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36f27cbff70_1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g36f27cbff70_1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f27cbff70_1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g36f27cbff70_1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06" name="Google Shape;406;g36f27cbff70_1_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6f27cbff70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g36f27cbff70_1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6" name="Google Shape;446;g36f27cbff70_1_1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6f27cbff70_1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36f27cbff70_1_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7" name="Google Shape;487;g36f27cbff70_1_2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6f27cbff70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g36f27cbff70_1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9" name="Google Shape;529;g36f27cbff70_1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6f27cbff70_1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g36f27cbff70_1_2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3" name="Google Shape;573;g36f27cbff70_1_2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6f27cbff70_1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7" name="Google Shape;617;g36f27cbff70_1_3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8" name="Google Shape;618;g36f27cbff70_1_3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de4f831eb_1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36de4f831eb_1_1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g36de4f831eb_1_1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df4878ce8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36df4878ce8_2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g36df4878ce8_2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6e05e5f5f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g36e05e5f5fe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0" name="Google Shape;350;g36e05e5f5f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df4878ce8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g36df4878ce8_0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" name="Google Shape;361;g36df4878ce8_0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6df4878ce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g36df4878ce8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g36df4878ce8_0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C5C335DD-2EA7-A740-9E3E-084D2BADD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4643BDB4-5C83-FC2D-553D-5FFB4D4D06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C89FC0C6-498E-74A0-8B8E-4286E2DCE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FF7C6DF-B8FD-043C-8A80-686B1FC201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8996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de4f831eb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g36de4f831eb_1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g36de4f831eb_1_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6df4878ce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g36df4878ce8_0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g36df4878ce8_0_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df4878ce8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g36df4878ce8_0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" name="Google Shape;426;g36df4878ce8_0_1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df4878ce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g36df4878ce8_0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8" name="Google Shape;438;g36df4878ce8_0_1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df4878ce8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g36df4878ce8_0_1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g36df4878ce8_0_1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84C93913-FB6B-1657-3ED3-FFE025CF4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60379F33-11F9-F942-E1D8-4E01088B95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21FB37D-DED0-1517-814C-1D4D16A938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2E024C1-AB6E-B96B-4A6E-C4B8ECDBA8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87881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6df4878ce8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g36df4878ce8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2" name="Google Shape;472;g36df4878ce8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6de4f831eb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g36de4f831eb_1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3" name="Google Shape;483;g36de4f831eb_1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6df4878ce8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36df4878ce8_1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4" name="Google Shape;494;g36df4878ce8_1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6df4878ce8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g36df4878ce8_1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5" name="Google Shape;505;g36df4878ce8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6df4878ce8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36df4878ce8_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5" name="Google Shape;515;g36df4878ce8_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6df4878ce8_4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4" name="Google Shape;524;g36df4878ce8_4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5" name="Google Shape;525;g36df4878ce8_4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6df4878ce8_4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36df4878ce8_4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6" name="Google Shape;536;g36df4878ce8_4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6e05e5f5f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g36e05e5f5fe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7" name="Google Shape;547;g36e05e5f5fe_3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6df4878ce8_4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g36df4878ce8_4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8" name="Google Shape;558;g36df4878ce8_4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6df4878ce8_5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g36df4878ce8_5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9" name="Google Shape;569;g36df4878ce8_5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6e05e5f5f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9" name="Google Shape;579;g36e05e5f5fe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0" name="Google Shape;580;g36e05e5f5fe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6e05e5f5f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1" name="Google Shape;591;g36e05e5f5fe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2" name="Google Shape;592;g36e05e5f5fe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6e05e5f5fe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g36e05e5f5fe_19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4" name="Google Shape;604;g36e05e5f5fe_19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6e05e5f5f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g36e05e5f5fe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6" name="Google Shape;616;g36e05e5f5fe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6df4878ce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g36df4878ce8_1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8" name="Google Shape;628;g36df4878ce8_1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6df4878ce8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8" name="Google Shape;638;g36df4878ce8_5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9" name="Google Shape;639;g36df4878ce8_5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6df4878ce8_4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6df4878ce8_4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0" name="Google Shape;650;g36df4878ce8_4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6df4878ce8_4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g36df4878ce8_4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1" name="Google Shape;661;g36df4878ce8_4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6df4878ce8_7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3" name="Google Shape;673;g36df4878ce8_7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4" name="Google Shape;674;g36df4878ce8_7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6df4878ce8_7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" name="Google Shape;686;g36df4878ce8_7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7" name="Google Shape;687;g36df4878ce8_7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6df4878ce8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9" name="Google Shape;699;g36df4878ce8_1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0" name="Google Shape;700;g36df4878ce8_1_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6d9881395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9" name="Google Shape;709;g36d9881395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0" name="Google Shape;710;g36d98813954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Google Shape;15;p5"/>
            <p:cNvSpPr/>
            <p:nvPr/>
          </p:nvSpPr>
          <p:spPr>
            <a:xfrm>
              <a:off x="0" y="0"/>
              <a:ext cx="12192000" cy="367665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" name="Google Shape;16;p5"/>
            <p:cNvSpPr/>
            <p:nvPr/>
          </p:nvSpPr>
          <p:spPr>
            <a:xfrm>
              <a:off x="0" y="5981700"/>
              <a:ext cx="12192000" cy="87630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Google Shape;11;p4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" name="Google Shape;12;p4"/>
            <p:cNvSpPr/>
            <p:nvPr/>
          </p:nvSpPr>
          <p:spPr>
            <a:xfrm>
              <a:off x="0" y="6496050"/>
              <a:ext cx="12192000" cy="36195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12192000" cy="367665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0" y="5981700"/>
              <a:ext cx="12192000" cy="87630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8" name="Google Shape;88;p1"/>
          <p:cNvSpPr txBox="1"/>
          <p:nvPr/>
        </p:nvSpPr>
        <p:spPr>
          <a:xfrm>
            <a:off x="3637951" y="5535150"/>
            <a:ext cx="491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Medical AI Research 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>
            <a:off x="7989487" y="122537"/>
            <a:ext cx="4050370" cy="431138"/>
            <a:chOff x="2579031" y="14099464"/>
            <a:chExt cx="4050370" cy="431138"/>
          </a:xfrm>
        </p:grpSpPr>
        <p:pic>
          <p:nvPicPr>
            <p:cNvPr id="90" name="Google Shape;90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49641" y="14145975"/>
              <a:ext cx="1279760" cy="3846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79031" y="14145975"/>
              <a:ext cx="2373899" cy="35291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" name="Google Shape;92;p1"/>
            <p:cNvCxnSpPr/>
            <p:nvPr/>
          </p:nvCxnSpPr>
          <p:spPr>
            <a:xfrm>
              <a:off x="5151285" y="14099464"/>
              <a:ext cx="0" cy="399427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3" name="Google Shape;93;p1"/>
          <p:cNvSpPr txBox="1"/>
          <p:nvPr/>
        </p:nvSpPr>
        <p:spPr>
          <a:xfrm>
            <a:off x="9475328" y="64862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D5DBE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fld>
            <a:endParaRPr sz="1200" b="0" i="0" u="none" strike="noStrike" cap="none">
              <a:solidFill>
                <a:srgbClr val="D5DBE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724400" y="6473609"/>
            <a:ext cx="2743199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Medical  AI Research Center, SMC</a:t>
            </a:r>
            <a:endParaRPr sz="1200" b="0" i="0" u="none" strike="noStrike" cap="none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6528" y="6547542"/>
            <a:ext cx="62869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DA9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MARS</a:t>
            </a:r>
            <a:endParaRPr sz="1200" b="0" i="0" u="none" strike="noStrike" cap="none">
              <a:solidFill>
                <a:srgbClr val="8DA9D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813986" y="4819604"/>
            <a:ext cx="256403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262626"/>
                </a:solidFill>
                <a:latin typeface="Noto Sans KR"/>
                <a:ea typeface="Noto Sans KR"/>
                <a:cs typeface="Noto Sans KR"/>
                <a:sym typeface="Noto Sans KR"/>
              </a:rPr>
              <a:t>July. 1</a:t>
            </a:r>
            <a:r>
              <a:rPr lang="en-US" sz="2000">
                <a:solidFill>
                  <a:srgbClr val="262626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  <a:r>
              <a:rPr lang="en-US" sz="2000" b="0" i="0" u="none" strike="noStrike" cap="none">
                <a:solidFill>
                  <a:srgbClr val="262626"/>
                </a:solidFill>
                <a:latin typeface="Noto Sans KR"/>
                <a:ea typeface="Noto Sans KR"/>
                <a:cs typeface="Noto Sans KR"/>
                <a:sym typeface="Noto Sans KR"/>
              </a:rPr>
              <a:t>. 2025</a:t>
            </a:r>
            <a:endParaRPr sz="2000" b="0" i="0" u="none" strike="noStrike" cap="none">
              <a:solidFill>
                <a:srgbClr val="26262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817100" y="4079600"/>
            <a:ext cx="255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62626"/>
                </a:solidFill>
                <a:latin typeface="Noto Sans KR"/>
                <a:ea typeface="Noto Sans KR"/>
                <a:cs typeface="Noto Sans KR"/>
                <a:sym typeface="Noto Sans KR"/>
              </a:rPr>
              <a:t>홍창희, 박민선, 임우진</a:t>
            </a:r>
            <a:endParaRPr sz="1800" b="0" i="0" u="none" strike="noStrike" cap="none">
              <a:solidFill>
                <a:srgbClr val="26262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60809" y="2065028"/>
            <a:ext cx="1147038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U-</a:t>
            </a:r>
            <a:r>
              <a:rPr lang="en-US" sz="4000" b="1" i="0" u="none" strike="noStrike" cap="none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 - Backbone Paper Review</a:t>
            </a:r>
            <a:endParaRPr sz="4000" b="1" i="0" u="none" strike="noStrike" cap="none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74893" y="-12741"/>
            <a:ext cx="12042213" cy="695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000" b="1" i="0" u="none" strike="noStrike" cap="none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6334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r>
              <a:rPr lang="en-US" sz="1800" b="1" i="0" u="none" strike="noStrike" cap="none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Background</a:t>
            </a:r>
            <a:endParaRPr sz="170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28085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r>
              <a:rPr lang="en-US" sz="1800" b="1" i="0" u="none" strike="noStrike" cap="none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Introduction</a:t>
            </a:r>
            <a:endParaRPr sz="170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49836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r>
              <a:rPr lang="en-US" sz="1800" b="1" i="0" u="none" strike="noStrike" cap="none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 sz="170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71587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r>
              <a:rPr lang="en-US" sz="1800" b="1" i="0" u="none" strike="noStrike" cap="none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Experiments</a:t>
            </a:r>
            <a:endParaRPr sz="170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9333800" y="3082650"/>
            <a:ext cx="2224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r>
              <a:rPr lang="en-US" sz="1800" b="1" i="0" u="none" strike="noStrike" cap="none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Application in the</a:t>
            </a:r>
            <a:b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Medical Domain</a:t>
            </a:r>
            <a:endParaRPr sz="170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FD3FC8D-A459-A0EF-481C-953EA4FAA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97677A0F-3F85-7EAC-D646-BF210DA9CE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389494C-BF15-4446-7D6E-B27BB0613A7A}"/>
              </a:ext>
            </a:extLst>
          </p:cNvPr>
          <p:cNvSpPr txBox="1"/>
          <p:nvPr/>
        </p:nvSpPr>
        <p:spPr>
          <a:xfrm>
            <a:off x="74893" y="-12741"/>
            <a:ext cx="12042213" cy="695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000" b="1" i="0" u="none" strike="noStrike" cap="none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555CA1C8-AF9E-31D1-5A25-643815A75131}"/>
              </a:ext>
            </a:extLst>
          </p:cNvPr>
          <p:cNvSpPr txBox="1"/>
          <p:nvPr/>
        </p:nvSpPr>
        <p:spPr>
          <a:xfrm>
            <a:off x="6334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r>
              <a:rPr lang="en-US" sz="1800" b="1" i="0" u="none" strike="noStrike" cap="none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Background</a:t>
            </a:r>
            <a:endParaRPr sz="170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20B9E92-4237-E537-FC99-8F70CF4EA599}"/>
              </a:ext>
            </a:extLst>
          </p:cNvPr>
          <p:cNvSpPr txBox="1"/>
          <p:nvPr/>
        </p:nvSpPr>
        <p:spPr>
          <a:xfrm>
            <a:off x="28085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Introduction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A345B195-535F-5066-E125-4D7D63C26067}"/>
              </a:ext>
            </a:extLst>
          </p:cNvPr>
          <p:cNvSpPr txBox="1"/>
          <p:nvPr/>
        </p:nvSpPr>
        <p:spPr>
          <a:xfrm>
            <a:off x="49836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8E4667DB-1FD2-8CF1-C5AE-AFC9003E52C5}"/>
              </a:ext>
            </a:extLst>
          </p:cNvPr>
          <p:cNvSpPr txBox="1"/>
          <p:nvPr/>
        </p:nvSpPr>
        <p:spPr>
          <a:xfrm>
            <a:off x="71587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Experiments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B504846E-5086-8771-00DC-DC2F82CF28DE}"/>
              </a:ext>
            </a:extLst>
          </p:cNvPr>
          <p:cNvSpPr txBox="1"/>
          <p:nvPr/>
        </p:nvSpPr>
        <p:spPr>
          <a:xfrm>
            <a:off x="9333800" y="3082650"/>
            <a:ext cx="2224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dirty="0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r>
              <a:rPr lang="en-US" sz="1800" b="1" i="0" u="none" strike="noStrike" cap="none" dirty="0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 dirty="0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 dirty="0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Application in the</a:t>
            </a:r>
            <a:br>
              <a:rPr lang="en-US" sz="1700" b="1" dirty="0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00" b="1" dirty="0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Medical Domain</a:t>
            </a:r>
            <a:endParaRPr sz="1700" b="1" i="0" u="none" strike="noStrike" cap="none" dirty="0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71220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de4f831eb_1_30"/>
          <p:cNvSpPr/>
          <p:nvPr/>
        </p:nvSpPr>
        <p:spPr>
          <a:xfrm>
            <a:off x="513765" y="1371617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g36de4f831eb_1_30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Background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g36de4f831eb_1_30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g36de4f831eb_1_30"/>
          <p:cNvSpPr txBox="1"/>
          <p:nvPr/>
        </p:nvSpPr>
        <p:spPr>
          <a:xfrm>
            <a:off x="605275" y="1277875"/>
            <a:ext cx="2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Segmentation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2" name="Google Shape;132;g36de4f831eb_1_30"/>
          <p:cNvPicPr preferRelativeResize="0"/>
          <p:nvPr/>
        </p:nvPicPr>
        <p:blipFill rotWithShape="1">
          <a:blip r:embed="rId3">
            <a:alphaModFix/>
          </a:blip>
          <a:srcRect b="7424"/>
          <a:stretch/>
        </p:blipFill>
        <p:spPr>
          <a:xfrm>
            <a:off x="6250813" y="1224950"/>
            <a:ext cx="4441026" cy="2370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6de4f831eb_1_30"/>
          <p:cNvSpPr txBox="1"/>
          <p:nvPr/>
        </p:nvSpPr>
        <p:spPr>
          <a:xfrm>
            <a:off x="605275" y="1827784"/>
            <a:ext cx="462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입력 이미지의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모든 픽셀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에 대해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Classification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 해, 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각 픽셀이 어느 클래스에 속하는지 라벨 할당 →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분할</a:t>
            </a:r>
            <a:endParaRPr sz="12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4" name="Google Shape;134;g36de4f831eb_1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2925" y="3899000"/>
            <a:ext cx="48768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6de4f831eb_1_30"/>
          <p:cNvSpPr/>
          <p:nvPr/>
        </p:nvSpPr>
        <p:spPr>
          <a:xfrm>
            <a:off x="513765" y="4025992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g36de4f831eb_1_30"/>
          <p:cNvSpPr txBox="1"/>
          <p:nvPr/>
        </p:nvSpPr>
        <p:spPr>
          <a:xfrm>
            <a:off x="605275" y="3932250"/>
            <a:ext cx="468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Semantic  </a:t>
            </a:r>
            <a:r>
              <a:rPr lang="en-US" sz="1800">
                <a:latin typeface="Noto Sans KR"/>
                <a:ea typeface="Noto Sans KR"/>
                <a:cs typeface="Noto Sans KR"/>
                <a:sym typeface="Noto Sans KR"/>
              </a:rPr>
              <a:t>vs</a:t>
            </a: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 Instance (Segmentation)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7" name="Google Shape;137;g36de4f831eb_1_30"/>
          <p:cNvSpPr txBox="1"/>
          <p:nvPr/>
        </p:nvSpPr>
        <p:spPr>
          <a:xfrm>
            <a:off x="605275" y="4479544"/>
            <a:ext cx="4621500" cy="74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l"/>
            </a:pP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Semantic -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같은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클래스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내부에서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객체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구분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불가능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286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sz="4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l"/>
            </a:pP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Instance -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같은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클래스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내부에서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객체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구분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가능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de4f831eb_1_42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Background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g36de4f831eb_1_42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5" name="Google Shape;145;g36de4f831eb_1_42"/>
          <p:cNvSpPr/>
          <p:nvPr/>
        </p:nvSpPr>
        <p:spPr>
          <a:xfrm>
            <a:off x="513765" y="1371617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g36de4f831eb_1_42"/>
          <p:cNvSpPr txBox="1"/>
          <p:nvPr/>
        </p:nvSpPr>
        <p:spPr>
          <a:xfrm>
            <a:off x="605275" y="127787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Biomedical Image Segmentation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7" name="Google Shape;147;g36de4f831eb_1_42"/>
          <p:cNvPicPr preferRelativeResize="0"/>
          <p:nvPr/>
        </p:nvPicPr>
        <p:blipFill rotWithShape="1">
          <a:blip r:embed="rId3">
            <a:alphaModFix/>
          </a:blip>
          <a:srcRect l="50255" r="1008"/>
          <a:stretch/>
        </p:blipFill>
        <p:spPr>
          <a:xfrm>
            <a:off x="6896361" y="3558200"/>
            <a:ext cx="1903626" cy="19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6de4f831eb_1_42"/>
          <p:cNvSpPr txBox="1"/>
          <p:nvPr/>
        </p:nvSpPr>
        <p:spPr>
          <a:xfrm>
            <a:off x="4020113" y="5470950"/>
            <a:ext cx="751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9" name="Google Shape;149;g36de4f831eb_1_42"/>
          <p:cNvPicPr preferRelativeResize="0"/>
          <p:nvPr/>
        </p:nvPicPr>
        <p:blipFill rotWithShape="1">
          <a:blip r:embed="rId3">
            <a:alphaModFix/>
          </a:blip>
          <a:srcRect l="941" r="50026"/>
          <a:stretch/>
        </p:blipFill>
        <p:spPr>
          <a:xfrm>
            <a:off x="3438238" y="3558200"/>
            <a:ext cx="1915251" cy="19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6de4f831eb_1_42"/>
          <p:cNvSpPr txBox="1"/>
          <p:nvPr/>
        </p:nvSpPr>
        <p:spPr>
          <a:xfrm>
            <a:off x="7472400" y="5470950"/>
            <a:ext cx="751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output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1" name="Google Shape;151;g36de4f831eb_1_42"/>
          <p:cNvCxnSpPr/>
          <p:nvPr/>
        </p:nvCxnSpPr>
        <p:spPr>
          <a:xfrm>
            <a:off x="5537525" y="4514575"/>
            <a:ext cx="1174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52" name="Google Shape;152;g36de4f831eb_1_42"/>
          <p:cNvSpPr txBox="1"/>
          <p:nvPr/>
        </p:nvSpPr>
        <p:spPr>
          <a:xfrm>
            <a:off x="605275" y="1827775"/>
            <a:ext cx="6972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의료 또는 생물학 연구에서 얻은 영상(X-ray, CT, MRI, 현미경 사진 등) 내의 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특정 구조물(장기, 종양, 세포, 혈관 등)을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픽셀 단위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로 정확하게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식별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하고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경계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를 나누는 기술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U-Net에선 주로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세포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구조를 분할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현미경 영상과 같은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미세 구조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를 다루는 영상에서 픽셀 단위의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Segmentation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 중요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g36de4f831eb_1_42"/>
          <p:cNvSpPr txBox="1"/>
          <p:nvPr/>
        </p:nvSpPr>
        <p:spPr>
          <a:xfrm>
            <a:off x="9010025" y="5025963"/>
            <a:ext cx="199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White  =  세포</a:t>
            </a:r>
            <a:endParaRPr sz="1000">
              <a:solidFill>
                <a:srgbClr val="88888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Black  =  세포막</a:t>
            </a:r>
            <a:endParaRPr sz="1000">
              <a:solidFill>
                <a:srgbClr val="88888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77F064DC-6423-C238-FE76-A2122202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8B107BA0-FE6A-CE24-E324-6C5141A0D7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720F1D6B-9AAA-B791-C8C0-5FF620B2C10D}"/>
              </a:ext>
            </a:extLst>
          </p:cNvPr>
          <p:cNvSpPr txBox="1"/>
          <p:nvPr/>
        </p:nvSpPr>
        <p:spPr>
          <a:xfrm>
            <a:off x="74893" y="-12741"/>
            <a:ext cx="12042213" cy="695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000" b="1" i="0" u="none" strike="noStrike" cap="none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B7ABDAD0-B4CF-D477-DAC2-73B28E8F5D20}"/>
              </a:ext>
            </a:extLst>
          </p:cNvPr>
          <p:cNvSpPr txBox="1"/>
          <p:nvPr/>
        </p:nvSpPr>
        <p:spPr>
          <a:xfrm>
            <a:off x="6334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Background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C0458FC6-DE5D-01FC-D937-248757AF1B3E}"/>
              </a:ext>
            </a:extLst>
          </p:cNvPr>
          <p:cNvSpPr txBox="1"/>
          <p:nvPr/>
        </p:nvSpPr>
        <p:spPr>
          <a:xfrm>
            <a:off x="28085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r>
              <a:rPr lang="en-US" sz="1800" b="1" i="0" u="none" strike="noStrike" cap="none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Introduction</a:t>
            </a:r>
            <a:endParaRPr sz="170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14A56A98-948D-BCA3-0F46-EF049B5D1D73}"/>
              </a:ext>
            </a:extLst>
          </p:cNvPr>
          <p:cNvSpPr txBox="1"/>
          <p:nvPr/>
        </p:nvSpPr>
        <p:spPr>
          <a:xfrm>
            <a:off x="49836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B159521-3826-2957-4FC5-D9623C695085}"/>
              </a:ext>
            </a:extLst>
          </p:cNvPr>
          <p:cNvSpPr txBox="1"/>
          <p:nvPr/>
        </p:nvSpPr>
        <p:spPr>
          <a:xfrm>
            <a:off x="71587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Experiments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3BD6961F-2050-0E13-3728-BCE3C127A6AE}"/>
              </a:ext>
            </a:extLst>
          </p:cNvPr>
          <p:cNvSpPr txBox="1"/>
          <p:nvPr/>
        </p:nvSpPr>
        <p:spPr>
          <a:xfrm>
            <a:off x="9333800" y="3082650"/>
            <a:ext cx="2224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Application in the</a:t>
            </a:r>
            <a:b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Medical Domain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05240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de4f831eb_1_394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Introduction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2" name="Google Shape;172;g36de4f831eb_1_394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g36de4f831eb_1_394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g36de4f831eb_1_394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Before U-Net  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g36de4f831eb_1_394"/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DNN + Sliding Window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6" name="Google Shape;176;g36de4f831eb_1_394"/>
          <p:cNvSpPr txBox="1"/>
          <p:nvPr/>
        </p:nvSpPr>
        <p:spPr>
          <a:xfrm>
            <a:off x="605300" y="2025325"/>
            <a:ext cx="8468400" cy="22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VGGNet처럼 conv layer들을 거친 후 최하단에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FC layer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를 놓아 </a:t>
            </a:r>
            <a:br>
              <a:rPr lang="en-US" sz="12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Classification 하는 CNN 모델을 사용해, </a:t>
            </a:r>
            <a:br>
              <a:rPr lang="en-US" sz="12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이미지의 한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픽셀 주변값(patch)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을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입력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으로 받아 </a:t>
            </a:r>
            <a:br>
              <a:rPr lang="en-US" sz="12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중앙의 한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 픽셀의 클래스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를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출력(부여)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하는 방식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모든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픽셀마다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 네트워크가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독립적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으로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수행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돼 </a:t>
            </a:r>
            <a:r>
              <a:rPr lang="en-US" sz="1200">
                <a:highlight>
                  <a:srgbClr val="EAD1DC"/>
                </a:highlight>
                <a:latin typeface="Noto Sans KR"/>
                <a:ea typeface="Noto Sans KR"/>
                <a:cs typeface="Noto Sans KR"/>
                <a:sym typeface="Noto Sans KR"/>
              </a:rPr>
              <a:t>속도가 느리고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각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패치마다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겹치는 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부분이 많아 중복으로 인한 낭비가 심함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highlight>
                <a:srgbClr val="EAD1DC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공간 context를 확보하기 위해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patch 크기를 늘리면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  더 많은 </a:t>
            </a:r>
            <a:br>
              <a:rPr lang="en-US" sz="12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max pooling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을 거쳐야하므로 </a:t>
            </a:r>
            <a:r>
              <a:rPr lang="en-US" sz="1200">
                <a:highlight>
                  <a:srgbClr val="EAD1DC"/>
                </a:highlight>
                <a:latin typeface="Noto Sans KR"/>
                <a:ea typeface="Noto Sans KR"/>
                <a:cs typeface="Noto Sans KR"/>
                <a:sym typeface="Noto Sans KR"/>
              </a:rPr>
              <a:t>localization 정확도가 떨어짐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 (trade-off)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7" name="Google Shape;177;g36de4f831eb_1_394"/>
          <p:cNvSpPr/>
          <p:nvPr/>
        </p:nvSpPr>
        <p:spPr>
          <a:xfrm>
            <a:off x="8513700" y="5043450"/>
            <a:ext cx="274200" cy="274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</a:t>
            </a:r>
            <a:endParaRPr sz="1000"/>
          </a:p>
        </p:txBody>
      </p:sp>
      <p:sp>
        <p:nvSpPr>
          <p:cNvPr id="178" name="Google Shape;178;g36de4f831eb_1_394"/>
          <p:cNvSpPr txBox="1"/>
          <p:nvPr/>
        </p:nvSpPr>
        <p:spPr>
          <a:xfrm>
            <a:off x="9731525" y="5648088"/>
            <a:ext cx="199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C = cell (세포)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M = membrane (세포막)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79" name="Google Shape;179;g36de4f831eb_1_394"/>
          <p:cNvCxnSpPr/>
          <p:nvPr/>
        </p:nvCxnSpPr>
        <p:spPr>
          <a:xfrm>
            <a:off x="3985050" y="5454888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8E7CC3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80" name="Google Shape;180;g36de4f831eb_1_394"/>
          <p:cNvCxnSpPr/>
          <p:nvPr/>
        </p:nvCxnSpPr>
        <p:spPr>
          <a:xfrm>
            <a:off x="6801088" y="5454888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8E7CC3"/>
            </a:solidFill>
            <a:prstDash val="dash"/>
            <a:round/>
            <a:headEnd type="none" w="med" len="med"/>
            <a:tailEnd type="stealth" w="med" len="med"/>
          </a:ln>
        </p:spPr>
      </p:cxnSp>
      <p:grpSp>
        <p:nvGrpSpPr>
          <p:cNvPr id="181" name="Google Shape;181;g36de4f831eb_1_394"/>
          <p:cNvGrpSpPr/>
          <p:nvPr/>
        </p:nvGrpSpPr>
        <p:grpSpPr>
          <a:xfrm>
            <a:off x="2332900" y="4769088"/>
            <a:ext cx="1371600" cy="1371600"/>
            <a:chOff x="9387475" y="1530888"/>
            <a:chExt cx="1371600" cy="1371600"/>
          </a:xfrm>
        </p:grpSpPr>
        <p:sp>
          <p:nvSpPr>
            <p:cNvPr id="182" name="Google Shape;182;g36de4f831eb_1_394"/>
            <p:cNvSpPr/>
            <p:nvPr/>
          </p:nvSpPr>
          <p:spPr>
            <a:xfrm>
              <a:off x="9387475" y="1530888"/>
              <a:ext cx="1371600" cy="1371600"/>
            </a:xfrm>
            <a:prstGeom prst="rect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3" name="Google Shape;183;g36de4f831eb_1_394"/>
            <p:cNvCxnSpPr/>
            <p:nvPr/>
          </p:nvCxnSpPr>
          <p:spPr>
            <a:xfrm>
              <a:off x="9387475" y="180520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g36de4f831eb_1_394"/>
            <p:cNvCxnSpPr/>
            <p:nvPr/>
          </p:nvCxnSpPr>
          <p:spPr>
            <a:xfrm>
              <a:off x="9387475" y="207952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g36de4f831eb_1_394"/>
            <p:cNvCxnSpPr/>
            <p:nvPr/>
          </p:nvCxnSpPr>
          <p:spPr>
            <a:xfrm>
              <a:off x="9387475" y="235384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g36de4f831eb_1_394"/>
            <p:cNvCxnSpPr/>
            <p:nvPr/>
          </p:nvCxnSpPr>
          <p:spPr>
            <a:xfrm>
              <a:off x="9387475" y="262816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g36de4f831eb_1_394"/>
            <p:cNvCxnSpPr/>
            <p:nvPr/>
          </p:nvCxnSpPr>
          <p:spPr>
            <a:xfrm rot="5400000">
              <a:off x="897599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g36de4f831eb_1_394"/>
            <p:cNvCxnSpPr/>
            <p:nvPr/>
          </p:nvCxnSpPr>
          <p:spPr>
            <a:xfrm rot="5400000">
              <a:off x="925031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g36de4f831eb_1_394"/>
            <p:cNvCxnSpPr/>
            <p:nvPr/>
          </p:nvCxnSpPr>
          <p:spPr>
            <a:xfrm rot="5400000">
              <a:off x="952463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g36de4f831eb_1_394"/>
            <p:cNvCxnSpPr/>
            <p:nvPr/>
          </p:nvCxnSpPr>
          <p:spPr>
            <a:xfrm rot="5400000">
              <a:off x="979895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1" name="Google Shape;191;g36de4f831eb_1_394"/>
          <p:cNvSpPr/>
          <p:nvPr/>
        </p:nvSpPr>
        <p:spPr>
          <a:xfrm>
            <a:off x="2607250" y="5043450"/>
            <a:ext cx="274200" cy="274200"/>
          </a:xfrm>
          <a:prstGeom prst="rect">
            <a:avLst/>
          </a:prstGeom>
          <a:solidFill>
            <a:srgbClr val="8E7CC3"/>
          </a:solidFill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</a:t>
            </a:r>
            <a:endParaRPr sz="1000"/>
          </a:p>
        </p:txBody>
      </p:sp>
      <p:sp>
        <p:nvSpPr>
          <p:cNvPr id="192" name="Google Shape;192;g36de4f831eb_1_394"/>
          <p:cNvSpPr/>
          <p:nvPr/>
        </p:nvSpPr>
        <p:spPr>
          <a:xfrm>
            <a:off x="5406950" y="5043450"/>
            <a:ext cx="274200" cy="274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C</a:t>
            </a:r>
            <a:endParaRPr sz="1000">
              <a:solidFill>
                <a:schemeClr val="dk1"/>
              </a:solidFill>
            </a:endParaRPr>
          </a:p>
        </p:txBody>
      </p:sp>
      <p:grpSp>
        <p:nvGrpSpPr>
          <p:cNvPr id="193" name="Google Shape;193;g36de4f831eb_1_394"/>
          <p:cNvGrpSpPr/>
          <p:nvPr/>
        </p:nvGrpSpPr>
        <p:grpSpPr>
          <a:xfrm>
            <a:off x="5132600" y="4769088"/>
            <a:ext cx="1371600" cy="1371600"/>
            <a:chOff x="9387475" y="1530888"/>
            <a:chExt cx="1371600" cy="1371600"/>
          </a:xfrm>
        </p:grpSpPr>
        <p:sp>
          <p:nvSpPr>
            <p:cNvPr id="194" name="Google Shape;194;g36de4f831eb_1_394"/>
            <p:cNvSpPr/>
            <p:nvPr/>
          </p:nvSpPr>
          <p:spPr>
            <a:xfrm>
              <a:off x="9387475" y="1530888"/>
              <a:ext cx="1371600" cy="1371600"/>
            </a:xfrm>
            <a:prstGeom prst="rect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5" name="Google Shape;195;g36de4f831eb_1_394"/>
            <p:cNvCxnSpPr/>
            <p:nvPr/>
          </p:nvCxnSpPr>
          <p:spPr>
            <a:xfrm>
              <a:off x="9387475" y="180520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g36de4f831eb_1_394"/>
            <p:cNvCxnSpPr/>
            <p:nvPr/>
          </p:nvCxnSpPr>
          <p:spPr>
            <a:xfrm>
              <a:off x="9387475" y="207952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g36de4f831eb_1_394"/>
            <p:cNvCxnSpPr/>
            <p:nvPr/>
          </p:nvCxnSpPr>
          <p:spPr>
            <a:xfrm>
              <a:off x="9387475" y="235384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g36de4f831eb_1_394"/>
            <p:cNvCxnSpPr/>
            <p:nvPr/>
          </p:nvCxnSpPr>
          <p:spPr>
            <a:xfrm>
              <a:off x="9387475" y="262816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g36de4f831eb_1_394"/>
            <p:cNvCxnSpPr/>
            <p:nvPr/>
          </p:nvCxnSpPr>
          <p:spPr>
            <a:xfrm rot="5400000">
              <a:off x="897599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g36de4f831eb_1_394"/>
            <p:cNvCxnSpPr/>
            <p:nvPr/>
          </p:nvCxnSpPr>
          <p:spPr>
            <a:xfrm rot="5400000">
              <a:off x="925031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g36de4f831eb_1_394"/>
            <p:cNvCxnSpPr/>
            <p:nvPr/>
          </p:nvCxnSpPr>
          <p:spPr>
            <a:xfrm rot="5400000">
              <a:off x="952463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g36de4f831eb_1_394"/>
            <p:cNvCxnSpPr/>
            <p:nvPr/>
          </p:nvCxnSpPr>
          <p:spPr>
            <a:xfrm rot="5400000">
              <a:off x="979895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3" name="Google Shape;203;g36de4f831eb_1_394"/>
          <p:cNvSpPr/>
          <p:nvPr/>
        </p:nvSpPr>
        <p:spPr>
          <a:xfrm>
            <a:off x="5406950" y="4769099"/>
            <a:ext cx="822900" cy="822900"/>
          </a:xfrm>
          <a:prstGeom prst="rect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6de4f831eb_1_394"/>
          <p:cNvSpPr/>
          <p:nvPr/>
        </p:nvSpPr>
        <p:spPr>
          <a:xfrm>
            <a:off x="5681300" y="5043450"/>
            <a:ext cx="274200" cy="274200"/>
          </a:xfrm>
          <a:prstGeom prst="rect">
            <a:avLst/>
          </a:prstGeom>
          <a:solidFill>
            <a:srgbClr val="8E7CC3"/>
          </a:solidFill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</a:t>
            </a:r>
            <a:endParaRPr sz="1000"/>
          </a:p>
        </p:txBody>
      </p:sp>
      <p:sp>
        <p:nvSpPr>
          <p:cNvPr id="205" name="Google Shape;205;g36de4f831eb_1_394"/>
          <p:cNvSpPr/>
          <p:nvPr/>
        </p:nvSpPr>
        <p:spPr>
          <a:xfrm>
            <a:off x="2332900" y="4769099"/>
            <a:ext cx="822900" cy="822900"/>
          </a:xfrm>
          <a:prstGeom prst="rect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6de4f831eb_1_394"/>
          <p:cNvSpPr/>
          <p:nvPr/>
        </p:nvSpPr>
        <p:spPr>
          <a:xfrm>
            <a:off x="8239350" y="5043450"/>
            <a:ext cx="274200" cy="274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C</a:t>
            </a:r>
            <a:endParaRPr sz="1000">
              <a:solidFill>
                <a:schemeClr val="dk1"/>
              </a:solidFill>
            </a:endParaRPr>
          </a:p>
        </p:txBody>
      </p:sp>
      <p:grpSp>
        <p:nvGrpSpPr>
          <p:cNvPr id="207" name="Google Shape;207;g36de4f831eb_1_394"/>
          <p:cNvGrpSpPr/>
          <p:nvPr/>
        </p:nvGrpSpPr>
        <p:grpSpPr>
          <a:xfrm>
            <a:off x="7965000" y="4769088"/>
            <a:ext cx="1371600" cy="1371600"/>
            <a:chOff x="9387475" y="1530888"/>
            <a:chExt cx="1371600" cy="1371600"/>
          </a:xfrm>
        </p:grpSpPr>
        <p:sp>
          <p:nvSpPr>
            <p:cNvPr id="208" name="Google Shape;208;g36de4f831eb_1_394"/>
            <p:cNvSpPr/>
            <p:nvPr/>
          </p:nvSpPr>
          <p:spPr>
            <a:xfrm>
              <a:off x="9387475" y="1530888"/>
              <a:ext cx="1371600" cy="1371600"/>
            </a:xfrm>
            <a:prstGeom prst="rect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9" name="Google Shape;209;g36de4f831eb_1_394"/>
            <p:cNvCxnSpPr/>
            <p:nvPr/>
          </p:nvCxnSpPr>
          <p:spPr>
            <a:xfrm>
              <a:off x="9387475" y="180520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g36de4f831eb_1_394"/>
            <p:cNvCxnSpPr/>
            <p:nvPr/>
          </p:nvCxnSpPr>
          <p:spPr>
            <a:xfrm>
              <a:off x="9387475" y="207952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g36de4f831eb_1_394"/>
            <p:cNvCxnSpPr/>
            <p:nvPr/>
          </p:nvCxnSpPr>
          <p:spPr>
            <a:xfrm>
              <a:off x="9387475" y="235384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" name="Google Shape;212;g36de4f831eb_1_394"/>
            <p:cNvCxnSpPr/>
            <p:nvPr/>
          </p:nvCxnSpPr>
          <p:spPr>
            <a:xfrm>
              <a:off x="9387475" y="262816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g36de4f831eb_1_394"/>
            <p:cNvCxnSpPr/>
            <p:nvPr/>
          </p:nvCxnSpPr>
          <p:spPr>
            <a:xfrm rot="5400000">
              <a:off x="897599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g36de4f831eb_1_394"/>
            <p:cNvCxnSpPr/>
            <p:nvPr/>
          </p:nvCxnSpPr>
          <p:spPr>
            <a:xfrm rot="5400000">
              <a:off x="925031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g36de4f831eb_1_394"/>
            <p:cNvCxnSpPr/>
            <p:nvPr/>
          </p:nvCxnSpPr>
          <p:spPr>
            <a:xfrm rot="5400000">
              <a:off x="952463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g36de4f831eb_1_394"/>
            <p:cNvCxnSpPr/>
            <p:nvPr/>
          </p:nvCxnSpPr>
          <p:spPr>
            <a:xfrm rot="5400000">
              <a:off x="9798955" y="2216688"/>
              <a:ext cx="1371600" cy="0"/>
            </a:xfrm>
            <a:prstGeom prst="straightConnector1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7" name="Google Shape;217;g36de4f831eb_1_394"/>
          <p:cNvSpPr/>
          <p:nvPr/>
        </p:nvSpPr>
        <p:spPr>
          <a:xfrm>
            <a:off x="8513700" y="4769099"/>
            <a:ext cx="822900" cy="822900"/>
          </a:xfrm>
          <a:prstGeom prst="rect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6de4f831eb_1_394"/>
          <p:cNvSpPr/>
          <p:nvPr/>
        </p:nvSpPr>
        <p:spPr>
          <a:xfrm>
            <a:off x="8788050" y="5043450"/>
            <a:ext cx="274200" cy="274200"/>
          </a:xfrm>
          <a:prstGeom prst="rect">
            <a:avLst/>
          </a:prstGeom>
          <a:solidFill>
            <a:srgbClr val="8E7CC3"/>
          </a:solidFill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M</a:t>
            </a:r>
            <a:endParaRPr sz="1000"/>
          </a:p>
        </p:txBody>
      </p:sp>
      <p:pic>
        <p:nvPicPr>
          <p:cNvPr id="219" name="Google Shape;219;g36de4f831eb_1_3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9852" y="2125806"/>
            <a:ext cx="5277274" cy="1714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de4f831eb_1_271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Introduction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6" name="Google Shape;226;g36de4f831eb_1_271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7" name="Google Shape;227;g36de4f831eb_1_271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g36de4f831eb_1_271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Before U-Net  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9" name="Google Shape;229;g36de4f831eb_1_271"/>
          <p:cNvSpPr txBox="1"/>
          <p:nvPr/>
        </p:nvSpPr>
        <p:spPr>
          <a:xfrm>
            <a:off x="605299" y="1557625"/>
            <a:ext cx="551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FCN: Fully Convolutional Network</a:t>
            </a:r>
            <a:endParaRPr sz="1800" b="1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g36de4f831eb_1_271"/>
          <p:cNvSpPr txBox="1"/>
          <p:nvPr/>
        </p:nvSpPr>
        <p:spPr>
          <a:xfrm>
            <a:off x="605300" y="2025325"/>
            <a:ext cx="89511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방식을 완전히 개편하여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FC layer를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없애고 모두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1x1 conv layer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로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대체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해, 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전체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를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입력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받아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전체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공간 특징맵(segmentation)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을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출력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하는 모델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Semantic Segmentation을 위해 제안됨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 Base model을 수정,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확장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하여 제안된 모델이 </a:t>
            </a:r>
            <a:r>
              <a:rPr lang="en-US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U-Net</a:t>
            </a:r>
            <a:endParaRPr sz="12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31" name="Google Shape;231;g36de4f831eb_1_2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839" y="3711988"/>
            <a:ext cx="4102936" cy="22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6de4f831eb_1_2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3866" y="3548450"/>
            <a:ext cx="5774660" cy="25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6de4f831eb_1_271"/>
          <p:cNvSpPr txBox="1"/>
          <p:nvPr/>
        </p:nvSpPr>
        <p:spPr>
          <a:xfrm>
            <a:off x="7410675" y="5034250"/>
            <a:ext cx="141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Skip Connection</a:t>
            </a:r>
            <a:endParaRPr sz="10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de4f831eb_1_242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Introduction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0" name="Google Shape;240;g36de4f831eb_1_242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1" name="Google Shape;241;g36de4f831eb_1_242"/>
          <p:cNvSpPr/>
          <p:nvPr/>
        </p:nvSpPr>
        <p:spPr>
          <a:xfrm>
            <a:off x="513765" y="116359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g36de4f831eb_1_242"/>
          <p:cNvSpPr txBox="1"/>
          <p:nvPr/>
        </p:nvSpPr>
        <p:spPr>
          <a:xfrm>
            <a:off x="605275" y="106984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Idea of U-Net  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43" name="Google Shape;243;g36de4f831eb_1_2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816" y="1539412"/>
            <a:ext cx="5871699" cy="38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6de4f831eb_1_242"/>
          <p:cNvSpPr/>
          <p:nvPr/>
        </p:nvSpPr>
        <p:spPr>
          <a:xfrm>
            <a:off x="5669280" y="1433850"/>
            <a:ext cx="2293800" cy="3990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6de4f831eb_1_242"/>
          <p:cNvSpPr/>
          <p:nvPr/>
        </p:nvSpPr>
        <p:spPr>
          <a:xfrm>
            <a:off x="8623605" y="1433850"/>
            <a:ext cx="2988000" cy="39903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6de4f831eb_1_242"/>
          <p:cNvSpPr txBox="1"/>
          <p:nvPr/>
        </p:nvSpPr>
        <p:spPr>
          <a:xfrm>
            <a:off x="6322680" y="1433850"/>
            <a:ext cx="164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Contracting Path</a:t>
            </a:r>
            <a:endParaRPr sz="1100" b="1">
              <a:solidFill>
                <a:srgbClr val="FF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7" name="Google Shape;247;g36de4f831eb_1_242"/>
          <p:cNvSpPr txBox="1"/>
          <p:nvPr/>
        </p:nvSpPr>
        <p:spPr>
          <a:xfrm>
            <a:off x="8623605" y="1433850"/>
            <a:ext cx="164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FF"/>
                </a:solidFill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100" b="1">
              <a:solidFill>
                <a:srgbClr val="0000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8" name="Google Shape;248;g36de4f831eb_1_242"/>
          <p:cNvSpPr txBox="1"/>
          <p:nvPr/>
        </p:nvSpPr>
        <p:spPr>
          <a:xfrm>
            <a:off x="605275" y="1737360"/>
            <a:ext cx="4753800" cy="238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ingdings" panose="05000000000000000000" pitchFamily="2" charset="2"/>
              <a:buChar char="l"/>
            </a:pPr>
            <a:r>
              <a:rPr lang="en-US" sz="13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U자형</a:t>
            </a: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대칭</a:t>
            </a: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인코더-디코더</a:t>
            </a: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구조</a:t>
            </a: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3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sz="8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11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ingdings" panose="05000000000000000000" pitchFamily="2" charset="2"/>
              <a:buChar char="l"/>
            </a:pPr>
            <a:r>
              <a:rPr lang="en-US" sz="13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고해상도</a:t>
            </a: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특징의</a:t>
            </a: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연결을</a:t>
            </a: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통한</a:t>
            </a: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Skip Connection</a:t>
            </a:r>
            <a:endParaRPr sz="13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sz="8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11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ingdings" panose="05000000000000000000" pitchFamily="2" charset="2"/>
              <a:buChar char="l"/>
            </a:pP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Transposed Convolution (Up-Convolution)을 </a:t>
            </a:r>
            <a:endParaRPr sz="13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통한</a:t>
            </a: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업샘플링</a:t>
            </a:r>
            <a:endParaRPr sz="13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sz="8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11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ingdings" panose="05000000000000000000" pitchFamily="2" charset="2"/>
              <a:buChar char="l"/>
            </a:pP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Overlap-Tile, Mirroring</a:t>
            </a:r>
            <a:endParaRPr sz="13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sz="8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11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ingdings" panose="05000000000000000000" pitchFamily="2" charset="2"/>
              <a:buChar char="l"/>
            </a:pPr>
            <a:r>
              <a:rPr lang="en-US" sz="13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Weighted Loss, Data augmentation</a:t>
            </a:r>
            <a:endParaRPr sz="13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E814102-2C64-DFDC-1B32-04A7BB976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1AB38F6C-2BC3-6B0E-9FC1-C9F11E2A78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D288C45-E256-6601-ACAA-650F48C60E24}"/>
              </a:ext>
            </a:extLst>
          </p:cNvPr>
          <p:cNvSpPr txBox="1"/>
          <p:nvPr/>
        </p:nvSpPr>
        <p:spPr>
          <a:xfrm>
            <a:off x="74893" y="-12741"/>
            <a:ext cx="12042213" cy="695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000" b="1" i="0" u="none" strike="noStrike" cap="none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D4F6D1D0-AE8A-F267-0969-325E74DE949E}"/>
              </a:ext>
            </a:extLst>
          </p:cNvPr>
          <p:cNvSpPr txBox="1"/>
          <p:nvPr/>
        </p:nvSpPr>
        <p:spPr>
          <a:xfrm>
            <a:off x="6334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Background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F8B5503C-495B-1C83-061F-BE9FBADDAC86}"/>
              </a:ext>
            </a:extLst>
          </p:cNvPr>
          <p:cNvSpPr txBox="1"/>
          <p:nvPr/>
        </p:nvSpPr>
        <p:spPr>
          <a:xfrm>
            <a:off x="28085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Introduction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2A2FF5C-E8AC-E4EC-A44D-0195FCFA1F5C}"/>
              </a:ext>
            </a:extLst>
          </p:cNvPr>
          <p:cNvSpPr txBox="1"/>
          <p:nvPr/>
        </p:nvSpPr>
        <p:spPr>
          <a:xfrm>
            <a:off x="49836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r>
              <a:rPr lang="en-US" sz="1800" b="1" i="0" u="none" strike="noStrike" cap="none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 sz="170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BADA1451-CA15-585E-D995-7ED5E5B47409}"/>
              </a:ext>
            </a:extLst>
          </p:cNvPr>
          <p:cNvSpPr txBox="1"/>
          <p:nvPr/>
        </p:nvSpPr>
        <p:spPr>
          <a:xfrm>
            <a:off x="71587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Experiments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82C76F9E-5263-DAC6-E7D7-D9DDBED2B0A0}"/>
              </a:ext>
            </a:extLst>
          </p:cNvPr>
          <p:cNvSpPr txBox="1"/>
          <p:nvPr/>
        </p:nvSpPr>
        <p:spPr>
          <a:xfrm>
            <a:off x="9333800" y="3082650"/>
            <a:ext cx="2224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Application in the</a:t>
            </a:r>
            <a:b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Medical Domain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996663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de4f831eb_1_197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7" name="Google Shape;267;g36de4f831eb_1_197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8" name="Google Shape;268;g36de4f831eb_1_197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g36de4f831eb_1_197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Architecture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0" name="Google Shape;270;g36de4f831eb_1_197"/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Contracting Path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1" name="Google Shape;271;g36de4f831eb_1_197"/>
          <p:cNvSpPr txBox="1"/>
          <p:nvPr/>
        </p:nvSpPr>
        <p:spPr>
          <a:xfrm>
            <a:off x="605300" y="2025325"/>
            <a:ext cx="4316100" cy="14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각 Step 마다 3x3 conv를 두 차례씩 반복 (패딩x)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conv layer에는 ReLU 연산이 포함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conv 이후엔 2x2 max-pooling (stride:2 )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Down-sampling마다 채널 수를 2배로 늘림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72" name="Google Shape;272;g36de4f831eb_1_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816" y="1539412"/>
            <a:ext cx="5871699" cy="38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6de4f831eb_1_197"/>
          <p:cNvSpPr/>
          <p:nvPr/>
        </p:nvSpPr>
        <p:spPr>
          <a:xfrm>
            <a:off x="5669280" y="1433850"/>
            <a:ext cx="2293800" cy="3990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6de4f831eb_1_197"/>
          <p:cNvSpPr txBox="1"/>
          <p:nvPr/>
        </p:nvSpPr>
        <p:spPr>
          <a:xfrm>
            <a:off x="6322680" y="1433850"/>
            <a:ext cx="164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Contracting Path</a:t>
            </a:r>
            <a:endParaRPr sz="1100" b="1">
              <a:solidFill>
                <a:srgbClr val="FF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de4f831eb_1_207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1" name="Google Shape;281;g36de4f831eb_1_207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2" name="Google Shape;282;g36de4f831eb_1_207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g36de4f831eb_1_207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Architecture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4" name="Google Shape;284;g36de4f831eb_1_207"/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85" name="Google Shape;285;g36de4f831eb_1_2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432" y="1541170"/>
            <a:ext cx="5871699" cy="388462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6de4f831eb_1_207"/>
          <p:cNvSpPr/>
          <p:nvPr/>
        </p:nvSpPr>
        <p:spPr>
          <a:xfrm>
            <a:off x="8626221" y="1435608"/>
            <a:ext cx="2988000" cy="39903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7" name="Google Shape;287;g36de4f831eb_1_207"/>
          <p:cNvCxnSpPr>
            <a:cxnSpLocks/>
          </p:cNvCxnSpPr>
          <p:nvPr/>
        </p:nvCxnSpPr>
        <p:spPr>
          <a:xfrm>
            <a:off x="6822921" y="2402625"/>
            <a:ext cx="3056885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88" name="Google Shape;288;g36de4f831eb_1_207"/>
          <p:cNvCxnSpPr>
            <a:cxnSpLocks/>
          </p:cNvCxnSpPr>
          <p:nvPr/>
        </p:nvCxnSpPr>
        <p:spPr>
          <a:xfrm>
            <a:off x="7176321" y="3739325"/>
            <a:ext cx="2365348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89" name="Google Shape;289;g36de4f831eb_1_207"/>
          <p:cNvCxnSpPr>
            <a:cxnSpLocks/>
          </p:cNvCxnSpPr>
          <p:nvPr/>
        </p:nvCxnSpPr>
        <p:spPr>
          <a:xfrm>
            <a:off x="7558671" y="4483050"/>
            <a:ext cx="1428167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90" name="Google Shape;290;g36de4f831eb_1_207"/>
          <p:cNvSpPr/>
          <p:nvPr/>
        </p:nvSpPr>
        <p:spPr>
          <a:xfrm>
            <a:off x="10292671" y="4602050"/>
            <a:ext cx="1148400" cy="185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36de4f831eb_1_207"/>
          <p:cNvSpPr txBox="1"/>
          <p:nvPr/>
        </p:nvSpPr>
        <p:spPr>
          <a:xfrm>
            <a:off x="6767321" y="2083735"/>
            <a:ext cx="1469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Skip Connection</a:t>
            </a:r>
            <a:endParaRPr sz="900" b="1">
              <a:solidFill>
                <a:srgbClr val="FF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2" name="Google Shape;292;g36de4f831eb_1_207"/>
          <p:cNvSpPr txBox="1"/>
          <p:nvPr/>
        </p:nvSpPr>
        <p:spPr>
          <a:xfrm>
            <a:off x="605300" y="2025325"/>
            <a:ext cx="5195400" cy="25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각 Step마다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2x2 Up-conv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(stride: 2)을 통해 </a:t>
            </a:r>
            <a:br>
              <a:rPr lang="en-US" sz="12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feature map의 해상도가 2배로 늘어남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3x3 conv를 두 차례씩 반복 (패딩 x)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conv layer에는 ReLU 연산이 포함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Up-conv된 feature map은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Contracting path에서 cropped된 </a:t>
            </a:r>
            <a:b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feature map과 concat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 시킴 (Skip Connection)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마지막 레이어로 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1x1 conv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를 통해 Segmentation map 출력</a:t>
            </a:r>
            <a:br>
              <a:rPr lang="en-US" sz="12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200" b="1">
                <a:latin typeface="Noto Sans KR"/>
                <a:ea typeface="Noto Sans KR"/>
                <a:cs typeface="Noto Sans KR"/>
                <a:sym typeface="Noto Sans KR"/>
              </a:rPr>
              <a:t>필터 개수 = 총 클래스 수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3" name="Google Shape;293;g36de4f831eb_1_207"/>
          <p:cNvSpPr txBox="1"/>
          <p:nvPr/>
        </p:nvSpPr>
        <p:spPr>
          <a:xfrm>
            <a:off x="8626221" y="1433850"/>
            <a:ext cx="164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FF"/>
                </a:solidFill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100" b="1">
              <a:solidFill>
                <a:srgbClr val="0000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f27cbff70_1_377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0" name="Google Shape;300;g36f27cbff70_1_377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1" name="Google Shape;301;g36f27cbff70_1_377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g36f27cbff70_1_377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Architecture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4" name="Google Shape;304;g36f27cbff70_1_377"/>
          <p:cNvSpPr txBox="1"/>
          <p:nvPr/>
        </p:nvSpPr>
        <p:spPr>
          <a:xfrm>
            <a:off x="815340" y="2025325"/>
            <a:ext cx="7337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171450">
              <a:buSzPts val="1800"/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Noto Sans KR"/>
                <a:ea typeface="Noto Sans KR"/>
                <a:cs typeface="Noto Sans KR"/>
                <a:sym typeface="Noto Sans KR"/>
              </a:rPr>
              <a:t>   Transposed convolution</a:t>
            </a:r>
            <a:endParaRPr lang="en-US" altLang="ko-KR"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5" name="Google Shape;325;g36f27cbff70_1_377"/>
          <p:cNvSpPr txBox="1"/>
          <p:nvPr/>
        </p:nvSpPr>
        <p:spPr>
          <a:xfrm>
            <a:off x="4277775" y="3187811"/>
            <a:ext cx="1531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2x2 up-conv</a:t>
            </a:r>
            <a:endParaRPr sz="1300" dirty="0">
              <a:solidFill>
                <a:srgbClr val="FF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" name="Google Shape;413;g36f27cbff70_1_123">
            <a:extLst>
              <a:ext uri="{FF2B5EF4-FFF2-40B4-BE49-F238E27FC236}">
                <a16:creationId xmlns:a16="http://schemas.microsoft.com/office/drawing/2014/main" id="{C435E3DE-9339-E93C-4BD9-695E09AE1186}"/>
              </a:ext>
            </a:extLst>
          </p:cNvPr>
          <p:cNvGraphicFramePr/>
          <p:nvPr/>
        </p:nvGraphicFramePr>
        <p:xfrm>
          <a:off x="2311600" y="3969686"/>
          <a:ext cx="7681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Google Shape;414;g36f27cbff70_1_123">
            <a:extLst>
              <a:ext uri="{FF2B5EF4-FFF2-40B4-BE49-F238E27FC236}">
                <a16:creationId xmlns:a16="http://schemas.microsoft.com/office/drawing/2014/main" id="{A9ED08F2-E74D-7817-314B-21FF6E710CC4}"/>
              </a:ext>
            </a:extLst>
          </p:cNvPr>
          <p:cNvSpPr txBox="1"/>
          <p:nvPr/>
        </p:nvSpPr>
        <p:spPr>
          <a:xfrm>
            <a:off x="2286000" y="4773148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" name="Google Shape;415;g36f27cbff70_1_123">
            <a:extLst>
              <a:ext uri="{FF2B5EF4-FFF2-40B4-BE49-F238E27FC236}">
                <a16:creationId xmlns:a16="http://schemas.microsoft.com/office/drawing/2014/main" id="{1085DFFA-F2FB-1395-D8B0-5440280521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6186752"/>
              </p:ext>
            </p:extLst>
          </p:nvPr>
        </p:nvGraphicFramePr>
        <p:xfrm>
          <a:off x="4610250" y="3584448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Google Shape;416;g36f27cbff70_1_123">
            <a:extLst>
              <a:ext uri="{FF2B5EF4-FFF2-40B4-BE49-F238E27FC236}">
                <a16:creationId xmlns:a16="http://schemas.microsoft.com/office/drawing/2014/main" id="{2C8E2836-793C-721F-1316-43753D7EE425}"/>
              </a:ext>
            </a:extLst>
          </p:cNvPr>
          <p:cNvCxnSpPr/>
          <p:nvPr/>
        </p:nvCxnSpPr>
        <p:spPr>
          <a:xfrm>
            <a:off x="3360400" y="4376836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6" name="Google Shape;417;g36f27cbff70_1_123">
            <a:extLst>
              <a:ext uri="{FF2B5EF4-FFF2-40B4-BE49-F238E27FC236}">
                <a16:creationId xmlns:a16="http://schemas.microsoft.com/office/drawing/2014/main" id="{45A8F1F1-5409-089B-B938-F323DA9DE40B}"/>
              </a:ext>
            </a:extLst>
          </p:cNvPr>
          <p:cNvSpPr txBox="1"/>
          <p:nvPr/>
        </p:nvSpPr>
        <p:spPr>
          <a:xfrm>
            <a:off x="3285100" y="4398923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C78D8"/>
                </a:solidFill>
                <a:latin typeface="Noto Sans KR"/>
                <a:ea typeface="Noto Sans KR"/>
                <a:cs typeface="Noto Sans KR"/>
                <a:sym typeface="Noto Sans KR"/>
              </a:rPr>
              <a:t>stride 2</a:t>
            </a:r>
            <a:endParaRPr sz="1300">
              <a:solidFill>
                <a:srgbClr val="3C78D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" name="Google Shape;418;g36f27cbff70_1_123">
            <a:extLst>
              <a:ext uri="{FF2B5EF4-FFF2-40B4-BE49-F238E27FC236}">
                <a16:creationId xmlns:a16="http://schemas.microsoft.com/office/drawing/2014/main" id="{545B7EE3-055A-B961-D846-30E17946AACF}"/>
              </a:ext>
            </a:extLst>
          </p:cNvPr>
          <p:cNvSpPr/>
          <p:nvPr/>
        </p:nvSpPr>
        <p:spPr>
          <a:xfrm>
            <a:off x="4610275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19;g36f27cbff70_1_123">
            <a:extLst>
              <a:ext uri="{FF2B5EF4-FFF2-40B4-BE49-F238E27FC236}">
                <a16:creationId xmlns:a16="http://schemas.microsoft.com/office/drawing/2014/main" id="{53DB43BE-630C-F074-E7EF-EACC5FAA7A2B}"/>
              </a:ext>
            </a:extLst>
          </p:cNvPr>
          <p:cNvSpPr/>
          <p:nvPr/>
        </p:nvSpPr>
        <p:spPr>
          <a:xfrm>
            <a:off x="5375950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420;g36f27cbff70_1_123">
            <a:extLst>
              <a:ext uri="{FF2B5EF4-FFF2-40B4-BE49-F238E27FC236}">
                <a16:creationId xmlns:a16="http://schemas.microsoft.com/office/drawing/2014/main" id="{D0CCE2F0-797A-B84B-FC03-C851E35FF0F3}"/>
              </a:ext>
            </a:extLst>
          </p:cNvPr>
          <p:cNvSpPr/>
          <p:nvPr/>
        </p:nvSpPr>
        <p:spPr>
          <a:xfrm>
            <a:off x="4610275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421;g36f27cbff70_1_123">
            <a:extLst>
              <a:ext uri="{FF2B5EF4-FFF2-40B4-BE49-F238E27FC236}">
                <a16:creationId xmlns:a16="http://schemas.microsoft.com/office/drawing/2014/main" id="{D49399D4-58B3-5D04-517B-E0A4E2C75480}"/>
              </a:ext>
            </a:extLst>
          </p:cNvPr>
          <p:cNvSpPr/>
          <p:nvPr/>
        </p:nvSpPr>
        <p:spPr>
          <a:xfrm>
            <a:off x="5375950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" name="Google Shape;422;g36f27cbff70_1_123">
            <a:extLst>
              <a:ext uri="{FF2B5EF4-FFF2-40B4-BE49-F238E27FC236}">
                <a16:creationId xmlns:a16="http://schemas.microsoft.com/office/drawing/2014/main" id="{896318AE-FE96-7982-61EE-B25FC5AE5215}"/>
              </a:ext>
            </a:extLst>
          </p:cNvPr>
          <p:cNvGraphicFramePr/>
          <p:nvPr/>
        </p:nvGraphicFramePr>
        <p:xfrm>
          <a:off x="7767450" y="3595410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Google Shape;423;g36f27cbff70_1_123">
            <a:extLst>
              <a:ext uri="{FF2B5EF4-FFF2-40B4-BE49-F238E27FC236}">
                <a16:creationId xmlns:a16="http://schemas.microsoft.com/office/drawing/2014/main" id="{7B27249E-8360-BA51-8274-728E6C820F62}"/>
              </a:ext>
            </a:extLst>
          </p:cNvPr>
          <p:cNvSpPr/>
          <p:nvPr/>
        </p:nvSpPr>
        <p:spPr>
          <a:xfrm>
            <a:off x="7767475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424;g36f27cbff70_1_123">
            <a:extLst>
              <a:ext uri="{FF2B5EF4-FFF2-40B4-BE49-F238E27FC236}">
                <a16:creationId xmlns:a16="http://schemas.microsoft.com/office/drawing/2014/main" id="{D7A7B056-27FA-40AD-BD63-0271B82BF05A}"/>
              </a:ext>
            </a:extLst>
          </p:cNvPr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25;g36f27cbff70_1_123">
            <a:extLst>
              <a:ext uri="{FF2B5EF4-FFF2-40B4-BE49-F238E27FC236}">
                <a16:creationId xmlns:a16="http://schemas.microsoft.com/office/drawing/2014/main" id="{D80645A3-926B-65FD-0B4C-5995EBDC5B89}"/>
              </a:ext>
            </a:extLst>
          </p:cNvPr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426;g36f27cbff70_1_123">
            <a:extLst>
              <a:ext uri="{FF2B5EF4-FFF2-40B4-BE49-F238E27FC236}">
                <a16:creationId xmlns:a16="http://schemas.microsoft.com/office/drawing/2014/main" id="{C044BB46-F7CB-12F2-9192-FC33D62A6734}"/>
              </a:ext>
            </a:extLst>
          </p:cNvPr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427;g36f27cbff70_1_123">
            <a:extLst>
              <a:ext uri="{FF2B5EF4-FFF2-40B4-BE49-F238E27FC236}">
                <a16:creationId xmlns:a16="http://schemas.microsoft.com/office/drawing/2014/main" id="{C9C2655F-7109-5CED-9874-960990AA418A}"/>
              </a:ext>
            </a:extLst>
          </p:cNvPr>
          <p:cNvSpPr/>
          <p:nvPr/>
        </p:nvSpPr>
        <p:spPr>
          <a:xfrm>
            <a:off x="23116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428;g36f27cbff70_1_123">
            <a:extLst>
              <a:ext uri="{FF2B5EF4-FFF2-40B4-BE49-F238E27FC236}">
                <a16:creationId xmlns:a16="http://schemas.microsoft.com/office/drawing/2014/main" id="{0415644E-502A-6536-8B00-D9CA3737CA2A}"/>
              </a:ext>
            </a:extLst>
          </p:cNvPr>
          <p:cNvSpPr/>
          <p:nvPr/>
        </p:nvSpPr>
        <p:spPr>
          <a:xfrm>
            <a:off x="26944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429;g36f27cbff70_1_123">
            <a:extLst>
              <a:ext uri="{FF2B5EF4-FFF2-40B4-BE49-F238E27FC236}">
                <a16:creationId xmlns:a16="http://schemas.microsoft.com/office/drawing/2014/main" id="{FD67782B-FA1D-4FAB-DD23-CDB5A54AD9BC}"/>
              </a:ext>
            </a:extLst>
          </p:cNvPr>
          <p:cNvSpPr/>
          <p:nvPr/>
        </p:nvSpPr>
        <p:spPr>
          <a:xfrm>
            <a:off x="23116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430;g36f27cbff70_1_123">
            <a:extLst>
              <a:ext uri="{FF2B5EF4-FFF2-40B4-BE49-F238E27FC236}">
                <a16:creationId xmlns:a16="http://schemas.microsoft.com/office/drawing/2014/main" id="{1E43AF4D-4127-D22B-6BF0-AE3128A34F65}"/>
              </a:ext>
            </a:extLst>
          </p:cNvPr>
          <p:cNvSpPr/>
          <p:nvPr/>
        </p:nvSpPr>
        <p:spPr>
          <a:xfrm>
            <a:off x="26944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" name="Google Shape;431;g36f27cbff70_1_123">
            <a:extLst>
              <a:ext uri="{FF2B5EF4-FFF2-40B4-BE49-F238E27FC236}">
                <a16:creationId xmlns:a16="http://schemas.microsoft.com/office/drawing/2014/main" id="{240C7F7C-DC84-5A06-32D9-4559190F89FB}"/>
              </a:ext>
            </a:extLst>
          </p:cNvPr>
          <p:cNvCxnSpPr/>
          <p:nvPr/>
        </p:nvCxnSpPr>
        <p:spPr>
          <a:xfrm>
            <a:off x="6407825" y="4376848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1" name="Google Shape;432;g36f27cbff70_1_123">
            <a:extLst>
              <a:ext uri="{FF2B5EF4-FFF2-40B4-BE49-F238E27FC236}">
                <a16:creationId xmlns:a16="http://schemas.microsoft.com/office/drawing/2014/main" id="{AA9018B3-C7D1-3337-CF68-4F8C8DC172AE}"/>
              </a:ext>
            </a:extLst>
          </p:cNvPr>
          <p:cNvSpPr/>
          <p:nvPr/>
        </p:nvSpPr>
        <p:spPr>
          <a:xfrm>
            <a:off x="4582150" y="3555323"/>
            <a:ext cx="819300" cy="843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433;g36f27cbff70_1_123">
            <a:extLst>
              <a:ext uri="{FF2B5EF4-FFF2-40B4-BE49-F238E27FC236}">
                <a16:creationId xmlns:a16="http://schemas.microsoft.com/office/drawing/2014/main" id="{2CCB2381-11A4-73D2-49B7-C02D6587F877}"/>
              </a:ext>
            </a:extLst>
          </p:cNvPr>
          <p:cNvSpPr/>
          <p:nvPr/>
        </p:nvSpPr>
        <p:spPr>
          <a:xfrm>
            <a:off x="81503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434;g36f27cbff70_1_123">
            <a:extLst>
              <a:ext uri="{FF2B5EF4-FFF2-40B4-BE49-F238E27FC236}">
                <a16:creationId xmlns:a16="http://schemas.microsoft.com/office/drawing/2014/main" id="{00992535-E34E-4041-1B6F-6BCB866DC4F8}"/>
              </a:ext>
            </a:extLst>
          </p:cNvPr>
          <p:cNvSpPr/>
          <p:nvPr/>
        </p:nvSpPr>
        <p:spPr>
          <a:xfrm>
            <a:off x="81503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435;g36f27cbff70_1_123">
            <a:extLst>
              <a:ext uri="{FF2B5EF4-FFF2-40B4-BE49-F238E27FC236}">
                <a16:creationId xmlns:a16="http://schemas.microsoft.com/office/drawing/2014/main" id="{8792F930-2F83-0152-0C6C-640F61B6721D}"/>
              </a:ext>
            </a:extLst>
          </p:cNvPr>
          <p:cNvSpPr/>
          <p:nvPr/>
        </p:nvSpPr>
        <p:spPr>
          <a:xfrm>
            <a:off x="7767475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4;g36de4f831eb_1_207">
            <a:extLst>
              <a:ext uri="{FF2B5EF4-FFF2-40B4-BE49-F238E27FC236}">
                <a16:creationId xmlns:a16="http://schemas.microsoft.com/office/drawing/2014/main" id="{5ABF0D3B-0877-66C0-22FB-BC3555D56191}"/>
              </a:ext>
            </a:extLst>
          </p:cNvPr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" name="Google Shape;304;g36f27cbff70_1_377">
            <a:extLst>
              <a:ext uri="{FF2B5EF4-FFF2-40B4-BE49-F238E27FC236}">
                <a16:creationId xmlns:a16="http://schemas.microsoft.com/office/drawing/2014/main" id="{2A7415E9-BB2D-4B6B-9400-314CBA04B93F}"/>
              </a:ext>
            </a:extLst>
          </p:cNvPr>
          <p:cNvSpPr txBox="1"/>
          <p:nvPr/>
        </p:nvSpPr>
        <p:spPr>
          <a:xfrm>
            <a:off x="815340" y="2386837"/>
            <a:ext cx="754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Step마다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2x2 Up-conv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(stride: 2)을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feature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map의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해상도가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2배로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늘어남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f27cbff70_1_45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5" name="Google Shape;335;g36f27cbff70_1_45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6" name="Google Shape;336;g36f27cbff70_1_45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7" name="Google Shape;337;g36f27cbff70_1_45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Architecture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" name="Google Shape;413;g36f27cbff70_1_123">
            <a:extLst>
              <a:ext uri="{FF2B5EF4-FFF2-40B4-BE49-F238E27FC236}">
                <a16:creationId xmlns:a16="http://schemas.microsoft.com/office/drawing/2014/main" id="{AAA3F417-C66A-9F42-99F7-8F5CC04A16E8}"/>
              </a:ext>
            </a:extLst>
          </p:cNvPr>
          <p:cNvGraphicFramePr/>
          <p:nvPr/>
        </p:nvGraphicFramePr>
        <p:xfrm>
          <a:off x="2311600" y="3969686"/>
          <a:ext cx="7681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Google Shape;414;g36f27cbff70_1_123">
            <a:extLst>
              <a:ext uri="{FF2B5EF4-FFF2-40B4-BE49-F238E27FC236}">
                <a16:creationId xmlns:a16="http://schemas.microsoft.com/office/drawing/2014/main" id="{427493A4-D4EA-7BFC-1B31-4568734A73E7}"/>
              </a:ext>
            </a:extLst>
          </p:cNvPr>
          <p:cNvSpPr txBox="1"/>
          <p:nvPr/>
        </p:nvSpPr>
        <p:spPr>
          <a:xfrm>
            <a:off x="2286000" y="4773148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" name="Google Shape;415;g36f27cbff70_1_123">
            <a:extLst>
              <a:ext uri="{FF2B5EF4-FFF2-40B4-BE49-F238E27FC236}">
                <a16:creationId xmlns:a16="http://schemas.microsoft.com/office/drawing/2014/main" id="{5FE82B07-C58D-FB7B-056F-F23AF7EF2298}"/>
              </a:ext>
            </a:extLst>
          </p:cNvPr>
          <p:cNvGraphicFramePr/>
          <p:nvPr/>
        </p:nvGraphicFramePr>
        <p:xfrm>
          <a:off x="4610250" y="3584448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Google Shape;416;g36f27cbff70_1_123">
            <a:extLst>
              <a:ext uri="{FF2B5EF4-FFF2-40B4-BE49-F238E27FC236}">
                <a16:creationId xmlns:a16="http://schemas.microsoft.com/office/drawing/2014/main" id="{EEA8E017-FDC8-82E4-EC0D-BDD7574A23A7}"/>
              </a:ext>
            </a:extLst>
          </p:cNvPr>
          <p:cNvCxnSpPr/>
          <p:nvPr/>
        </p:nvCxnSpPr>
        <p:spPr>
          <a:xfrm>
            <a:off x="3360400" y="4376836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7" name="Google Shape;417;g36f27cbff70_1_123">
            <a:extLst>
              <a:ext uri="{FF2B5EF4-FFF2-40B4-BE49-F238E27FC236}">
                <a16:creationId xmlns:a16="http://schemas.microsoft.com/office/drawing/2014/main" id="{D214C39C-FA30-2A3D-EE62-1527ED32B45D}"/>
              </a:ext>
            </a:extLst>
          </p:cNvPr>
          <p:cNvSpPr txBox="1"/>
          <p:nvPr/>
        </p:nvSpPr>
        <p:spPr>
          <a:xfrm>
            <a:off x="3285100" y="4398923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C78D8"/>
                </a:solidFill>
                <a:latin typeface="Noto Sans KR"/>
                <a:ea typeface="Noto Sans KR"/>
                <a:cs typeface="Noto Sans KR"/>
                <a:sym typeface="Noto Sans KR"/>
              </a:rPr>
              <a:t>stride 2</a:t>
            </a:r>
            <a:endParaRPr sz="1300">
              <a:solidFill>
                <a:srgbClr val="3C78D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" name="Google Shape;418;g36f27cbff70_1_123">
            <a:extLst>
              <a:ext uri="{FF2B5EF4-FFF2-40B4-BE49-F238E27FC236}">
                <a16:creationId xmlns:a16="http://schemas.microsoft.com/office/drawing/2014/main" id="{7DBFF7BB-6AB3-BAAD-BF33-0B4FC441DB77}"/>
              </a:ext>
            </a:extLst>
          </p:cNvPr>
          <p:cNvSpPr/>
          <p:nvPr/>
        </p:nvSpPr>
        <p:spPr>
          <a:xfrm>
            <a:off x="4610275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419;g36f27cbff70_1_123">
            <a:extLst>
              <a:ext uri="{FF2B5EF4-FFF2-40B4-BE49-F238E27FC236}">
                <a16:creationId xmlns:a16="http://schemas.microsoft.com/office/drawing/2014/main" id="{7E3FB650-065A-57B2-B37B-F4911E8BB887}"/>
              </a:ext>
            </a:extLst>
          </p:cNvPr>
          <p:cNvSpPr/>
          <p:nvPr/>
        </p:nvSpPr>
        <p:spPr>
          <a:xfrm>
            <a:off x="5375950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420;g36f27cbff70_1_123">
            <a:extLst>
              <a:ext uri="{FF2B5EF4-FFF2-40B4-BE49-F238E27FC236}">
                <a16:creationId xmlns:a16="http://schemas.microsoft.com/office/drawing/2014/main" id="{26490815-B5A5-28B2-4D3E-C8CF72E8721E}"/>
              </a:ext>
            </a:extLst>
          </p:cNvPr>
          <p:cNvSpPr/>
          <p:nvPr/>
        </p:nvSpPr>
        <p:spPr>
          <a:xfrm>
            <a:off x="4610275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421;g36f27cbff70_1_123">
            <a:extLst>
              <a:ext uri="{FF2B5EF4-FFF2-40B4-BE49-F238E27FC236}">
                <a16:creationId xmlns:a16="http://schemas.microsoft.com/office/drawing/2014/main" id="{222FD60A-EE68-53C4-81BD-5A6436692BA5}"/>
              </a:ext>
            </a:extLst>
          </p:cNvPr>
          <p:cNvSpPr/>
          <p:nvPr/>
        </p:nvSpPr>
        <p:spPr>
          <a:xfrm>
            <a:off x="5375950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2" name="Google Shape;422;g36f27cbff70_1_123">
            <a:extLst>
              <a:ext uri="{FF2B5EF4-FFF2-40B4-BE49-F238E27FC236}">
                <a16:creationId xmlns:a16="http://schemas.microsoft.com/office/drawing/2014/main" id="{73683D0C-E2C7-966A-6575-92E78E963122}"/>
              </a:ext>
            </a:extLst>
          </p:cNvPr>
          <p:cNvGraphicFramePr/>
          <p:nvPr/>
        </p:nvGraphicFramePr>
        <p:xfrm>
          <a:off x="7767450" y="3595410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Google Shape;423;g36f27cbff70_1_123">
            <a:extLst>
              <a:ext uri="{FF2B5EF4-FFF2-40B4-BE49-F238E27FC236}">
                <a16:creationId xmlns:a16="http://schemas.microsoft.com/office/drawing/2014/main" id="{8F104183-5D4C-A7F3-B35C-82AAB24352F0}"/>
              </a:ext>
            </a:extLst>
          </p:cNvPr>
          <p:cNvSpPr/>
          <p:nvPr/>
        </p:nvSpPr>
        <p:spPr>
          <a:xfrm>
            <a:off x="7767475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24;g36f27cbff70_1_123">
            <a:extLst>
              <a:ext uri="{FF2B5EF4-FFF2-40B4-BE49-F238E27FC236}">
                <a16:creationId xmlns:a16="http://schemas.microsoft.com/office/drawing/2014/main" id="{1C0E6D54-B1B4-DC4D-EBE9-42F74763162D}"/>
              </a:ext>
            </a:extLst>
          </p:cNvPr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425;g36f27cbff70_1_123">
            <a:extLst>
              <a:ext uri="{FF2B5EF4-FFF2-40B4-BE49-F238E27FC236}">
                <a16:creationId xmlns:a16="http://schemas.microsoft.com/office/drawing/2014/main" id="{D3F18D17-53C5-F801-57E8-F21F6FD29E3E}"/>
              </a:ext>
            </a:extLst>
          </p:cNvPr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426;g36f27cbff70_1_123">
            <a:extLst>
              <a:ext uri="{FF2B5EF4-FFF2-40B4-BE49-F238E27FC236}">
                <a16:creationId xmlns:a16="http://schemas.microsoft.com/office/drawing/2014/main" id="{197BD2BD-CA97-61F8-0B5D-F13613714D70}"/>
              </a:ext>
            </a:extLst>
          </p:cNvPr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427;g36f27cbff70_1_123">
            <a:extLst>
              <a:ext uri="{FF2B5EF4-FFF2-40B4-BE49-F238E27FC236}">
                <a16:creationId xmlns:a16="http://schemas.microsoft.com/office/drawing/2014/main" id="{9F61D528-6968-8FE3-7289-FAEDFD26C9C9}"/>
              </a:ext>
            </a:extLst>
          </p:cNvPr>
          <p:cNvSpPr/>
          <p:nvPr/>
        </p:nvSpPr>
        <p:spPr>
          <a:xfrm>
            <a:off x="23116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428;g36f27cbff70_1_123">
            <a:extLst>
              <a:ext uri="{FF2B5EF4-FFF2-40B4-BE49-F238E27FC236}">
                <a16:creationId xmlns:a16="http://schemas.microsoft.com/office/drawing/2014/main" id="{24BBFFA2-00F0-916C-3F47-856A79C33817}"/>
              </a:ext>
            </a:extLst>
          </p:cNvPr>
          <p:cNvSpPr/>
          <p:nvPr/>
        </p:nvSpPr>
        <p:spPr>
          <a:xfrm>
            <a:off x="26944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429;g36f27cbff70_1_123">
            <a:extLst>
              <a:ext uri="{FF2B5EF4-FFF2-40B4-BE49-F238E27FC236}">
                <a16:creationId xmlns:a16="http://schemas.microsoft.com/office/drawing/2014/main" id="{58370CDE-A451-4889-1FC4-D6F97AB8D463}"/>
              </a:ext>
            </a:extLst>
          </p:cNvPr>
          <p:cNvSpPr/>
          <p:nvPr/>
        </p:nvSpPr>
        <p:spPr>
          <a:xfrm>
            <a:off x="23116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430;g36f27cbff70_1_123">
            <a:extLst>
              <a:ext uri="{FF2B5EF4-FFF2-40B4-BE49-F238E27FC236}">
                <a16:creationId xmlns:a16="http://schemas.microsoft.com/office/drawing/2014/main" id="{E14CA640-3225-BA65-1060-E4FB53D17FD7}"/>
              </a:ext>
            </a:extLst>
          </p:cNvPr>
          <p:cNvSpPr/>
          <p:nvPr/>
        </p:nvSpPr>
        <p:spPr>
          <a:xfrm>
            <a:off x="26944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431;g36f27cbff70_1_123">
            <a:extLst>
              <a:ext uri="{FF2B5EF4-FFF2-40B4-BE49-F238E27FC236}">
                <a16:creationId xmlns:a16="http://schemas.microsoft.com/office/drawing/2014/main" id="{003CCA4D-D7A1-785E-9FA2-55062A74FB0B}"/>
              </a:ext>
            </a:extLst>
          </p:cNvPr>
          <p:cNvCxnSpPr/>
          <p:nvPr/>
        </p:nvCxnSpPr>
        <p:spPr>
          <a:xfrm>
            <a:off x="6407825" y="4376848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2" name="Google Shape;432;g36f27cbff70_1_123">
            <a:extLst>
              <a:ext uri="{FF2B5EF4-FFF2-40B4-BE49-F238E27FC236}">
                <a16:creationId xmlns:a16="http://schemas.microsoft.com/office/drawing/2014/main" id="{DF899011-6E33-4475-5BFE-83C00B3BEAF3}"/>
              </a:ext>
            </a:extLst>
          </p:cNvPr>
          <p:cNvSpPr/>
          <p:nvPr/>
        </p:nvSpPr>
        <p:spPr>
          <a:xfrm>
            <a:off x="4966275" y="3555323"/>
            <a:ext cx="819300" cy="843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433;g36f27cbff70_1_123">
            <a:extLst>
              <a:ext uri="{FF2B5EF4-FFF2-40B4-BE49-F238E27FC236}">
                <a16:creationId xmlns:a16="http://schemas.microsoft.com/office/drawing/2014/main" id="{61FB6796-26C7-0103-241C-BB374F12A7E2}"/>
              </a:ext>
            </a:extLst>
          </p:cNvPr>
          <p:cNvSpPr/>
          <p:nvPr/>
        </p:nvSpPr>
        <p:spPr>
          <a:xfrm>
            <a:off x="81503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434;g36f27cbff70_1_123">
            <a:extLst>
              <a:ext uri="{FF2B5EF4-FFF2-40B4-BE49-F238E27FC236}">
                <a16:creationId xmlns:a16="http://schemas.microsoft.com/office/drawing/2014/main" id="{D06676F9-CE7E-9661-D41E-9F7C2C7B0B62}"/>
              </a:ext>
            </a:extLst>
          </p:cNvPr>
          <p:cNvSpPr/>
          <p:nvPr/>
        </p:nvSpPr>
        <p:spPr>
          <a:xfrm>
            <a:off x="81503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435;g36f27cbff70_1_123">
            <a:extLst>
              <a:ext uri="{FF2B5EF4-FFF2-40B4-BE49-F238E27FC236}">
                <a16:creationId xmlns:a16="http://schemas.microsoft.com/office/drawing/2014/main" id="{45BE12AB-AE61-BAF8-06A6-98FC552225E9}"/>
              </a:ext>
            </a:extLst>
          </p:cNvPr>
          <p:cNvSpPr/>
          <p:nvPr/>
        </p:nvSpPr>
        <p:spPr>
          <a:xfrm>
            <a:off x="7767475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436;g36f27cbff70_1_123">
            <a:extLst>
              <a:ext uri="{FF2B5EF4-FFF2-40B4-BE49-F238E27FC236}">
                <a16:creationId xmlns:a16="http://schemas.microsoft.com/office/drawing/2014/main" id="{722E10E3-7EA9-EBD2-834C-483A66FF4D75}"/>
              </a:ext>
            </a:extLst>
          </p:cNvPr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437;g36f27cbff70_1_123">
            <a:extLst>
              <a:ext uri="{FF2B5EF4-FFF2-40B4-BE49-F238E27FC236}">
                <a16:creationId xmlns:a16="http://schemas.microsoft.com/office/drawing/2014/main" id="{9312B4E8-5B7E-3132-3242-DF51C6576E1D}"/>
              </a:ext>
            </a:extLst>
          </p:cNvPr>
          <p:cNvSpPr/>
          <p:nvPr/>
        </p:nvSpPr>
        <p:spPr>
          <a:xfrm>
            <a:off x="853315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04;g36f27cbff70_1_377">
            <a:extLst>
              <a:ext uri="{FF2B5EF4-FFF2-40B4-BE49-F238E27FC236}">
                <a16:creationId xmlns:a16="http://schemas.microsoft.com/office/drawing/2014/main" id="{34AB7FF2-9583-B13F-0446-B874AF1BF83B}"/>
              </a:ext>
            </a:extLst>
          </p:cNvPr>
          <p:cNvSpPr txBox="1"/>
          <p:nvPr/>
        </p:nvSpPr>
        <p:spPr>
          <a:xfrm>
            <a:off x="815340" y="2025325"/>
            <a:ext cx="7337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171450">
              <a:buSzPts val="1800"/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Noto Sans KR"/>
                <a:ea typeface="Noto Sans KR"/>
                <a:cs typeface="Noto Sans KR"/>
                <a:sym typeface="Noto Sans KR"/>
              </a:rPr>
              <a:t>   Transposed convolution</a:t>
            </a:r>
            <a:endParaRPr lang="en-US" altLang="ko-KR"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" name="Google Shape;284;g36de4f831eb_1_207">
            <a:extLst>
              <a:ext uri="{FF2B5EF4-FFF2-40B4-BE49-F238E27FC236}">
                <a16:creationId xmlns:a16="http://schemas.microsoft.com/office/drawing/2014/main" id="{C6A838C1-DCC3-D6D5-62DA-96CEB000849B}"/>
              </a:ext>
            </a:extLst>
          </p:cNvPr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" name="Google Shape;304;g36f27cbff70_1_377">
            <a:extLst>
              <a:ext uri="{FF2B5EF4-FFF2-40B4-BE49-F238E27FC236}">
                <a16:creationId xmlns:a16="http://schemas.microsoft.com/office/drawing/2014/main" id="{8BD63ED6-1FB4-99DA-00DF-9AECEB018E82}"/>
              </a:ext>
            </a:extLst>
          </p:cNvPr>
          <p:cNvSpPr txBox="1"/>
          <p:nvPr/>
        </p:nvSpPr>
        <p:spPr>
          <a:xfrm>
            <a:off x="815340" y="2386837"/>
            <a:ext cx="754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Step마다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2x2 Up-conv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(stride: 2)을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feature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map의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해상도가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2배로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늘어남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6f27cbff70_1_86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1" name="Google Shape;371;g36f27cbff70_1_86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2" name="Google Shape;372;g36f27cbff70_1_86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g36f27cbff70_1_86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Architecture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" name="Google Shape;413;g36f27cbff70_1_123">
            <a:extLst>
              <a:ext uri="{FF2B5EF4-FFF2-40B4-BE49-F238E27FC236}">
                <a16:creationId xmlns:a16="http://schemas.microsoft.com/office/drawing/2014/main" id="{2E0D0345-AEEF-276D-37B9-0BD350927FE3}"/>
              </a:ext>
            </a:extLst>
          </p:cNvPr>
          <p:cNvGraphicFramePr/>
          <p:nvPr/>
        </p:nvGraphicFramePr>
        <p:xfrm>
          <a:off x="2311600" y="3969686"/>
          <a:ext cx="7681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Google Shape;414;g36f27cbff70_1_123">
            <a:extLst>
              <a:ext uri="{FF2B5EF4-FFF2-40B4-BE49-F238E27FC236}">
                <a16:creationId xmlns:a16="http://schemas.microsoft.com/office/drawing/2014/main" id="{688791A4-6600-6F39-F352-5703624E1980}"/>
              </a:ext>
            </a:extLst>
          </p:cNvPr>
          <p:cNvSpPr txBox="1"/>
          <p:nvPr/>
        </p:nvSpPr>
        <p:spPr>
          <a:xfrm>
            <a:off x="2286000" y="4773148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" name="Google Shape;415;g36f27cbff70_1_123">
            <a:extLst>
              <a:ext uri="{FF2B5EF4-FFF2-40B4-BE49-F238E27FC236}">
                <a16:creationId xmlns:a16="http://schemas.microsoft.com/office/drawing/2014/main" id="{31CD17A1-3335-DD4D-FDB9-C9FF2D384ED3}"/>
              </a:ext>
            </a:extLst>
          </p:cNvPr>
          <p:cNvGraphicFramePr/>
          <p:nvPr/>
        </p:nvGraphicFramePr>
        <p:xfrm>
          <a:off x="4610250" y="3584448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Google Shape;416;g36f27cbff70_1_123">
            <a:extLst>
              <a:ext uri="{FF2B5EF4-FFF2-40B4-BE49-F238E27FC236}">
                <a16:creationId xmlns:a16="http://schemas.microsoft.com/office/drawing/2014/main" id="{0E61F000-B0E1-369F-B1C4-6BF09B56A138}"/>
              </a:ext>
            </a:extLst>
          </p:cNvPr>
          <p:cNvCxnSpPr/>
          <p:nvPr/>
        </p:nvCxnSpPr>
        <p:spPr>
          <a:xfrm>
            <a:off x="3360400" y="4376836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7" name="Google Shape;417;g36f27cbff70_1_123">
            <a:extLst>
              <a:ext uri="{FF2B5EF4-FFF2-40B4-BE49-F238E27FC236}">
                <a16:creationId xmlns:a16="http://schemas.microsoft.com/office/drawing/2014/main" id="{672E6E2B-8C15-E666-1CD0-20BADD11B52C}"/>
              </a:ext>
            </a:extLst>
          </p:cNvPr>
          <p:cNvSpPr txBox="1"/>
          <p:nvPr/>
        </p:nvSpPr>
        <p:spPr>
          <a:xfrm>
            <a:off x="3285100" y="4398923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C78D8"/>
                </a:solidFill>
                <a:latin typeface="Noto Sans KR"/>
                <a:ea typeface="Noto Sans KR"/>
                <a:cs typeface="Noto Sans KR"/>
                <a:sym typeface="Noto Sans KR"/>
              </a:rPr>
              <a:t>stride 2</a:t>
            </a:r>
            <a:endParaRPr sz="1300">
              <a:solidFill>
                <a:srgbClr val="3C78D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" name="Google Shape;418;g36f27cbff70_1_123">
            <a:extLst>
              <a:ext uri="{FF2B5EF4-FFF2-40B4-BE49-F238E27FC236}">
                <a16:creationId xmlns:a16="http://schemas.microsoft.com/office/drawing/2014/main" id="{E81BE27A-88A9-CE12-2A9A-F60AB82AA700}"/>
              </a:ext>
            </a:extLst>
          </p:cNvPr>
          <p:cNvSpPr/>
          <p:nvPr/>
        </p:nvSpPr>
        <p:spPr>
          <a:xfrm>
            <a:off x="4610275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419;g36f27cbff70_1_123">
            <a:extLst>
              <a:ext uri="{FF2B5EF4-FFF2-40B4-BE49-F238E27FC236}">
                <a16:creationId xmlns:a16="http://schemas.microsoft.com/office/drawing/2014/main" id="{561D1D0B-D8BB-F446-210C-F99847745BE5}"/>
              </a:ext>
            </a:extLst>
          </p:cNvPr>
          <p:cNvSpPr/>
          <p:nvPr/>
        </p:nvSpPr>
        <p:spPr>
          <a:xfrm>
            <a:off x="5375950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420;g36f27cbff70_1_123">
            <a:extLst>
              <a:ext uri="{FF2B5EF4-FFF2-40B4-BE49-F238E27FC236}">
                <a16:creationId xmlns:a16="http://schemas.microsoft.com/office/drawing/2014/main" id="{8760E116-4FAD-873C-BE5B-CFF5189839F9}"/>
              </a:ext>
            </a:extLst>
          </p:cNvPr>
          <p:cNvSpPr/>
          <p:nvPr/>
        </p:nvSpPr>
        <p:spPr>
          <a:xfrm>
            <a:off x="4610275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421;g36f27cbff70_1_123">
            <a:extLst>
              <a:ext uri="{FF2B5EF4-FFF2-40B4-BE49-F238E27FC236}">
                <a16:creationId xmlns:a16="http://schemas.microsoft.com/office/drawing/2014/main" id="{719843CD-B3B3-17A1-8ECC-3799B13C2279}"/>
              </a:ext>
            </a:extLst>
          </p:cNvPr>
          <p:cNvSpPr/>
          <p:nvPr/>
        </p:nvSpPr>
        <p:spPr>
          <a:xfrm>
            <a:off x="5375950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2" name="Google Shape;422;g36f27cbff70_1_123">
            <a:extLst>
              <a:ext uri="{FF2B5EF4-FFF2-40B4-BE49-F238E27FC236}">
                <a16:creationId xmlns:a16="http://schemas.microsoft.com/office/drawing/2014/main" id="{F1A6C538-AF5D-4FF6-3099-3171FB6E02DE}"/>
              </a:ext>
            </a:extLst>
          </p:cNvPr>
          <p:cNvGraphicFramePr/>
          <p:nvPr/>
        </p:nvGraphicFramePr>
        <p:xfrm>
          <a:off x="7767450" y="3595410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Google Shape;423;g36f27cbff70_1_123">
            <a:extLst>
              <a:ext uri="{FF2B5EF4-FFF2-40B4-BE49-F238E27FC236}">
                <a16:creationId xmlns:a16="http://schemas.microsoft.com/office/drawing/2014/main" id="{5B32D3D4-D1E1-F769-A014-CE2DDB503EC7}"/>
              </a:ext>
            </a:extLst>
          </p:cNvPr>
          <p:cNvSpPr/>
          <p:nvPr/>
        </p:nvSpPr>
        <p:spPr>
          <a:xfrm>
            <a:off x="7767475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24;g36f27cbff70_1_123">
            <a:extLst>
              <a:ext uri="{FF2B5EF4-FFF2-40B4-BE49-F238E27FC236}">
                <a16:creationId xmlns:a16="http://schemas.microsoft.com/office/drawing/2014/main" id="{3A5F8115-E505-E42B-9A07-5A38E13CE7E8}"/>
              </a:ext>
            </a:extLst>
          </p:cNvPr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425;g36f27cbff70_1_123">
            <a:extLst>
              <a:ext uri="{FF2B5EF4-FFF2-40B4-BE49-F238E27FC236}">
                <a16:creationId xmlns:a16="http://schemas.microsoft.com/office/drawing/2014/main" id="{87E353EC-767A-7BE7-D974-C5A8B0ABD178}"/>
              </a:ext>
            </a:extLst>
          </p:cNvPr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426;g36f27cbff70_1_123">
            <a:extLst>
              <a:ext uri="{FF2B5EF4-FFF2-40B4-BE49-F238E27FC236}">
                <a16:creationId xmlns:a16="http://schemas.microsoft.com/office/drawing/2014/main" id="{E3CDA1DD-0310-A72E-22F7-18DA2FB171E5}"/>
              </a:ext>
            </a:extLst>
          </p:cNvPr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427;g36f27cbff70_1_123">
            <a:extLst>
              <a:ext uri="{FF2B5EF4-FFF2-40B4-BE49-F238E27FC236}">
                <a16:creationId xmlns:a16="http://schemas.microsoft.com/office/drawing/2014/main" id="{5DE584E1-7ED3-4143-3C6E-32A75A4C1122}"/>
              </a:ext>
            </a:extLst>
          </p:cNvPr>
          <p:cNvSpPr/>
          <p:nvPr/>
        </p:nvSpPr>
        <p:spPr>
          <a:xfrm>
            <a:off x="23116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428;g36f27cbff70_1_123">
            <a:extLst>
              <a:ext uri="{FF2B5EF4-FFF2-40B4-BE49-F238E27FC236}">
                <a16:creationId xmlns:a16="http://schemas.microsoft.com/office/drawing/2014/main" id="{05D09641-11D8-A72E-31BE-5EC6494EE2BA}"/>
              </a:ext>
            </a:extLst>
          </p:cNvPr>
          <p:cNvSpPr/>
          <p:nvPr/>
        </p:nvSpPr>
        <p:spPr>
          <a:xfrm>
            <a:off x="26944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429;g36f27cbff70_1_123">
            <a:extLst>
              <a:ext uri="{FF2B5EF4-FFF2-40B4-BE49-F238E27FC236}">
                <a16:creationId xmlns:a16="http://schemas.microsoft.com/office/drawing/2014/main" id="{1D51ABA9-8E9C-3E88-EBC7-0479D9EB1FC5}"/>
              </a:ext>
            </a:extLst>
          </p:cNvPr>
          <p:cNvSpPr/>
          <p:nvPr/>
        </p:nvSpPr>
        <p:spPr>
          <a:xfrm>
            <a:off x="23116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430;g36f27cbff70_1_123">
            <a:extLst>
              <a:ext uri="{FF2B5EF4-FFF2-40B4-BE49-F238E27FC236}">
                <a16:creationId xmlns:a16="http://schemas.microsoft.com/office/drawing/2014/main" id="{A3B00E17-B4C1-A319-3B97-F8E882CFA8EA}"/>
              </a:ext>
            </a:extLst>
          </p:cNvPr>
          <p:cNvSpPr/>
          <p:nvPr/>
        </p:nvSpPr>
        <p:spPr>
          <a:xfrm>
            <a:off x="26944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431;g36f27cbff70_1_123">
            <a:extLst>
              <a:ext uri="{FF2B5EF4-FFF2-40B4-BE49-F238E27FC236}">
                <a16:creationId xmlns:a16="http://schemas.microsoft.com/office/drawing/2014/main" id="{CAF97930-CB9E-BCA7-E124-9E4EE96ABCA3}"/>
              </a:ext>
            </a:extLst>
          </p:cNvPr>
          <p:cNvCxnSpPr/>
          <p:nvPr/>
        </p:nvCxnSpPr>
        <p:spPr>
          <a:xfrm>
            <a:off x="6407825" y="4376848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2" name="Google Shape;432;g36f27cbff70_1_123">
            <a:extLst>
              <a:ext uri="{FF2B5EF4-FFF2-40B4-BE49-F238E27FC236}">
                <a16:creationId xmlns:a16="http://schemas.microsoft.com/office/drawing/2014/main" id="{137F0978-2232-CD04-A94F-9F022931EB2A}"/>
              </a:ext>
            </a:extLst>
          </p:cNvPr>
          <p:cNvSpPr/>
          <p:nvPr/>
        </p:nvSpPr>
        <p:spPr>
          <a:xfrm>
            <a:off x="5349100" y="3555323"/>
            <a:ext cx="819300" cy="843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433;g36f27cbff70_1_123">
            <a:extLst>
              <a:ext uri="{FF2B5EF4-FFF2-40B4-BE49-F238E27FC236}">
                <a16:creationId xmlns:a16="http://schemas.microsoft.com/office/drawing/2014/main" id="{5CD47C3E-E276-9CAB-0C67-A23A4614B680}"/>
              </a:ext>
            </a:extLst>
          </p:cNvPr>
          <p:cNvSpPr/>
          <p:nvPr/>
        </p:nvSpPr>
        <p:spPr>
          <a:xfrm>
            <a:off x="81503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434;g36f27cbff70_1_123">
            <a:extLst>
              <a:ext uri="{FF2B5EF4-FFF2-40B4-BE49-F238E27FC236}">
                <a16:creationId xmlns:a16="http://schemas.microsoft.com/office/drawing/2014/main" id="{E674A222-14EC-479E-FD67-ED8EF2E093D2}"/>
              </a:ext>
            </a:extLst>
          </p:cNvPr>
          <p:cNvSpPr/>
          <p:nvPr/>
        </p:nvSpPr>
        <p:spPr>
          <a:xfrm>
            <a:off x="81503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435;g36f27cbff70_1_123">
            <a:extLst>
              <a:ext uri="{FF2B5EF4-FFF2-40B4-BE49-F238E27FC236}">
                <a16:creationId xmlns:a16="http://schemas.microsoft.com/office/drawing/2014/main" id="{54A701B7-3413-1C24-113D-6396D5AD1413}"/>
              </a:ext>
            </a:extLst>
          </p:cNvPr>
          <p:cNvSpPr/>
          <p:nvPr/>
        </p:nvSpPr>
        <p:spPr>
          <a:xfrm>
            <a:off x="7767475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436;g36f27cbff70_1_123">
            <a:extLst>
              <a:ext uri="{FF2B5EF4-FFF2-40B4-BE49-F238E27FC236}">
                <a16:creationId xmlns:a16="http://schemas.microsoft.com/office/drawing/2014/main" id="{69601D44-A2EE-E7A5-0F45-F85C8EE58A9C}"/>
              </a:ext>
            </a:extLst>
          </p:cNvPr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437;g36f27cbff70_1_123">
            <a:extLst>
              <a:ext uri="{FF2B5EF4-FFF2-40B4-BE49-F238E27FC236}">
                <a16:creationId xmlns:a16="http://schemas.microsoft.com/office/drawing/2014/main" id="{3B293DFA-0636-ED92-F162-24F54576E740}"/>
              </a:ext>
            </a:extLst>
          </p:cNvPr>
          <p:cNvSpPr/>
          <p:nvPr/>
        </p:nvSpPr>
        <p:spPr>
          <a:xfrm>
            <a:off x="853315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438;g36f27cbff70_1_123">
            <a:extLst>
              <a:ext uri="{FF2B5EF4-FFF2-40B4-BE49-F238E27FC236}">
                <a16:creationId xmlns:a16="http://schemas.microsoft.com/office/drawing/2014/main" id="{FB8F63EC-0AEC-3B42-26B2-D3FA418024CB}"/>
              </a:ext>
            </a:extLst>
          </p:cNvPr>
          <p:cNvSpPr/>
          <p:nvPr/>
        </p:nvSpPr>
        <p:spPr>
          <a:xfrm>
            <a:off x="89160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439;g36f27cbff70_1_123">
            <a:extLst>
              <a:ext uri="{FF2B5EF4-FFF2-40B4-BE49-F238E27FC236}">
                <a16:creationId xmlns:a16="http://schemas.microsoft.com/office/drawing/2014/main" id="{450E5A82-C128-63FA-C7C0-15824ED14516}"/>
              </a:ext>
            </a:extLst>
          </p:cNvPr>
          <p:cNvSpPr/>
          <p:nvPr/>
        </p:nvSpPr>
        <p:spPr>
          <a:xfrm>
            <a:off x="89160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04;g36f27cbff70_1_377">
            <a:extLst>
              <a:ext uri="{FF2B5EF4-FFF2-40B4-BE49-F238E27FC236}">
                <a16:creationId xmlns:a16="http://schemas.microsoft.com/office/drawing/2014/main" id="{A42DF7C9-2751-47DD-3DD1-7C2EBAB73E4A}"/>
              </a:ext>
            </a:extLst>
          </p:cNvPr>
          <p:cNvSpPr txBox="1"/>
          <p:nvPr/>
        </p:nvSpPr>
        <p:spPr>
          <a:xfrm>
            <a:off x="815340" y="2025325"/>
            <a:ext cx="7337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171450">
              <a:buSzPts val="1800"/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Noto Sans KR"/>
                <a:ea typeface="Noto Sans KR"/>
                <a:cs typeface="Noto Sans KR"/>
                <a:sym typeface="Noto Sans KR"/>
              </a:rPr>
              <a:t>   Transposed convolution</a:t>
            </a:r>
            <a:endParaRPr lang="en-US" altLang="ko-KR"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" name="Google Shape;284;g36de4f831eb_1_207">
            <a:extLst>
              <a:ext uri="{FF2B5EF4-FFF2-40B4-BE49-F238E27FC236}">
                <a16:creationId xmlns:a16="http://schemas.microsoft.com/office/drawing/2014/main" id="{4A664C4B-FE13-8C85-E9A8-031C65B532EA}"/>
              </a:ext>
            </a:extLst>
          </p:cNvPr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" name="Google Shape;304;g36f27cbff70_1_377">
            <a:extLst>
              <a:ext uri="{FF2B5EF4-FFF2-40B4-BE49-F238E27FC236}">
                <a16:creationId xmlns:a16="http://schemas.microsoft.com/office/drawing/2014/main" id="{FC29277C-F9FC-C3D4-063F-EB7797288043}"/>
              </a:ext>
            </a:extLst>
          </p:cNvPr>
          <p:cNvSpPr txBox="1"/>
          <p:nvPr/>
        </p:nvSpPr>
        <p:spPr>
          <a:xfrm>
            <a:off x="815340" y="2386837"/>
            <a:ext cx="754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Step마다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2x2 Up-conv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(stride: 2)을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feature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map의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해상도가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2배로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늘어남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6f27cbff70_1_123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9" name="Google Shape;409;g36f27cbff70_1_123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16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0" name="Google Shape;410;g36f27cbff70_1_123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g36f27cbff70_1_123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Architecture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13" name="Google Shape;413;g36f27cbff70_1_123"/>
          <p:cNvGraphicFramePr/>
          <p:nvPr/>
        </p:nvGraphicFramePr>
        <p:xfrm>
          <a:off x="2311600" y="3969686"/>
          <a:ext cx="7681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4" name="Google Shape;414;g36f27cbff70_1_123"/>
          <p:cNvSpPr txBox="1"/>
          <p:nvPr/>
        </p:nvSpPr>
        <p:spPr>
          <a:xfrm>
            <a:off x="2286000" y="4773148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15" name="Google Shape;415;g36f27cbff70_1_123"/>
          <p:cNvGraphicFramePr/>
          <p:nvPr/>
        </p:nvGraphicFramePr>
        <p:xfrm>
          <a:off x="4610250" y="3584448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16" name="Google Shape;416;g36f27cbff70_1_123"/>
          <p:cNvCxnSpPr/>
          <p:nvPr/>
        </p:nvCxnSpPr>
        <p:spPr>
          <a:xfrm>
            <a:off x="3360400" y="4376836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417" name="Google Shape;417;g36f27cbff70_1_123"/>
          <p:cNvSpPr txBox="1"/>
          <p:nvPr/>
        </p:nvSpPr>
        <p:spPr>
          <a:xfrm>
            <a:off x="3285100" y="4398923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C78D8"/>
                </a:solidFill>
                <a:latin typeface="Noto Sans KR"/>
                <a:ea typeface="Noto Sans KR"/>
                <a:cs typeface="Noto Sans KR"/>
                <a:sym typeface="Noto Sans KR"/>
              </a:rPr>
              <a:t>stride 2</a:t>
            </a:r>
            <a:endParaRPr sz="1300">
              <a:solidFill>
                <a:srgbClr val="3C78D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8" name="Google Shape;418;g36f27cbff70_1_123"/>
          <p:cNvSpPr/>
          <p:nvPr/>
        </p:nvSpPr>
        <p:spPr>
          <a:xfrm>
            <a:off x="4610275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36f27cbff70_1_123"/>
          <p:cNvSpPr/>
          <p:nvPr/>
        </p:nvSpPr>
        <p:spPr>
          <a:xfrm>
            <a:off x="5375950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g36f27cbff70_1_123"/>
          <p:cNvSpPr/>
          <p:nvPr/>
        </p:nvSpPr>
        <p:spPr>
          <a:xfrm>
            <a:off x="4610275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6f27cbff70_1_123"/>
          <p:cNvSpPr/>
          <p:nvPr/>
        </p:nvSpPr>
        <p:spPr>
          <a:xfrm>
            <a:off x="5375950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22" name="Google Shape;422;g36f27cbff70_1_123"/>
          <p:cNvGraphicFramePr/>
          <p:nvPr/>
        </p:nvGraphicFramePr>
        <p:xfrm>
          <a:off x="7767450" y="3595410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3" name="Google Shape;423;g36f27cbff70_1_123"/>
          <p:cNvSpPr/>
          <p:nvPr/>
        </p:nvSpPr>
        <p:spPr>
          <a:xfrm>
            <a:off x="7767475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36f27cbff70_1_123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g36f27cbff70_1_123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g36f27cbff70_1_123"/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g36f27cbff70_1_123"/>
          <p:cNvSpPr/>
          <p:nvPr/>
        </p:nvSpPr>
        <p:spPr>
          <a:xfrm>
            <a:off x="23116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36f27cbff70_1_123"/>
          <p:cNvSpPr/>
          <p:nvPr/>
        </p:nvSpPr>
        <p:spPr>
          <a:xfrm>
            <a:off x="26944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6f27cbff70_1_123"/>
          <p:cNvSpPr/>
          <p:nvPr/>
        </p:nvSpPr>
        <p:spPr>
          <a:xfrm>
            <a:off x="23116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g36f27cbff70_1_123"/>
          <p:cNvSpPr/>
          <p:nvPr/>
        </p:nvSpPr>
        <p:spPr>
          <a:xfrm>
            <a:off x="26944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1" name="Google Shape;431;g36f27cbff70_1_123"/>
          <p:cNvCxnSpPr/>
          <p:nvPr/>
        </p:nvCxnSpPr>
        <p:spPr>
          <a:xfrm>
            <a:off x="6407825" y="4376848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432" name="Google Shape;432;g36f27cbff70_1_123"/>
          <p:cNvSpPr/>
          <p:nvPr/>
        </p:nvSpPr>
        <p:spPr>
          <a:xfrm>
            <a:off x="4582400" y="3955048"/>
            <a:ext cx="819300" cy="843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36f27cbff70_1_123"/>
          <p:cNvSpPr/>
          <p:nvPr/>
        </p:nvSpPr>
        <p:spPr>
          <a:xfrm>
            <a:off x="81503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36f27cbff70_1_123"/>
          <p:cNvSpPr/>
          <p:nvPr/>
        </p:nvSpPr>
        <p:spPr>
          <a:xfrm>
            <a:off x="81503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36f27cbff70_1_123"/>
          <p:cNvSpPr/>
          <p:nvPr/>
        </p:nvSpPr>
        <p:spPr>
          <a:xfrm>
            <a:off x="7767475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g36f27cbff70_1_123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6f27cbff70_1_123"/>
          <p:cNvSpPr/>
          <p:nvPr/>
        </p:nvSpPr>
        <p:spPr>
          <a:xfrm>
            <a:off x="853315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36f27cbff70_1_123"/>
          <p:cNvSpPr/>
          <p:nvPr/>
        </p:nvSpPr>
        <p:spPr>
          <a:xfrm>
            <a:off x="89160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36f27cbff70_1_123"/>
          <p:cNvSpPr/>
          <p:nvPr/>
        </p:nvSpPr>
        <p:spPr>
          <a:xfrm>
            <a:off x="89160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36f27cbff70_1_123"/>
          <p:cNvSpPr/>
          <p:nvPr/>
        </p:nvSpPr>
        <p:spPr>
          <a:xfrm>
            <a:off x="815030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36f27cbff70_1_123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04;g36f27cbff70_1_377">
            <a:extLst>
              <a:ext uri="{FF2B5EF4-FFF2-40B4-BE49-F238E27FC236}">
                <a16:creationId xmlns:a16="http://schemas.microsoft.com/office/drawing/2014/main" id="{A35DFCD6-0491-E209-03A5-9B501B9D96C8}"/>
              </a:ext>
            </a:extLst>
          </p:cNvPr>
          <p:cNvSpPr txBox="1"/>
          <p:nvPr/>
        </p:nvSpPr>
        <p:spPr>
          <a:xfrm>
            <a:off x="815340" y="2025325"/>
            <a:ext cx="7337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171450">
              <a:buSzPts val="1800"/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Noto Sans KR"/>
                <a:ea typeface="Noto Sans KR"/>
                <a:cs typeface="Noto Sans KR"/>
                <a:sym typeface="Noto Sans KR"/>
              </a:rPr>
              <a:t>   Transposed convolution</a:t>
            </a:r>
            <a:endParaRPr lang="en-US" altLang="ko-KR"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" name="Google Shape;284;g36de4f831eb_1_207">
            <a:extLst>
              <a:ext uri="{FF2B5EF4-FFF2-40B4-BE49-F238E27FC236}">
                <a16:creationId xmlns:a16="http://schemas.microsoft.com/office/drawing/2014/main" id="{7EB23826-C52D-F61D-88FC-A733B36801F9}"/>
              </a:ext>
            </a:extLst>
          </p:cNvPr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" name="Google Shape;304;g36f27cbff70_1_377">
            <a:extLst>
              <a:ext uri="{FF2B5EF4-FFF2-40B4-BE49-F238E27FC236}">
                <a16:creationId xmlns:a16="http://schemas.microsoft.com/office/drawing/2014/main" id="{0D9543C5-029D-6856-EA0C-45A8FCD8D01B}"/>
              </a:ext>
            </a:extLst>
          </p:cNvPr>
          <p:cNvSpPr txBox="1"/>
          <p:nvPr/>
        </p:nvSpPr>
        <p:spPr>
          <a:xfrm>
            <a:off x="815340" y="2386837"/>
            <a:ext cx="754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Step마다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2x2 Up-conv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(stride: 2)을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feature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map의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해상도가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2배로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늘어남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6f27cbff70_1_162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9" name="Google Shape;449;g36f27cbff70_1_162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17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0" name="Google Shape;450;g36f27cbff70_1_162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1" name="Google Shape;451;g36f27cbff70_1_162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Architecture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53" name="Google Shape;453;g36f27cbff70_1_162"/>
          <p:cNvGraphicFramePr/>
          <p:nvPr/>
        </p:nvGraphicFramePr>
        <p:xfrm>
          <a:off x="2311600" y="3969686"/>
          <a:ext cx="7681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4" name="Google Shape;454;g36f27cbff70_1_162"/>
          <p:cNvSpPr txBox="1"/>
          <p:nvPr/>
        </p:nvSpPr>
        <p:spPr>
          <a:xfrm>
            <a:off x="2286000" y="4773148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55" name="Google Shape;455;g36f27cbff70_1_162"/>
          <p:cNvGraphicFramePr/>
          <p:nvPr/>
        </p:nvGraphicFramePr>
        <p:xfrm>
          <a:off x="4610250" y="3584448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56" name="Google Shape;456;g36f27cbff70_1_162"/>
          <p:cNvCxnSpPr/>
          <p:nvPr/>
        </p:nvCxnSpPr>
        <p:spPr>
          <a:xfrm>
            <a:off x="3360400" y="4376836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457" name="Google Shape;457;g36f27cbff70_1_162"/>
          <p:cNvSpPr txBox="1"/>
          <p:nvPr/>
        </p:nvSpPr>
        <p:spPr>
          <a:xfrm>
            <a:off x="3285100" y="4398923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C78D8"/>
                </a:solidFill>
                <a:latin typeface="Noto Sans KR"/>
                <a:ea typeface="Noto Sans KR"/>
                <a:cs typeface="Noto Sans KR"/>
                <a:sym typeface="Noto Sans KR"/>
              </a:rPr>
              <a:t>stride 2</a:t>
            </a:r>
            <a:endParaRPr sz="1300">
              <a:solidFill>
                <a:srgbClr val="3C78D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8" name="Google Shape;458;g36f27cbff70_1_162"/>
          <p:cNvSpPr/>
          <p:nvPr/>
        </p:nvSpPr>
        <p:spPr>
          <a:xfrm>
            <a:off x="4610275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36f27cbff70_1_162"/>
          <p:cNvSpPr/>
          <p:nvPr/>
        </p:nvSpPr>
        <p:spPr>
          <a:xfrm>
            <a:off x="5375950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g36f27cbff70_1_162"/>
          <p:cNvSpPr/>
          <p:nvPr/>
        </p:nvSpPr>
        <p:spPr>
          <a:xfrm>
            <a:off x="4610275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g36f27cbff70_1_162"/>
          <p:cNvSpPr/>
          <p:nvPr/>
        </p:nvSpPr>
        <p:spPr>
          <a:xfrm>
            <a:off x="5375950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62" name="Google Shape;462;g36f27cbff70_1_162"/>
          <p:cNvGraphicFramePr/>
          <p:nvPr/>
        </p:nvGraphicFramePr>
        <p:xfrm>
          <a:off x="7767450" y="3595410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3" name="Google Shape;463;g36f27cbff70_1_162"/>
          <p:cNvSpPr/>
          <p:nvPr/>
        </p:nvSpPr>
        <p:spPr>
          <a:xfrm>
            <a:off x="7767475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g36f27cbff70_1_162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g36f27cbff70_1_162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g36f27cbff70_1_162"/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g36f27cbff70_1_162"/>
          <p:cNvSpPr/>
          <p:nvPr/>
        </p:nvSpPr>
        <p:spPr>
          <a:xfrm>
            <a:off x="23116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36f27cbff70_1_162"/>
          <p:cNvSpPr/>
          <p:nvPr/>
        </p:nvSpPr>
        <p:spPr>
          <a:xfrm>
            <a:off x="26944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36f27cbff70_1_162"/>
          <p:cNvSpPr/>
          <p:nvPr/>
        </p:nvSpPr>
        <p:spPr>
          <a:xfrm>
            <a:off x="23116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g36f27cbff70_1_162"/>
          <p:cNvSpPr/>
          <p:nvPr/>
        </p:nvSpPr>
        <p:spPr>
          <a:xfrm>
            <a:off x="26944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1" name="Google Shape;471;g36f27cbff70_1_162"/>
          <p:cNvCxnSpPr/>
          <p:nvPr/>
        </p:nvCxnSpPr>
        <p:spPr>
          <a:xfrm>
            <a:off x="6407825" y="4376848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472" name="Google Shape;472;g36f27cbff70_1_162"/>
          <p:cNvSpPr/>
          <p:nvPr/>
        </p:nvSpPr>
        <p:spPr>
          <a:xfrm>
            <a:off x="4966300" y="3955048"/>
            <a:ext cx="819300" cy="843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36f27cbff70_1_162"/>
          <p:cNvSpPr/>
          <p:nvPr/>
        </p:nvSpPr>
        <p:spPr>
          <a:xfrm>
            <a:off x="81503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36f27cbff70_1_162"/>
          <p:cNvSpPr/>
          <p:nvPr/>
        </p:nvSpPr>
        <p:spPr>
          <a:xfrm>
            <a:off x="81503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36f27cbff70_1_162"/>
          <p:cNvSpPr/>
          <p:nvPr/>
        </p:nvSpPr>
        <p:spPr>
          <a:xfrm>
            <a:off x="7767475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36f27cbff70_1_162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g36f27cbff70_1_162"/>
          <p:cNvSpPr/>
          <p:nvPr/>
        </p:nvSpPr>
        <p:spPr>
          <a:xfrm>
            <a:off x="853315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g36f27cbff70_1_162"/>
          <p:cNvSpPr/>
          <p:nvPr/>
        </p:nvSpPr>
        <p:spPr>
          <a:xfrm>
            <a:off x="89160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g36f27cbff70_1_162"/>
          <p:cNvSpPr/>
          <p:nvPr/>
        </p:nvSpPr>
        <p:spPr>
          <a:xfrm>
            <a:off x="89160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36f27cbff70_1_162"/>
          <p:cNvSpPr/>
          <p:nvPr/>
        </p:nvSpPr>
        <p:spPr>
          <a:xfrm>
            <a:off x="815030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g36f27cbff70_1_162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36f27cbff70_1_162"/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04;g36f27cbff70_1_377">
            <a:extLst>
              <a:ext uri="{FF2B5EF4-FFF2-40B4-BE49-F238E27FC236}">
                <a16:creationId xmlns:a16="http://schemas.microsoft.com/office/drawing/2014/main" id="{517EB7CB-3E45-108A-FF5A-2DD1F53D5234}"/>
              </a:ext>
            </a:extLst>
          </p:cNvPr>
          <p:cNvSpPr txBox="1"/>
          <p:nvPr/>
        </p:nvSpPr>
        <p:spPr>
          <a:xfrm>
            <a:off x="815340" y="2025325"/>
            <a:ext cx="7337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171450">
              <a:buSzPts val="1800"/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Noto Sans KR"/>
                <a:ea typeface="Noto Sans KR"/>
                <a:cs typeface="Noto Sans KR"/>
                <a:sym typeface="Noto Sans KR"/>
              </a:rPr>
              <a:t>   Transposed convolution</a:t>
            </a:r>
            <a:endParaRPr lang="en-US" altLang="ko-KR"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" name="Google Shape;284;g36de4f831eb_1_207">
            <a:extLst>
              <a:ext uri="{FF2B5EF4-FFF2-40B4-BE49-F238E27FC236}">
                <a16:creationId xmlns:a16="http://schemas.microsoft.com/office/drawing/2014/main" id="{D5B83C0D-C56C-F8C5-7CA2-E927BF6D2032}"/>
              </a:ext>
            </a:extLst>
          </p:cNvPr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" name="Google Shape;304;g36f27cbff70_1_377">
            <a:extLst>
              <a:ext uri="{FF2B5EF4-FFF2-40B4-BE49-F238E27FC236}">
                <a16:creationId xmlns:a16="http://schemas.microsoft.com/office/drawing/2014/main" id="{BD5E1862-9283-EE5D-C62C-10CCCA2EB306}"/>
              </a:ext>
            </a:extLst>
          </p:cNvPr>
          <p:cNvSpPr txBox="1"/>
          <p:nvPr/>
        </p:nvSpPr>
        <p:spPr>
          <a:xfrm>
            <a:off x="815340" y="2386837"/>
            <a:ext cx="754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Step마다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2x2 Up-conv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(stride: 2)을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feature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map의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해상도가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2배로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늘어남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6f27cbff70_1_202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0" name="Google Shape;490;g36f27cbff70_1_202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18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1" name="Google Shape;491;g36f27cbff70_1_202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2" name="Google Shape;492;g36f27cbff70_1_202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Architecture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94" name="Google Shape;494;g36f27cbff70_1_202"/>
          <p:cNvGraphicFramePr/>
          <p:nvPr/>
        </p:nvGraphicFramePr>
        <p:xfrm>
          <a:off x="2311600" y="3969686"/>
          <a:ext cx="7681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5" name="Google Shape;495;g36f27cbff70_1_202"/>
          <p:cNvSpPr txBox="1"/>
          <p:nvPr/>
        </p:nvSpPr>
        <p:spPr>
          <a:xfrm>
            <a:off x="2286000" y="4773148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96" name="Google Shape;496;g36f27cbff70_1_202"/>
          <p:cNvGraphicFramePr/>
          <p:nvPr/>
        </p:nvGraphicFramePr>
        <p:xfrm>
          <a:off x="4610250" y="3584448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97" name="Google Shape;497;g36f27cbff70_1_202"/>
          <p:cNvCxnSpPr/>
          <p:nvPr/>
        </p:nvCxnSpPr>
        <p:spPr>
          <a:xfrm>
            <a:off x="3360400" y="4376836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498" name="Google Shape;498;g36f27cbff70_1_202"/>
          <p:cNvSpPr txBox="1"/>
          <p:nvPr/>
        </p:nvSpPr>
        <p:spPr>
          <a:xfrm>
            <a:off x="3285100" y="4398923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C78D8"/>
                </a:solidFill>
                <a:latin typeface="Noto Sans KR"/>
                <a:ea typeface="Noto Sans KR"/>
                <a:cs typeface="Noto Sans KR"/>
                <a:sym typeface="Noto Sans KR"/>
              </a:rPr>
              <a:t>stride 2</a:t>
            </a:r>
            <a:endParaRPr sz="1300">
              <a:solidFill>
                <a:srgbClr val="3C78D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9" name="Google Shape;499;g36f27cbff70_1_202"/>
          <p:cNvSpPr/>
          <p:nvPr/>
        </p:nvSpPr>
        <p:spPr>
          <a:xfrm>
            <a:off x="4610275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36f27cbff70_1_202"/>
          <p:cNvSpPr/>
          <p:nvPr/>
        </p:nvSpPr>
        <p:spPr>
          <a:xfrm>
            <a:off x="5375950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g36f27cbff70_1_202"/>
          <p:cNvSpPr/>
          <p:nvPr/>
        </p:nvSpPr>
        <p:spPr>
          <a:xfrm>
            <a:off x="4610275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36f27cbff70_1_202"/>
          <p:cNvSpPr/>
          <p:nvPr/>
        </p:nvSpPr>
        <p:spPr>
          <a:xfrm>
            <a:off x="5375950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03" name="Google Shape;503;g36f27cbff70_1_202"/>
          <p:cNvGraphicFramePr/>
          <p:nvPr/>
        </p:nvGraphicFramePr>
        <p:xfrm>
          <a:off x="7767450" y="3595410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4" name="Google Shape;504;g36f27cbff70_1_202"/>
          <p:cNvSpPr/>
          <p:nvPr/>
        </p:nvSpPr>
        <p:spPr>
          <a:xfrm>
            <a:off x="7767475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g36f27cbff70_1_202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g36f27cbff70_1_202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36f27cbff70_1_202"/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6f27cbff70_1_202"/>
          <p:cNvSpPr/>
          <p:nvPr/>
        </p:nvSpPr>
        <p:spPr>
          <a:xfrm>
            <a:off x="23116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6f27cbff70_1_202"/>
          <p:cNvSpPr/>
          <p:nvPr/>
        </p:nvSpPr>
        <p:spPr>
          <a:xfrm>
            <a:off x="26944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g36f27cbff70_1_202"/>
          <p:cNvSpPr/>
          <p:nvPr/>
        </p:nvSpPr>
        <p:spPr>
          <a:xfrm>
            <a:off x="23116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g36f27cbff70_1_202"/>
          <p:cNvSpPr/>
          <p:nvPr/>
        </p:nvSpPr>
        <p:spPr>
          <a:xfrm>
            <a:off x="26944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2" name="Google Shape;512;g36f27cbff70_1_202"/>
          <p:cNvCxnSpPr/>
          <p:nvPr/>
        </p:nvCxnSpPr>
        <p:spPr>
          <a:xfrm>
            <a:off x="6407825" y="4376848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513" name="Google Shape;513;g36f27cbff70_1_202"/>
          <p:cNvSpPr/>
          <p:nvPr/>
        </p:nvSpPr>
        <p:spPr>
          <a:xfrm>
            <a:off x="5347300" y="3955048"/>
            <a:ext cx="819300" cy="843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g36f27cbff70_1_202"/>
          <p:cNvSpPr/>
          <p:nvPr/>
        </p:nvSpPr>
        <p:spPr>
          <a:xfrm>
            <a:off x="81503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g36f27cbff70_1_202"/>
          <p:cNvSpPr/>
          <p:nvPr/>
        </p:nvSpPr>
        <p:spPr>
          <a:xfrm>
            <a:off x="81503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g36f27cbff70_1_202"/>
          <p:cNvSpPr/>
          <p:nvPr/>
        </p:nvSpPr>
        <p:spPr>
          <a:xfrm>
            <a:off x="7767475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36f27cbff70_1_202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36f27cbff70_1_202"/>
          <p:cNvSpPr/>
          <p:nvPr/>
        </p:nvSpPr>
        <p:spPr>
          <a:xfrm>
            <a:off x="853315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g36f27cbff70_1_202"/>
          <p:cNvSpPr/>
          <p:nvPr/>
        </p:nvSpPr>
        <p:spPr>
          <a:xfrm>
            <a:off x="89160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g36f27cbff70_1_202"/>
          <p:cNvSpPr/>
          <p:nvPr/>
        </p:nvSpPr>
        <p:spPr>
          <a:xfrm>
            <a:off x="89160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36f27cbff70_1_202"/>
          <p:cNvSpPr/>
          <p:nvPr/>
        </p:nvSpPr>
        <p:spPr>
          <a:xfrm>
            <a:off x="815030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36f27cbff70_1_202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g36f27cbff70_1_202"/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g36f27cbff70_1_202"/>
          <p:cNvSpPr/>
          <p:nvPr/>
        </p:nvSpPr>
        <p:spPr>
          <a:xfrm>
            <a:off x="891600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04;g36f27cbff70_1_377">
            <a:extLst>
              <a:ext uri="{FF2B5EF4-FFF2-40B4-BE49-F238E27FC236}">
                <a16:creationId xmlns:a16="http://schemas.microsoft.com/office/drawing/2014/main" id="{AE5E5E82-79B4-C90E-D40A-B84482EF69BD}"/>
              </a:ext>
            </a:extLst>
          </p:cNvPr>
          <p:cNvSpPr txBox="1"/>
          <p:nvPr/>
        </p:nvSpPr>
        <p:spPr>
          <a:xfrm>
            <a:off x="815340" y="2025325"/>
            <a:ext cx="7337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171450">
              <a:buSzPts val="1800"/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Noto Sans KR"/>
                <a:ea typeface="Noto Sans KR"/>
                <a:cs typeface="Noto Sans KR"/>
                <a:sym typeface="Noto Sans KR"/>
              </a:rPr>
              <a:t>   Transposed convolution</a:t>
            </a:r>
            <a:endParaRPr lang="en-US" altLang="ko-KR"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" name="Google Shape;284;g36de4f831eb_1_207">
            <a:extLst>
              <a:ext uri="{FF2B5EF4-FFF2-40B4-BE49-F238E27FC236}">
                <a16:creationId xmlns:a16="http://schemas.microsoft.com/office/drawing/2014/main" id="{52783E90-363A-2BED-8AFB-003AB86C3544}"/>
              </a:ext>
            </a:extLst>
          </p:cNvPr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" name="Google Shape;304;g36f27cbff70_1_377">
            <a:extLst>
              <a:ext uri="{FF2B5EF4-FFF2-40B4-BE49-F238E27FC236}">
                <a16:creationId xmlns:a16="http://schemas.microsoft.com/office/drawing/2014/main" id="{096FAB9F-6E09-E6FF-682B-3A713DA7A40C}"/>
              </a:ext>
            </a:extLst>
          </p:cNvPr>
          <p:cNvSpPr txBox="1"/>
          <p:nvPr/>
        </p:nvSpPr>
        <p:spPr>
          <a:xfrm>
            <a:off x="815340" y="2386837"/>
            <a:ext cx="754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Step마다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2x2 Up-conv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(stride: 2)을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feature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map의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해상도가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2배로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늘어남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6f27cbff70_1_243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2" name="Google Shape;532;g36f27cbff70_1_243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19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3" name="Google Shape;533;g36f27cbff70_1_243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4" name="Google Shape;534;g36f27cbff70_1_243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Architecture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36" name="Google Shape;536;g36f27cbff70_1_243"/>
          <p:cNvGraphicFramePr/>
          <p:nvPr/>
        </p:nvGraphicFramePr>
        <p:xfrm>
          <a:off x="2311600" y="3969686"/>
          <a:ext cx="7681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Google Shape;537;g36f27cbff70_1_243"/>
          <p:cNvSpPr txBox="1"/>
          <p:nvPr/>
        </p:nvSpPr>
        <p:spPr>
          <a:xfrm>
            <a:off x="2286000" y="4773148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38" name="Google Shape;538;g36f27cbff70_1_243"/>
          <p:cNvGraphicFramePr/>
          <p:nvPr/>
        </p:nvGraphicFramePr>
        <p:xfrm>
          <a:off x="4610250" y="3584448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39" name="Google Shape;539;g36f27cbff70_1_243"/>
          <p:cNvCxnSpPr/>
          <p:nvPr/>
        </p:nvCxnSpPr>
        <p:spPr>
          <a:xfrm>
            <a:off x="3360400" y="4376836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540" name="Google Shape;540;g36f27cbff70_1_243"/>
          <p:cNvSpPr txBox="1"/>
          <p:nvPr/>
        </p:nvSpPr>
        <p:spPr>
          <a:xfrm>
            <a:off x="3285100" y="4398923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C78D8"/>
                </a:solidFill>
                <a:latin typeface="Noto Sans KR"/>
                <a:ea typeface="Noto Sans KR"/>
                <a:cs typeface="Noto Sans KR"/>
                <a:sym typeface="Noto Sans KR"/>
              </a:rPr>
              <a:t>stride 2</a:t>
            </a:r>
            <a:endParaRPr sz="1300">
              <a:solidFill>
                <a:srgbClr val="3C78D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1" name="Google Shape;541;g36f27cbff70_1_243"/>
          <p:cNvSpPr/>
          <p:nvPr/>
        </p:nvSpPr>
        <p:spPr>
          <a:xfrm>
            <a:off x="4610275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36f27cbff70_1_243"/>
          <p:cNvSpPr/>
          <p:nvPr/>
        </p:nvSpPr>
        <p:spPr>
          <a:xfrm>
            <a:off x="5375950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g36f27cbff70_1_243"/>
          <p:cNvSpPr/>
          <p:nvPr/>
        </p:nvSpPr>
        <p:spPr>
          <a:xfrm>
            <a:off x="4610275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g36f27cbff70_1_243"/>
          <p:cNvSpPr/>
          <p:nvPr/>
        </p:nvSpPr>
        <p:spPr>
          <a:xfrm>
            <a:off x="5375950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45" name="Google Shape;545;g36f27cbff70_1_243"/>
          <p:cNvGraphicFramePr/>
          <p:nvPr/>
        </p:nvGraphicFramePr>
        <p:xfrm>
          <a:off x="7767450" y="3595410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6" name="Google Shape;546;g36f27cbff70_1_243"/>
          <p:cNvSpPr/>
          <p:nvPr/>
        </p:nvSpPr>
        <p:spPr>
          <a:xfrm>
            <a:off x="7767475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g36f27cbff70_1_243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g36f27cbff70_1_243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g36f27cbff70_1_243"/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g36f27cbff70_1_243"/>
          <p:cNvSpPr/>
          <p:nvPr/>
        </p:nvSpPr>
        <p:spPr>
          <a:xfrm>
            <a:off x="23116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g36f27cbff70_1_243"/>
          <p:cNvSpPr/>
          <p:nvPr/>
        </p:nvSpPr>
        <p:spPr>
          <a:xfrm>
            <a:off x="26944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g36f27cbff70_1_243"/>
          <p:cNvSpPr/>
          <p:nvPr/>
        </p:nvSpPr>
        <p:spPr>
          <a:xfrm>
            <a:off x="23116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g36f27cbff70_1_243"/>
          <p:cNvSpPr/>
          <p:nvPr/>
        </p:nvSpPr>
        <p:spPr>
          <a:xfrm>
            <a:off x="26944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54" name="Google Shape;554;g36f27cbff70_1_243"/>
          <p:cNvCxnSpPr/>
          <p:nvPr/>
        </p:nvCxnSpPr>
        <p:spPr>
          <a:xfrm>
            <a:off x="6407825" y="4376848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555" name="Google Shape;555;g36f27cbff70_1_243"/>
          <p:cNvSpPr/>
          <p:nvPr/>
        </p:nvSpPr>
        <p:spPr>
          <a:xfrm>
            <a:off x="4582050" y="4342984"/>
            <a:ext cx="819300" cy="843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g36f27cbff70_1_243"/>
          <p:cNvSpPr/>
          <p:nvPr/>
        </p:nvSpPr>
        <p:spPr>
          <a:xfrm>
            <a:off x="81503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g36f27cbff70_1_243"/>
          <p:cNvSpPr/>
          <p:nvPr/>
        </p:nvSpPr>
        <p:spPr>
          <a:xfrm>
            <a:off x="81503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g36f27cbff70_1_243"/>
          <p:cNvSpPr/>
          <p:nvPr/>
        </p:nvSpPr>
        <p:spPr>
          <a:xfrm>
            <a:off x="7767475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g36f27cbff70_1_243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g36f27cbff70_1_243"/>
          <p:cNvSpPr/>
          <p:nvPr/>
        </p:nvSpPr>
        <p:spPr>
          <a:xfrm>
            <a:off x="853315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g36f27cbff70_1_243"/>
          <p:cNvSpPr/>
          <p:nvPr/>
        </p:nvSpPr>
        <p:spPr>
          <a:xfrm>
            <a:off x="89160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g36f27cbff70_1_243"/>
          <p:cNvSpPr/>
          <p:nvPr/>
        </p:nvSpPr>
        <p:spPr>
          <a:xfrm>
            <a:off x="89160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g36f27cbff70_1_243"/>
          <p:cNvSpPr/>
          <p:nvPr/>
        </p:nvSpPr>
        <p:spPr>
          <a:xfrm>
            <a:off x="815030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g36f27cbff70_1_243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g36f27cbff70_1_243"/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g36f27cbff70_1_243"/>
          <p:cNvSpPr/>
          <p:nvPr/>
        </p:nvSpPr>
        <p:spPr>
          <a:xfrm>
            <a:off x="891600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g36f27cbff70_1_243"/>
          <p:cNvSpPr/>
          <p:nvPr/>
        </p:nvSpPr>
        <p:spPr>
          <a:xfrm>
            <a:off x="8150275" y="4784123"/>
            <a:ext cx="382800" cy="393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36f27cbff70_1_243"/>
          <p:cNvSpPr/>
          <p:nvPr/>
        </p:nvSpPr>
        <p:spPr>
          <a:xfrm>
            <a:off x="7767450" y="4784123"/>
            <a:ext cx="382800" cy="393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04;g36f27cbff70_1_377">
            <a:extLst>
              <a:ext uri="{FF2B5EF4-FFF2-40B4-BE49-F238E27FC236}">
                <a16:creationId xmlns:a16="http://schemas.microsoft.com/office/drawing/2014/main" id="{33864C3F-A961-5F98-9486-FB10E59210D8}"/>
              </a:ext>
            </a:extLst>
          </p:cNvPr>
          <p:cNvSpPr txBox="1"/>
          <p:nvPr/>
        </p:nvSpPr>
        <p:spPr>
          <a:xfrm>
            <a:off x="815340" y="2025325"/>
            <a:ext cx="7337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171450">
              <a:buSzPts val="1800"/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Noto Sans KR"/>
                <a:ea typeface="Noto Sans KR"/>
                <a:cs typeface="Noto Sans KR"/>
                <a:sym typeface="Noto Sans KR"/>
              </a:rPr>
              <a:t>   Transposed convolution</a:t>
            </a:r>
            <a:endParaRPr lang="en-US" altLang="ko-KR"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" name="Google Shape;284;g36de4f831eb_1_207">
            <a:extLst>
              <a:ext uri="{FF2B5EF4-FFF2-40B4-BE49-F238E27FC236}">
                <a16:creationId xmlns:a16="http://schemas.microsoft.com/office/drawing/2014/main" id="{03705D72-0847-1B98-640D-1245477C5925}"/>
              </a:ext>
            </a:extLst>
          </p:cNvPr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" name="Google Shape;304;g36f27cbff70_1_377">
            <a:extLst>
              <a:ext uri="{FF2B5EF4-FFF2-40B4-BE49-F238E27FC236}">
                <a16:creationId xmlns:a16="http://schemas.microsoft.com/office/drawing/2014/main" id="{6DF0F5C9-12CD-24DD-C98E-C3C809FC0A56}"/>
              </a:ext>
            </a:extLst>
          </p:cNvPr>
          <p:cNvSpPr txBox="1"/>
          <p:nvPr/>
        </p:nvSpPr>
        <p:spPr>
          <a:xfrm>
            <a:off x="815340" y="2386837"/>
            <a:ext cx="754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Step마다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2x2 Up-conv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(stride: 2)을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feature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map의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해상도가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2배로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늘어남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6f27cbff70_1_288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6" name="Google Shape;576;g36f27cbff70_1_288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20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7" name="Google Shape;577;g36f27cbff70_1_288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8" name="Google Shape;578;g36f27cbff70_1_288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Architecture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80" name="Google Shape;580;g36f27cbff70_1_288"/>
          <p:cNvGraphicFramePr/>
          <p:nvPr/>
        </p:nvGraphicFramePr>
        <p:xfrm>
          <a:off x="2311600" y="3969686"/>
          <a:ext cx="7681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1" name="Google Shape;581;g36f27cbff70_1_288"/>
          <p:cNvSpPr txBox="1"/>
          <p:nvPr/>
        </p:nvSpPr>
        <p:spPr>
          <a:xfrm>
            <a:off x="2286000" y="4773148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82" name="Google Shape;582;g36f27cbff70_1_288"/>
          <p:cNvGraphicFramePr/>
          <p:nvPr/>
        </p:nvGraphicFramePr>
        <p:xfrm>
          <a:off x="4610250" y="3584448"/>
          <a:ext cx="1531400" cy="15857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83" name="Google Shape;583;g36f27cbff70_1_288"/>
          <p:cNvCxnSpPr/>
          <p:nvPr/>
        </p:nvCxnSpPr>
        <p:spPr>
          <a:xfrm>
            <a:off x="3360400" y="4376836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584" name="Google Shape;584;g36f27cbff70_1_288"/>
          <p:cNvSpPr txBox="1"/>
          <p:nvPr/>
        </p:nvSpPr>
        <p:spPr>
          <a:xfrm>
            <a:off x="3285100" y="4398923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C78D8"/>
                </a:solidFill>
                <a:latin typeface="Noto Sans KR"/>
                <a:ea typeface="Noto Sans KR"/>
                <a:cs typeface="Noto Sans KR"/>
                <a:sym typeface="Noto Sans KR"/>
              </a:rPr>
              <a:t>stride 2</a:t>
            </a:r>
            <a:endParaRPr sz="1300">
              <a:solidFill>
                <a:srgbClr val="3C78D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5" name="Google Shape;585;g36f27cbff70_1_288"/>
          <p:cNvSpPr/>
          <p:nvPr/>
        </p:nvSpPr>
        <p:spPr>
          <a:xfrm>
            <a:off x="4610275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36f27cbff70_1_288"/>
          <p:cNvSpPr/>
          <p:nvPr/>
        </p:nvSpPr>
        <p:spPr>
          <a:xfrm>
            <a:off x="5375950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g36f27cbff70_1_288"/>
          <p:cNvSpPr/>
          <p:nvPr/>
        </p:nvSpPr>
        <p:spPr>
          <a:xfrm>
            <a:off x="4610275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g36f27cbff70_1_288"/>
          <p:cNvSpPr/>
          <p:nvPr/>
        </p:nvSpPr>
        <p:spPr>
          <a:xfrm>
            <a:off x="5375950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89" name="Google Shape;589;g36f27cbff70_1_288"/>
          <p:cNvGraphicFramePr/>
          <p:nvPr>
            <p:extLst>
              <p:ext uri="{D42A27DB-BD31-4B8C-83A1-F6EECF244321}">
                <p14:modId xmlns:p14="http://schemas.microsoft.com/office/powerpoint/2010/main" val="2013925330"/>
              </p:ext>
            </p:extLst>
          </p:nvPr>
        </p:nvGraphicFramePr>
        <p:xfrm>
          <a:off x="7767450" y="3595411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04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4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4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0" name="Google Shape;590;g36f27cbff70_1_288"/>
          <p:cNvSpPr/>
          <p:nvPr/>
        </p:nvSpPr>
        <p:spPr>
          <a:xfrm>
            <a:off x="7767475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g36f27cbff70_1_288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g36f27cbff70_1_288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g36f27cbff70_1_288"/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g36f27cbff70_1_288"/>
          <p:cNvSpPr/>
          <p:nvPr/>
        </p:nvSpPr>
        <p:spPr>
          <a:xfrm>
            <a:off x="23116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g36f27cbff70_1_288"/>
          <p:cNvSpPr/>
          <p:nvPr/>
        </p:nvSpPr>
        <p:spPr>
          <a:xfrm>
            <a:off x="26944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g36f27cbff70_1_288"/>
          <p:cNvSpPr/>
          <p:nvPr/>
        </p:nvSpPr>
        <p:spPr>
          <a:xfrm>
            <a:off x="23116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g36f27cbff70_1_288"/>
          <p:cNvSpPr/>
          <p:nvPr/>
        </p:nvSpPr>
        <p:spPr>
          <a:xfrm>
            <a:off x="26944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8" name="Google Shape;598;g36f27cbff70_1_288"/>
          <p:cNvCxnSpPr/>
          <p:nvPr/>
        </p:nvCxnSpPr>
        <p:spPr>
          <a:xfrm>
            <a:off x="6407825" y="4376848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600" name="Google Shape;600;g36f27cbff70_1_288"/>
          <p:cNvSpPr/>
          <p:nvPr/>
        </p:nvSpPr>
        <p:spPr>
          <a:xfrm>
            <a:off x="81503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g36f27cbff70_1_288"/>
          <p:cNvSpPr/>
          <p:nvPr/>
        </p:nvSpPr>
        <p:spPr>
          <a:xfrm>
            <a:off x="81503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g36f27cbff70_1_288"/>
          <p:cNvSpPr/>
          <p:nvPr/>
        </p:nvSpPr>
        <p:spPr>
          <a:xfrm>
            <a:off x="7767475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g36f27cbff70_1_288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g36f27cbff70_1_288"/>
          <p:cNvSpPr/>
          <p:nvPr/>
        </p:nvSpPr>
        <p:spPr>
          <a:xfrm>
            <a:off x="853315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g36f27cbff70_1_288"/>
          <p:cNvSpPr/>
          <p:nvPr/>
        </p:nvSpPr>
        <p:spPr>
          <a:xfrm>
            <a:off x="89160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g36f27cbff70_1_288"/>
          <p:cNvSpPr/>
          <p:nvPr/>
        </p:nvSpPr>
        <p:spPr>
          <a:xfrm>
            <a:off x="89160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g36f27cbff70_1_288"/>
          <p:cNvSpPr/>
          <p:nvPr/>
        </p:nvSpPr>
        <p:spPr>
          <a:xfrm>
            <a:off x="815030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g36f27cbff70_1_288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g36f27cbff70_1_288"/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g36f27cbff70_1_288"/>
          <p:cNvSpPr/>
          <p:nvPr/>
        </p:nvSpPr>
        <p:spPr>
          <a:xfrm>
            <a:off x="891600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36f27cbff70_1_288"/>
          <p:cNvSpPr/>
          <p:nvPr/>
        </p:nvSpPr>
        <p:spPr>
          <a:xfrm>
            <a:off x="8150275" y="4784123"/>
            <a:ext cx="382800" cy="393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g36f27cbff70_1_288"/>
          <p:cNvSpPr/>
          <p:nvPr/>
        </p:nvSpPr>
        <p:spPr>
          <a:xfrm>
            <a:off x="7767450" y="4784123"/>
            <a:ext cx="382800" cy="393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g36f27cbff70_1_288"/>
          <p:cNvSpPr/>
          <p:nvPr/>
        </p:nvSpPr>
        <p:spPr>
          <a:xfrm>
            <a:off x="8533150" y="4784123"/>
            <a:ext cx="382800" cy="393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04;g36f27cbff70_1_377">
            <a:extLst>
              <a:ext uri="{FF2B5EF4-FFF2-40B4-BE49-F238E27FC236}">
                <a16:creationId xmlns:a16="http://schemas.microsoft.com/office/drawing/2014/main" id="{27D850CD-896E-67D6-03BF-F2189343E79B}"/>
              </a:ext>
            </a:extLst>
          </p:cNvPr>
          <p:cNvSpPr txBox="1"/>
          <p:nvPr/>
        </p:nvSpPr>
        <p:spPr>
          <a:xfrm>
            <a:off x="815340" y="2025325"/>
            <a:ext cx="7337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171450">
              <a:buSzPts val="1800"/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Noto Sans KR"/>
                <a:ea typeface="Noto Sans KR"/>
                <a:cs typeface="Noto Sans KR"/>
                <a:sym typeface="Noto Sans KR"/>
              </a:rPr>
              <a:t>   Transposed convolution</a:t>
            </a:r>
            <a:endParaRPr lang="en-US" altLang="ko-KR"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" name="Google Shape;284;g36de4f831eb_1_207">
            <a:extLst>
              <a:ext uri="{FF2B5EF4-FFF2-40B4-BE49-F238E27FC236}">
                <a16:creationId xmlns:a16="http://schemas.microsoft.com/office/drawing/2014/main" id="{15391E88-1A35-7A9B-7E55-A8909081BB6B}"/>
              </a:ext>
            </a:extLst>
          </p:cNvPr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" name="Google Shape;304;g36f27cbff70_1_377">
            <a:extLst>
              <a:ext uri="{FF2B5EF4-FFF2-40B4-BE49-F238E27FC236}">
                <a16:creationId xmlns:a16="http://schemas.microsoft.com/office/drawing/2014/main" id="{2EA24E97-C7E2-BC76-7EF6-42CE32A934DE}"/>
              </a:ext>
            </a:extLst>
          </p:cNvPr>
          <p:cNvSpPr txBox="1"/>
          <p:nvPr/>
        </p:nvSpPr>
        <p:spPr>
          <a:xfrm>
            <a:off x="815340" y="2386837"/>
            <a:ext cx="754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Step마다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2x2 Up-conv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(stride: 2)을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feature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map의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해상도가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2배로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늘어남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" name="Google Shape;555;g36f27cbff70_1_243">
            <a:extLst>
              <a:ext uri="{FF2B5EF4-FFF2-40B4-BE49-F238E27FC236}">
                <a16:creationId xmlns:a16="http://schemas.microsoft.com/office/drawing/2014/main" id="{056133A1-60C0-8FA8-43C5-D681CE11E98C}"/>
              </a:ext>
            </a:extLst>
          </p:cNvPr>
          <p:cNvSpPr/>
          <p:nvPr/>
        </p:nvSpPr>
        <p:spPr>
          <a:xfrm>
            <a:off x="4966300" y="4342984"/>
            <a:ext cx="819300" cy="843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6f27cbff70_1_332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1" name="Google Shape;621;g36f27cbff70_1_332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21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2" name="Google Shape;622;g36f27cbff70_1_332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3" name="Google Shape;623;g36f27cbff70_1_332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Architecture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625" name="Google Shape;625;g36f27cbff70_1_332"/>
          <p:cNvGraphicFramePr/>
          <p:nvPr/>
        </p:nvGraphicFramePr>
        <p:xfrm>
          <a:off x="2311600" y="3969686"/>
          <a:ext cx="7681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6" name="Google Shape;626;g36f27cbff70_1_332"/>
          <p:cNvSpPr txBox="1"/>
          <p:nvPr/>
        </p:nvSpPr>
        <p:spPr>
          <a:xfrm>
            <a:off x="2286000" y="4773148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28" name="Google Shape;628;g36f27cbff70_1_332"/>
          <p:cNvCxnSpPr/>
          <p:nvPr/>
        </p:nvCxnSpPr>
        <p:spPr>
          <a:xfrm>
            <a:off x="3360400" y="4376836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629" name="Google Shape;629;g36f27cbff70_1_332"/>
          <p:cNvSpPr txBox="1"/>
          <p:nvPr/>
        </p:nvSpPr>
        <p:spPr>
          <a:xfrm>
            <a:off x="3285100" y="4398923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C78D8"/>
                </a:solidFill>
                <a:latin typeface="Noto Sans KR"/>
                <a:ea typeface="Noto Sans KR"/>
                <a:cs typeface="Noto Sans KR"/>
                <a:sym typeface="Noto Sans KR"/>
              </a:rPr>
              <a:t>stride 2</a:t>
            </a:r>
            <a:endParaRPr sz="1300">
              <a:solidFill>
                <a:srgbClr val="3C78D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634" name="Google Shape;634;g36f27cbff70_1_332"/>
          <p:cNvGraphicFramePr/>
          <p:nvPr/>
        </p:nvGraphicFramePr>
        <p:xfrm>
          <a:off x="7767450" y="3595410"/>
          <a:ext cx="15314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5" name="Google Shape;635;g36f27cbff70_1_332"/>
          <p:cNvSpPr/>
          <p:nvPr/>
        </p:nvSpPr>
        <p:spPr>
          <a:xfrm>
            <a:off x="7767475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g36f27cbff70_1_332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g36f27cbff70_1_332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g36f27cbff70_1_332"/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g36f27cbff70_1_332"/>
          <p:cNvSpPr/>
          <p:nvPr/>
        </p:nvSpPr>
        <p:spPr>
          <a:xfrm>
            <a:off x="23116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g36f27cbff70_1_332"/>
          <p:cNvSpPr/>
          <p:nvPr/>
        </p:nvSpPr>
        <p:spPr>
          <a:xfrm>
            <a:off x="2694400" y="39696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g36f27cbff70_1_332"/>
          <p:cNvSpPr/>
          <p:nvPr/>
        </p:nvSpPr>
        <p:spPr>
          <a:xfrm>
            <a:off x="23116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g36f27cbff70_1_332"/>
          <p:cNvSpPr/>
          <p:nvPr/>
        </p:nvSpPr>
        <p:spPr>
          <a:xfrm>
            <a:off x="2694400" y="436589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3" name="Google Shape;643;g36f27cbff70_1_332"/>
          <p:cNvCxnSpPr/>
          <p:nvPr/>
        </p:nvCxnSpPr>
        <p:spPr>
          <a:xfrm>
            <a:off x="6407825" y="4376848"/>
            <a:ext cx="867000" cy="0"/>
          </a:xfrm>
          <a:prstGeom prst="straightConnector1">
            <a:avLst/>
          </a:prstGeom>
          <a:noFill/>
          <a:ln w="38100" cap="flat" cmpd="sng">
            <a:solidFill>
              <a:srgbClr val="3C78D8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645" name="Google Shape;645;g36f27cbff70_1_332"/>
          <p:cNvSpPr/>
          <p:nvPr/>
        </p:nvSpPr>
        <p:spPr>
          <a:xfrm>
            <a:off x="81503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g36f27cbff70_1_332"/>
          <p:cNvSpPr/>
          <p:nvPr/>
        </p:nvSpPr>
        <p:spPr>
          <a:xfrm>
            <a:off x="81503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g36f27cbff70_1_332"/>
          <p:cNvSpPr/>
          <p:nvPr/>
        </p:nvSpPr>
        <p:spPr>
          <a:xfrm>
            <a:off x="7767475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g36f27cbff70_1_332"/>
          <p:cNvSpPr/>
          <p:nvPr/>
        </p:nvSpPr>
        <p:spPr>
          <a:xfrm>
            <a:off x="853315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g36f27cbff70_1_332"/>
          <p:cNvSpPr/>
          <p:nvPr/>
        </p:nvSpPr>
        <p:spPr>
          <a:xfrm>
            <a:off x="853315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g36f27cbff70_1_332"/>
          <p:cNvSpPr/>
          <p:nvPr/>
        </p:nvSpPr>
        <p:spPr>
          <a:xfrm>
            <a:off x="8916000" y="35954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g36f27cbff70_1_332"/>
          <p:cNvSpPr/>
          <p:nvPr/>
        </p:nvSpPr>
        <p:spPr>
          <a:xfrm>
            <a:off x="8916000" y="39917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g36f27cbff70_1_332"/>
          <p:cNvSpPr/>
          <p:nvPr/>
        </p:nvSpPr>
        <p:spPr>
          <a:xfrm>
            <a:off x="815030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g36f27cbff70_1_332"/>
          <p:cNvSpPr/>
          <p:nvPr/>
        </p:nvSpPr>
        <p:spPr>
          <a:xfrm>
            <a:off x="7767475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g36f27cbff70_1_332"/>
          <p:cNvSpPr/>
          <p:nvPr/>
        </p:nvSpPr>
        <p:spPr>
          <a:xfrm>
            <a:off x="853315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g36f27cbff70_1_332"/>
          <p:cNvSpPr/>
          <p:nvPr/>
        </p:nvSpPr>
        <p:spPr>
          <a:xfrm>
            <a:off x="8916000" y="4387811"/>
            <a:ext cx="382800" cy="396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g36f27cbff70_1_332"/>
          <p:cNvSpPr/>
          <p:nvPr/>
        </p:nvSpPr>
        <p:spPr>
          <a:xfrm>
            <a:off x="8150275" y="4784123"/>
            <a:ext cx="382800" cy="393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g36f27cbff70_1_332"/>
          <p:cNvSpPr/>
          <p:nvPr/>
        </p:nvSpPr>
        <p:spPr>
          <a:xfrm>
            <a:off x="7767450" y="4784123"/>
            <a:ext cx="382800" cy="393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g36f27cbff70_1_332"/>
          <p:cNvSpPr/>
          <p:nvPr/>
        </p:nvSpPr>
        <p:spPr>
          <a:xfrm>
            <a:off x="8533150" y="4784123"/>
            <a:ext cx="382800" cy="393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g36f27cbff70_1_332"/>
          <p:cNvSpPr/>
          <p:nvPr/>
        </p:nvSpPr>
        <p:spPr>
          <a:xfrm>
            <a:off x="8916000" y="4784123"/>
            <a:ext cx="382800" cy="393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04;g36f27cbff70_1_377">
            <a:extLst>
              <a:ext uri="{FF2B5EF4-FFF2-40B4-BE49-F238E27FC236}">
                <a16:creationId xmlns:a16="http://schemas.microsoft.com/office/drawing/2014/main" id="{74D7A153-6079-1C33-E805-A38EF0734205}"/>
              </a:ext>
            </a:extLst>
          </p:cNvPr>
          <p:cNvSpPr txBox="1"/>
          <p:nvPr/>
        </p:nvSpPr>
        <p:spPr>
          <a:xfrm>
            <a:off x="815340" y="2025325"/>
            <a:ext cx="7337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171450">
              <a:buSzPts val="1800"/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Noto Sans KR"/>
                <a:ea typeface="Noto Sans KR"/>
                <a:cs typeface="Noto Sans KR"/>
                <a:sym typeface="Noto Sans KR"/>
              </a:rPr>
              <a:t>   Transposed convolution</a:t>
            </a:r>
            <a:endParaRPr lang="en-US" altLang="ko-KR"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" name="Google Shape;284;g36de4f831eb_1_207">
            <a:extLst>
              <a:ext uri="{FF2B5EF4-FFF2-40B4-BE49-F238E27FC236}">
                <a16:creationId xmlns:a16="http://schemas.microsoft.com/office/drawing/2014/main" id="{6204EA05-5214-ECF0-F1B6-C032E43266AB}"/>
              </a:ext>
            </a:extLst>
          </p:cNvPr>
          <p:cNvSpPr txBox="1"/>
          <p:nvPr/>
        </p:nvSpPr>
        <p:spPr>
          <a:xfrm>
            <a:off x="605303" y="1557625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l"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Expansive Path</a:t>
            </a:r>
            <a:endParaRPr sz="18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" name="Google Shape;304;g36f27cbff70_1_377">
            <a:extLst>
              <a:ext uri="{FF2B5EF4-FFF2-40B4-BE49-F238E27FC236}">
                <a16:creationId xmlns:a16="http://schemas.microsoft.com/office/drawing/2014/main" id="{D42B76B9-5BAA-2D8E-64A8-E0AA3C05948A}"/>
              </a:ext>
            </a:extLst>
          </p:cNvPr>
          <p:cNvSpPr txBox="1"/>
          <p:nvPr/>
        </p:nvSpPr>
        <p:spPr>
          <a:xfrm>
            <a:off x="815340" y="2386837"/>
            <a:ext cx="754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Step마다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2x2 Up-conv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(stride: 2)을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feature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map의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해상도가</a:t>
            </a:r>
            <a:r>
              <a:rPr 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2배로 </a:t>
            </a:r>
            <a:r>
              <a:rPr 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늘어남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" name="Google Shape;626;g36f27cbff70_1_332">
            <a:extLst>
              <a:ext uri="{FF2B5EF4-FFF2-40B4-BE49-F238E27FC236}">
                <a16:creationId xmlns:a16="http://schemas.microsoft.com/office/drawing/2014/main" id="{40B91273-B495-2F1E-F9E2-4B01131DABB4}"/>
              </a:ext>
            </a:extLst>
          </p:cNvPr>
          <p:cNvSpPr txBox="1"/>
          <p:nvPr/>
        </p:nvSpPr>
        <p:spPr>
          <a:xfrm>
            <a:off x="8123425" y="5177423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Noto Sans KR"/>
                <a:ea typeface="Noto Sans KR"/>
                <a:cs typeface="Noto Sans KR"/>
                <a:sym typeface="Noto Sans KR"/>
              </a:rPr>
              <a:t>output</a:t>
            </a:r>
            <a:endParaRPr sz="13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7" name="Google Shape;582;g36f27cbff70_1_288">
            <a:extLst>
              <a:ext uri="{FF2B5EF4-FFF2-40B4-BE49-F238E27FC236}">
                <a16:creationId xmlns:a16="http://schemas.microsoft.com/office/drawing/2014/main" id="{6EC986F3-59D4-1661-70C7-B55ED169A406}"/>
              </a:ext>
            </a:extLst>
          </p:cNvPr>
          <p:cNvGraphicFramePr/>
          <p:nvPr/>
        </p:nvGraphicFramePr>
        <p:xfrm>
          <a:off x="4610250" y="3584448"/>
          <a:ext cx="1531400" cy="15857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Google Shape;585;g36f27cbff70_1_288">
            <a:extLst>
              <a:ext uri="{FF2B5EF4-FFF2-40B4-BE49-F238E27FC236}">
                <a16:creationId xmlns:a16="http://schemas.microsoft.com/office/drawing/2014/main" id="{697F7D4B-3856-7626-D95D-F0F5BDCEB2F5}"/>
              </a:ext>
            </a:extLst>
          </p:cNvPr>
          <p:cNvSpPr/>
          <p:nvPr/>
        </p:nvSpPr>
        <p:spPr>
          <a:xfrm>
            <a:off x="4610275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g36f27cbff70_1_288">
            <a:extLst>
              <a:ext uri="{FF2B5EF4-FFF2-40B4-BE49-F238E27FC236}">
                <a16:creationId xmlns:a16="http://schemas.microsoft.com/office/drawing/2014/main" id="{18ECB48D-89FA-1C51-16E7-EBEB55130819}"/>
              </a:ext>
            </a:extLst>
          </p:cNvPr>
          <p:cNvSpPr/>
          <p:nvPr/>
        </p:nvSpPr>
        <p:spPr>
          <a:xfrm>
            <a:off x="5375950" y="35844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87;g36f27cbff70_1_288">
            <a:extLst>
              <a:ext uri="{FF2B5EF4-FFF2-40B4-BE49-F238E27FC236}">
                <a16:creationId xmlns:a16="http://schemas.microsoft.com/office/drawing/2014/main" id="{BEB36801-692B-9DF8-09FA-98092C9C9D62}"/>
              </a:ext>
            </a:extLst>
          </p:cNvPr>
          <p:cNvSpPr/>
          <p:nvPr/>
        </p:nvSpPr>
        <p:spPr>
          <a:xfrm>
            <a:off x="4610275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588;g36f27cbff70_1_288">
            <a:extLst>
              <a:ext uri="{FF2B5EF4-FFF2-40B4-BE49-F238E27FC236}">
                <a16:creationId xmlns:a16="http://schemas.microsoft.com/office/drawing/2014/main" id="{43092A21-0F6C-9E7F-D80A-09BADEB64A63}"/>
              </a:ext>
            </a:extLst>
          </p:cNvPr>
          <p:cNvSpPr/>
          <p:nvPr/>
        </p:nvSpPr>
        <p:spPr>
          <a:xfrm>
            <a:off x="5375950" y="4376848"/>
            <a:ext cx="382800" cy="396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555;g36f27cbff70_1_243">
            <a:extLst>
              <a:ext uri="{FF2B5EF4-FFF2-40B4-BE49-F238E27FC236}">
                <a16:creationId xmlns:a16="http://schemas.microsoft.com/office/drawing/2014/main" id="{CD9A6FD5-EC67-3CE5-FFD1-4E81A1D2AB57}"/>
              </a:ext>
            </a:extLst>
          </p:cNvPr>
          <p:cNvSpPr/>
          <p:nvPr/>
        </p:nvSpPr>
        <p:spPr>
          <a:xfrm>
            <a:off x="5349100" y="4342984"/>
            <a:ext cx="819300" cy="843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de4f831eb_1_183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0" name="Google Shape;300;g36de4f831eb_1_183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22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1" name="Google Shape;301;g36de4f831eb_1_183"/>
          <p:cNvSpPr/>
          <p:nvPr/>
        </p:nvSpPr>
        <p:spPr>
          <a:xfrm>
            <a:off x="513765" y="116359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g36de4f831eb_1_183"/>
          <p:cNvSpPr txBox="1"/>
          <p:nvPr/>
        </p:nvSpPr>
        <p:spPr>
          <a:xfrm>
            <a:off x="605275" y="1069848"/>
            <a:ext cx="2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Overlap-Tile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03" name="Google Shape;303;g36de4f831eb_1_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650" y="3069652"/>
            <a:ext cx="6689800" cy="314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6de4f831eb_1_1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200" y="3632740"/>
            <a:ext cx="3073284" cy="2172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g36de4f831eb_1_183"/>
          <p:cNvCxnSpPr/>
          <p:nvPr/>
        </p:nvCxnSpPr>
        <p:spPr>
          <a:xfrm rot="10800000" flipH="1">
            <a:off x="2839576" y="4455028"/>
            <a:ext cx="1699800" cy="12384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g36de4f831eb_1_183"/>
          <p:cNvCxnSpPr/>
          <p:nvPr/>
        </p:nvCxnSpPr>
        <p:spPr>
          <a:xfrm rot="10800000" flipH="1">
            <a:off x="2828646" y="3804647"/>
            <a:ext cx="1711500" cy="5223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7" name="Google Shape;307;g36de4f831eb_1_183"/>
          <p:cNvSpPr txBox="1"/>
          <p:nvPr/>
        </p:nvSpPr>
        <p:spPr>
          <a:xfrm>
            <a:off x="5200650" y="5940525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8" name="Google Shape;308;g36de4f831eb_1_183"/>
          <p:cNvSpPr txBox="1"/>
          <p:nvPr/>
        </p:nvSpPr>
        <p:spPr>
          <a:xfrm>
            <a:off x="9039225" y="5693425"/>
            <a:ext cx="81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output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9" name="Google Shape;309;g36de4f831eb_1_183"/>
          <p:cNvSpPr txBox="1"/>
          <p:nvPr/>
        </p:nvSpPr>
        <p:spPr>
          <a:xfrm>
            <a:off x="605275" y="1619750"/>
            <a:ext cx="10806600" cy="14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크기가 큰 이미지의 경우엔 GPU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Memory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가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 부족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한 문제가 있으므로, 이미지 전체를 사용하는 대신 이미지를 각각의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Tile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로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나눠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 segmentation </a:t>
            </a:r>
            <a:endParaRPr sz="1200">
              <a:solidFill>
                <a:srgbClr val="2424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2424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하단의 사진과 같이 이미지를 타일로 나눠서 입력으로 사용</a:t>
            </a:r>
            <a:endParaRPr sz="1200">
              <a:solidFill>
                <a:srgbClr val="2424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2424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segmentation을 위해 각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tile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의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주변 픽셀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을 같이 입력받기 때문에, 다음 tile에 대한 segmentation을 얻기 위해서는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입력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의 일부분이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포함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됨 (overlap)</a:t>
            </a:r>
            <a:endParaRPr sz="1200">
              <a:solidFill>
                <a:srgbClr val="2424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2424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이미지의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경계 부분 픽셀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에 대한 segmentation을 위해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미러링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을 이용한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Extrapolation 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기법 사용</a:t>
            </a:r>
            <a:endParaRPr sz="1200">
              <a:solidFill>
                <a:srgbClr val="2424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df4878ce8_2_10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6" name="Google Shape;316;g36df4878ce8_2_10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23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7" name="Google Shape;317;g36df4878ce8_2_10"/>
          <p:cNvSpPr/>
          <p:nvPr/>
        </p:nvSpPr>
        <p:spPr>
          <a:xfrm>
            <a:off x="513765" y="116359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g36df4878ce8_2_10"/>
          <p:cNvSpPr txBox="1"/>
          <p:nvPr/>
        </p:nvSpPr>
        <p:spPr>
          <a:xfrm>
            <a:off x="605275" y="1069850"/>
            <a:ext cx="3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Mirroring Extrapolate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9" name="Google Shape;319;g36df4878ce8_2_10"/>
          <p:cNvSpPr txBox="1"/>
          <p:nvPr/>
        </p:nvSpPr>
        <p:spPr>
          <a:xfrm>
            <a:off x="605275" y="1619750"/>
            <a:ext cx="7491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이미지의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경계 부분 픽셀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에 대한 segmentation을 위해 </a:t>
            </a:r>
            <a:b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0이나 임의의 패딩값을 사용하는 대신 이미지 경계 부분의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미러링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을 이용한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Extrapolation 기법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 사용</a:t>
            </a:r>
            <a:endParaRPr sz="1200">
              <a:solidFill>
                <a:srgbClr val="2424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2424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데이터셋이 </a:t>
            </a:r>
            <a:r>
              <a:rPr lang="en-US" sz="1200" b="1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세포</a:t>
            </a:r>
            <a:r>
              <a:rPr lang="en-US" sz="1200">
                <a:solidFill>
                  <a:srgbClr val="242424"/>
                </a:solidFill>
                <a:latin typeface="Noto Sans KR"/>
                <a:ea typeface="Noto Sans KR"/>
                <a:cs typeface="Noto Sans KR"/>
                <a:sym typeface="Noto Sans KR"/>
              </a:rPr>
              <a:t>이므로, 세포의 특성에 따라 높은 성능을 낼 수 있음</a:t>
            </a:r>
            <a:endParaRPr sz="1200">
              <a:solidFill>
                <a:srgbClr val="2424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20" name="Google Shape;320;g36df4878ce8_2_10"/>
          <p:cNvPicPr preferRelativeResize="0"/>
          <p:nvPr/>
        </p:nvPicPr>
        <p:blipFill rotWithShape="1">
          <a:blip r:embed="rId3">
            <a:alphaModFix/>
          </a:blip>
          <a:srcRect l="8687" t="11838" r="51054" b="11884"/>
          <a:stretch/>
        </p:blipFill>
        <p:spPr>
          <a:xfrm>
            <a:off x="7354267" y="3657478"/>
            <a:ext cx="1574359" cy="146153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21" name="Google Shape;321;g36df4878ce8_2_10"/>
          <p:cNvPicPr preferRelativeResize="0"/>
          <p:nvPr/>
        </p:nvPicPr>
        <p:blipFill rotWithShape="1">
          <a:blip r:embed="rId3">
            <a:alphaModFix/>
          </a:blip>
          <a:srcRect l="8686" t="11838" r="82220" b="11884"/>
          <a:stretch/>
        </p:blipFill>
        <p:spPr>
          <a:xfrm flipH="1">
            <a:off x="6940328" y="3657478"/>
            <a:ext cx="355578" cy="1461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36df4878ce8_2_10"/>
          <p:cNvPicPr preferRelativeResize="0"/>
          <p:nvPr/>
        </p:nvPicPr>
        <p:blipFill rotWithShape="1">
          <a:blip r:embed="rId3">
            <a:alphaModFix/>
          </a:blip>
          <a:srcRect l="39852" t="11838" r="51055" b="11884"/>
          <a:stretch/>
        </p:blipFill>
        <p:spPr>
          <a:xfrm flipH="1">
            <a:off x="8984371" y="3657478"/>
            <a:ext cx="355578" cy="1461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6df4878ce8_2_10"/>
          <p:cNvPicPr preferRelativeResize="0"/>
          <p:nvPr/>
        </p:nvPicPr>
        <p:blipFill rotWithShape="1">
          <a:blip r:embed="rId3">
            <a:alphaModFix/>
          </a:blip>
          <a:srcRect l="8687" t="11838" r="51054" b="70743"/>
          <a:stretch/>
        </p:blipFill>
        <p:spPr>
          <a:xfrm rot="10800000" flipH="1">
            <a:off x="7354267" y="3266879"/>
            <a:ext cx="1574359" cy="333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6df4878ce8_2_10"/>
          <p:cNvPicPr preferRelativeResize="0"/>
          <p:nvPr/>
        </p:nvPicPr>
        <p:blipFill rotWithShape="1">
          <a:blip r:embed="rId3">
            <a:alphaModFix/>
          </a:blip>
          <a:srcRect l="8687" t="70697" r="51054" b="11884"/>
          <a:stretch/>
        </p:blipFill>
        <p:spPr>
          <a:xfrm rot="10800000" flipH="1">
            <a:off x="7354267" y="5168359"/>
            <a:ext cx="1574359" cy="333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6df4878ce8_2_10"/>
          <p:cNvPicPr preferRelativeResize="0"/>
          <p:nvPr/>
        </p:nvPicPr>
        <p:blipFill rotWithShape="1">
          <a:blip r:embed="rId3">
            <a:alphaModFix/>
          </a:blip>
          <a:srcRect l="8686" t="11838" r="82220" b="70743"/>
          <a:stretch/>
        </p:blipFill>
        <p:spPr>
          <a:xfrm rot="10800000">
            <a:off x="6940329" y="3266879"/>
            <a:ext cx="355578" cy="333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6df4878ce8_2_10"/>
          <p:cNvPicPr preferRelativeResize="0"/>
          <p:nvPr/>
        </p:nvPicPr>
        <p:blipFill rotWithShape="1">
          <a:blip r:embed="rId3">
            <a:alphaModFix/>
          </a:blip>
          <a:srcRect l="8686" t="70697" r="82220" b="11884"/>
          <a:stretch/>
        </p:blipFill>
        <p:spPr>
          <a:xfrm rot="10800000">
            <a:off x="6940329" y="5168359"/>
            <a:ext cx="355578" cy="333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36df4878ce8_2_10"/>
          <p:cNvPicPr preferRelativeResize="0"/>
          <p:nvPr/>
        </p:nvPicPr>
        <p:blipFill rotWithShape="1">
          <a:blip r:embed="rId3">
            <a:alphaModFix/>
          </a:blip>
          <a:srcRect l="39852" t="70697" r="51055" b="11884"/>
          <a:stretch/>
        </p:blipFill>
        <p:spPr>
          <a:xfrm rot="10800000">
            <a:off x="8984372" y="5168359"/>
            <a:ext cx="355578" cy="333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36df4878ce8_2_10"/>
          <p:cNvPicPr preferRelativeResize="0"/>
          <p:nvPr/>
        </p:nvPicPr>
        <p:blipFill rotWithShape="1">
          <a:blip r:embed="rId3">
            <a:alphaModFix/>
          </a:blip>
          <a:srcRect l="39852" t="11838" r="51055" b="70743"/>
          <a:stretch/>
        </p:blipFill>
        <p:spPr>
          <a:xfrm rot="10800000">
            <a:off x="8984372" y="3266879"/>
            <a:ext cx="355578" cy="333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6df4878ce8_2_10"/>
          <p:cNvPicPr preferRelativeResize="0"/>
          <p:nvPr/>
        </p:nvPicPr>
        <p:blipFill rotWithShape="1">
          <a:blip r:embed="rId3">
            <a:alphaModFix/>
          </a:blip>
          <a:srcRect l="8687" t="11838" r="51054" b="11884"/>
          <a:stretch/>
        </p:blipFill>
        <p:spPr>
          <a:xfrm>
            <a:off x="3261760" y="3657478"/>
            <a:ext cx="1574359" cy="146153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0" name="Google Shape;330;g36df4878ce8_2_10" title="temp.png"/>
          <p:cNvPicPr preferRelativeResize="0"/>
          <p:nvPr/>
        </p:nvPicPr>
        <p:blipFill rotWithShape="1">
          <a:blip r:embed="rId4">
            <a:alphaModFix/>
          </a:blip>
          <a:srcRect l="39131" r="39133"/>
          <a:stretch/>
        </p:blipFill>
        <p:spPr>
          <a:xfrm flipH="1">
            <a:off x="2852049" y="3661232"/>
            <a:ext cx="355577" cy="1461530"/>
          </a:xfrm>
          <a:prstGeom prst="rect">
            <a:avLst/>
          </a:prstGeom>
          <a:noFill/>
          <a:ln w="9525" cap="flat" cmpd="sng">
            <a:solidFill>
              <a:srgbClr val="20386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1" name="Google Shape;331;g36df4878ce8_2_10" title="temp.png"/>
          <p:cNvPicPr preferRelativeResize="0"/>
          <p:nvPr/>
        </p:nvPicPr>
        <p:blipFill rotWithShape="1">
          <a:blip r:embed="rId4">
            <a:alphaModFix/>
          </a:blip>
          <a:srcRect l="39131" r="39133"/>
          <a:stretch/>
        </p:blipFill>
        <p:spPr>
          <a:xfrm flipH="1">
            <a:off x="4896093" y="3661232"/>
            <a:ext cx="355577" cy="1461530"/>
          </a:xfrm>
          <a:prstGeom prst="rect">
            <a:avLst/>
          </a:prstGeom>
          <a:noFill/>
          <a:ln w="9525" cap="flat" cmpd="sng">
            <a:solidFill>
              <a:srgbClr val="20386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2" name="Google Shape;332;g36df4878ce8_2_10" title="temp.png"/>
          <p:cNvPicPr preferRelativeResize="0"/>
          <p:nvPr/>
        </p:nvPicPr>
        <p:blipFill rotWithShape="1">
          <a:blip r:embed="rId4">
            <a:alphaModFix/>
          </a:blip>
          <a:srcRect t="38137" b="38135"/>
          <a:stretch/>
        </p:blipFill>
        <p:spPr>
          <a:xfrm rot="10800000" flipH="1">
            <a:off x="3262467" y="3266880"/>
            <a:ext cx="1574359" cy="333740"/>
          </a:xfrm>
          <a:prstGeom prst="rect">
            <a:avLst/>
          </a:prstGeom>
          <a:noFill/>
          <a:ln w="9525" cap="flat" cmpd="sng">
            <a:solidFill>
              <a:srgbClr val="20386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3" name="Google Shape;333;g36df4878ce8_2_10" title="temp.png"/>
          <p:cNvPicPr preferRelativeResize="0"/>
          <p:nvPr/>
        </p:nvPicPr>
        <p:blipFill rotWithShape="1">
          <a:blip r:embed="rId4">
            <a:alphaModFix/>
          </a:blip>
          <a:srcRect t="38137" b="38135"/>
          <a:stretch/>
        </p:blipFill>
        <p:spPr>
          <a:xfrm rot="10800000" flipH="1">
            <a:off x="3262467" y="5168360"/>
            <a:ext cx="1574359" cy="333740"/>
          </a:xfrm>
          <a:prstGeom prst="rect">
            <a:avLst/>
          </a:prstGeom>
          <a:noFill/>
          <a:ln w="9525" cap="flat" cmpd="sng">
            <a:solidFill>
              <a:srgbClr val="20386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4" name="Google Shape;334;g36df4878ce8_2_10" title="temp.png"/>
          <p:cNvPicPr preferRelativeResize="0"/>
          <p:nvPr/>
        </p:nvPicPr>
        <p:blipFill rotWithShape="1">
          <a:blip r:embed="rId4">
            <a:alphaModFix/>
          </a:blip>
          <a:srcRect l="2408" r="2408"/>
          <a:stretch/>
        </p:blipFill>
        <p:spPr>
          <a:xfrm rot="10800000">
            <a:off x="2852050" y="3266880"/>
            <a:ext cx="355577" cy="333740"/>
          </a:xfrm>
          <a:prstGeom prst="rect">
            <a:avLst/>
          </a:prstGeom>
          <a:noFill/>
          <a:ln w="9525" cap="flat" cmpd="sng">
            <a:solidFill>
              <a:srgbClr val="20386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5" name="Google Shape;335;g36df4878ce8_2_10" title="temp.png"/>
          <p:cNvPicPr preferRelativeResize="0"/>
          <p:nvPr/>
        </p:nvPicPr>
        <p:blipFill rotWithShape="1">
          <a:blip r:embed="rId4">
            <a:alphaModFix/>
          </a:blip>
          <a:srcRect l="2408" r="2408"/>
          <a:stretch/>
        </p:blipFill>
        <p:spPr>
          <a:xfrm rot="10800000">
            <a:off x="2852050" y="5168359"/>
            <a:ext cx="355577" cy="333740"/>
          </a:xfrm>
          <a:prstGeom prst="rect">
            <a:avLst/>
          </a:prstGeom>
          <a:noFill/>
          <a:ln w="9525" cap="flat" cmpd="sng">
            <a:solidFill>
              <a:srgbClr val="20386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6" name="Google Shape;336;g36df4878ce8_2_10" title="temp.png"/>
          <p:cNvPicPr preferRelativeResize="0"/>
          <p:nvPr/>
        </p:nvPicPr>
        <p:blipFill rotWithShape="1">
          <a:blip r:embed="rId4">
            <a:alphaModFix/>
          </a:blip>
          <a:srcRect l="2408" r="2408"/>
          <a:stretch/>
        </p:blipFill>
        <p:spPr>
          <a:xfrm rot="10800000">
            <a:off x="4896093" y="5168359"/>
            <a:ext cx="355577" cy="333740"/>
          </a:xfrm>
          <a:prstGeom prst="rect">
            <a:avLst/>
          </a:prstGeom>
          <a:noFill/>
          <a:ln w="9525" cap="flat" cmpd="sng">
            <a:solidFill>
              <a:srgbClr val="20386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7" name="Google Shape;337;g36df4878ce8_2_10" title="temp.png"/>
          <p:cNvPicPr preferRelativeResize="0"/>
          <p:nvPr/>
        </p:nvPicPr>
        <p:blipFill rotWithShape="1">
          <a:blip r:embed="rId4">
            <a:alphaModFix/>
          </a:blip>
          <a:srcRect l="2408" r="2408"/>
          <a:stretch/>
        </p:blipFill>
        <p:spPr>
          <a:xfrm rot="10800000">
            <a:off x="4896093" y="3266880"/>
            <a:ext cx="355577" cy="333740"/>
          </a:xfrm>
          <a:prstGeom prst="rect">
            <a:avLst/>
          </a:prstGeom>
          <a:noFill/>
          <a:ln w="9525" cap="flat" cmpd="sng">
            <a:solidFill>
              <a:srgbClr val="203864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338" name="Google Shape;338;g36df4878ce8_2_10"/>
          <p:cNvCxnSpPr/>
          <p:nvPr/>
        </p:nvCxnSpPr>
        <p:spPr>
          <a:xfrm>
            <a:off x="4736647" y="4391997"/>
            <a:ext cx="304200" cy="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9" name="Google Shape;339;g36df4878ce8_2_10"/>
          <p:cNvCxnSpPr/>
          <p:nvPr/>
        </p:nvCxnSpPr>
        <p:spPr>
          <a:xfrm rot="10800000">
            <a:off x="3061646" y="4388243"/>
            <a:ext cx="304200" cy="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0" name="Google Shape;340;g36df4878ce8_2_10"/>
          <p:cNvCxnSpPr/>
          <p:nvPr/>
        </p:nvCxnSpPr>
        <p:spPr>
          <a:xfrm rot="-5400000">
            <a:off x="3907489" y="3609984"/>
            <a:ext cx="282900" cy="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" name="Google Shape;341;g36df4878ce8_2_10"/>
          <p:cNvCxnSpPr/>
          <p:nvPr/>
        </p:nvCxnSpPr>
        <p:spPr>
          <a:xfrm rot="5400000">
            <a:off x="3907489" y="5157723"/>
            <a:ext cx="282900" cy="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2" name="Google Shape;342;g36df4878ce8_2_10"/>
          <p:cNvSpPr txBox="1"/>
          <p:nvPr/>
        </p:nvSpPr>
        <p:spPr>
          <a:xfrm>
            <a:off x="3261745" y="3269424"/>
            <a:ext cx="91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Mirroring</a:t>
            </a:r>
            <a:endParaRPr sz="1000" b="1">
              <a:solidFill>
                <a:srgbClr val="FF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43" name="Google Shape;343;g36df4878ce8_2_10"/>
          <p:cNvCxnSpPr/>
          <p:nvPr/>
        </p:nvCxnSpPr>
        <p:spPr>
          <a:xfrm>
            <a:off x="5551151" y="4388243"/>
            <a:ext cx="1089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344" name="Google Shape;344;g36df4878ce8_2_10"/>
          <p:cNvSpPr txBox="1"/>
          <p:nvPr/>
        </p:nvSpPr>
        <p:spPr>
          <a:xfrm>
            <a:off x="5705912" y="4449441"/>
            <a:ext cx="663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확장</a:t>
            </a:r>
            <a:endParaRPr sz="1100" b="1">
              <a:solidFill>
                <a:srgbClr val="20386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5" name="Google Shape;345;g36df4878ce8_2_10"/>
          <p:cNvSpPr txBox="1"/>
          <p:nvPr/>
        </p:nvSpPr>
        <p:spPr>
          <a:xfrm>
            <a:off x="3219591" y="5551450"/>
            <a:ext cx="165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262626"/>
                </a:solidFill>
                <a:latin typeface="Noto Sans KR"/>
                <a:ea typeface="Noto Sans KR"/>
                <a:cs typeface="Noto Sans KR"/>
                <a:sym typeface="Noto Sans KR"/>
              </a:rPr>
              <a:t>Original Image</a:t>
            </a:r>
            <a:endParaRPr sz="1000" b="1">
              <a:solidFill>
                <a:srgbClr val="26262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6" name="Google Shape;346;g36df4878ce8_2_10"/>
          <p:cNvSpPr txBox="1"/>
          <p:nvPr/>
        </p:nvSpPr>
        <p:spPr>
          <a:xfrm>
            <a:off x="7312091" y="5551450"/>
            <a:ext cx="165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262626"/>
                </a:solidFill>
                <a:latin typeface="Noto Sans KR"/>
                <a:ea typeface="Noto Sans KR"/>
                <a:cs typeface="Noto Sans KR"/>
                <a:sym typeface="Noto Sans KR"/>
              </a:rPr>
              <a:t>Extrapolated Image</a:t>
            </a:r>
            <a:endParaRPr sz="1000" b="1">
              <a:solidFill>
                <a:srgbClr val="26262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e05e5f5fe_2_0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3" name="Google Shape;353;g36e05e5f5fe_2_0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24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4" name="Google Shape;354;g36e05e5f5fe_2_0"/>
          <p:cNvSpPr/>
          <p:nvPr/>
        </p:nvSpPr>
        <p:spPr>
          <a:xfrm>
            <a:off x="513765" y="1371617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5" name="Google Shape;355;g36e05e5f5fe_2_0"/>
          <p:cNvSpPr txBox="1"/>
          <p:nvPr/>
        </p:nvSpPr>
        <p:spPr>
          <a:xfrm>
            <a:off x="605275" y="1277875"/>
            <a:ext cx="653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Noto Sans KR"/>
                <a:ea typeface="Noto Sans KR"/>
                <a:cs typeface="Noto Sans KR"/>
                <a:sym typeface="Noto Sans KR"/>
              </a:rPr>
              <a:t> Data augmentation - Elastic deformation</a:t>
            </a:r>
            <a:endParaRPr sz="1800" b="1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56" name="Google Shape;356;g36e05e5f5fe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4131" y="2497750"/>
            <a:ext cx="8803824" cy="22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6e05e5f5fe_2_0"/>
          <p:cNvSpPr txBox="1"/>
          <p:nvPr/>
        </p:nvSpPr>
        <p:spPr>
          <a:xfrm>
            <a:off x="2782950" y="4983050"/>
            <a:ext cx="662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조직의 자연스러운 변형을 모사하여 실제 생의학 데이터에서의 변형에 대한 불변성 학습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6df4878ce8_0_80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4" name="Google Shape;364;g36df4878ce8_0_80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25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5" name="Google Shape;365;g36df4878ce8_0_80"/>
          <p:cNvSpPr/>
          <p:nvPr/>
        </p:nvSpPr>
        <p:spPr>
          <a:xfrm>
            <a:off x="513765" y="1371617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g36df4878ce8_0_80"/>
          <p:cNvSpPr txBox="1"/>
          <p:nvPr/>
        </p:nvSpPr>
        <p:spPr>
          <a:xfrm>
            <a:off x="605275" y="1277875"/>
            <a:ext cx="7029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Training - 손실함수를 픽셀마다의 구한 에너지 평션의 총합으로 구현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67" name="Google Shape;367;g36df4878ce8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750" y="2243974"/>
            <a:ext cx="8908099" cy="21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6df4878ce8_0_80"/>
          <p:cNvSpPr txBox="1"/>
          <p:nvPr/>
        </p:nvSpPr>
        <p:spPr>
          <a:xfrm>
            <a:off x="1852325" y="4610175"/>
            <a:ext cx="9018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Fig.3. HeLa cells on glass recorded with DIC (differential interference contrast) microscopy.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(a) raw image.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(b) overlay with ground truth segmentation. Different colors indicate different instances of the HeLa cells.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(c) generated segmentation mask (white: foreground, black: background).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(d) map with a pixel-wise loss weight to force the network to learn the border pixels.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df4878ce8_0_63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Methodology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5" name="Google Shape;375;g36df4878ce8_0_63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26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6" name="Google Shape;376;g36df4878ce8_0_63"/>
          <p:cNvSpPr/>
          <p:nvPr/>
        </p:nvSpPr>
        <p:spPr>
          <a:xfrm>
            <a:off x="513765" y="1371617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g36df4878ce8_0_63"/>
          <p:cNvSpPr txBox="1"/>
          <p:nvPr/>
        </p:nvSpPr>
        <p:spPr>
          <a:xfrm>
            <a:off x="605275" y="1277875"/>
            <a:ext cx="743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Training - 손실함수를 픽셀마다의 구한 에너지 평션의 총합으로 구현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78" name="Google Shape;378;g36df4878ce8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500" y="4235050"/>
            <a:ext cx="3363679" cy="7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6df4878ce8_0_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12" y="5218825"/>
            <a:ext cx="5525851" cy="9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6df4878ce8_0_63"/>
          <p:cNvSpPr txBox="1"/>
          <p:nvPr/>
        </p:nvSpPr>
        <p:spPr>
          <a:xfrm>
            <a:off x="1348450" y="2396475"/>
            <a:ext cx="491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1" name="Google Shape;381;g36df4878ce8_0_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8438" y="2086974"/>
            <a:ext cx="2573783" cy="102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36df4878ce8_0_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6538" y="3285800"/>
            <a:ext cx="1537580" cy="460113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6df4878ce8_0_63"/>
          <p:cNvSpPr txBox="1"/>
          <p:nvPr/>
        </p:nvSpPr>
        <p:spPr>
          <a:xfrm>
            <a:off x="6126480" y="2275213"/>
            <a:ext cx="6535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Noto Sans KR"/>
                <a:ea typeface="Noto Sans KR"/>
                <a:cs typeface="Noto Sans KR"/>
                <a:sym typeface="Noto Sans KR"/>
              </a:rPr>
              <a:t>1) SoftMax를 사용하여 예측값을 확률로 변환</a:t>
            </a:r>
            <a:endParaRPr sz="13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픽셀단위 예측값에 SoftMax 함수 P를 적용하여, 각 클래스에 속할 확률을 계산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4" name="Google Shape;384;g36df4878ce8_0_63"/>
          <p:cNvSpPr txBox="1"/>
          <p:nvPr/>
        </p:nvSpPr>
        <p:spPr>
          <a:xfrm>
            <a:off x="6126480" y="3211063"/>
            <a:ext cx="6535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Noto Sans KR"/>
                <a:ea typeface="Noto Sans KR"/>
                <a:cs typeface="Noto Sans KR"/>
                <a:sym typeface="Noto Sans KR"/>
              </a:rPr>
              <a:t>2) 로그 확률 계산 (Cross Entropy Loss 적용)</a:t>
            </a:r>
            <a:endParaRPr sz="13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정확한 예측일수록 손실이 작고 잘못된 예측일수록 손실이 커짐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5" name="Google Shape;385;g36df4878ce8_0_63"/>
          <p:cNvSpPr txBox="1"/>
          <p:nvPr/>
        </p:nvSpPr>
        <p:spPr>
          <a:xfrm>
            <a:off x="6126480" y="4133975"/>
            <a:ext cx="6535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Noto Sans KR"/>
                <a:ea typeface="Noto Sans KR"/>
                <a:cs typeface="Noto Sans KR"/>
                <a:sym typeface="Noto Sans KR"/>
              </a:rPr>
              <a:t>3) 픽셀별 Weight 적용하여 Loss 계산</a:t>
            </a:r>
            <a:endParaRPr sz="13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경계선 픽셀을 더 강하게 학습하기 위해 Cross Entropy Loss에 </a:t>
            </a:r>
            <a:br>
              <a:rPr lang="en-US" sz="13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픽셀 고유의 Weight w(x)를 곱함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6" name="Google Shape;386;g36df4878ce8_0_63"/>
          <p:cNvSpPr txBox="1"/>
          <p:nvPr/>
        </p:nvSpPr>
        <p:spPr>
          <a:xfrm>
            <a:off x="6126480" y="5287575"/>
            <a:ext cx="6012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Noto Sans KR"/>
                <a:ea typeface="Noto Sans KR"/>
                <a:cs typeface="Noto Sans KR"/>
                <a:sym typeface="Noto Sans KR"/>
              </a:rPr>
              <a:t>4) Weight Map 설계</a:t>
            </a:r>
            <a:endParaRPr sz="13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가우시안 분포를 기반으로 경계선 픽셀에 더 높은 가중치를 부여하여 학습을 집중 </a:t>
            </a:r>
            <a:br>
              <a:rPr lang="en-US" sz="13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→ 경계를 더 정교하게 예측할 수 있도록 유도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5313711-0C42-58A2-1881-F071DCC1A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51178EE5-FF30-588B-C33A-845F854C05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55689F7-4047-5D27-83CD-E77F01655DAD}"/>
              </a:ext>
            </a:extLst>
          </p:cNvPr>
          <p:cNvSpPr txBox="1"/>
          <p:nvPr/>
        </p:nvSpPr>
        <p:spPr>
          <a:xfrm>
            <a:off x="74893" y="-12741"/>
            <a:ext cx="12042213" cy="695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000" b="1" i="0" u="none" strike="noStrike" cap="none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0E3A7AEA-979B-A6C3-DD6F-F64D0F86984F}"/>
              </a:ext>
            </a:extLst>
          </p:cNvPr>
          <p:cNvSpPr txBox="1"/>
          <p:nvPr/>
        </p:nvSpPr>
        <p:spPr>
          <a:xfrm>
            <a:off x="6334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Background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EB058474-D63A-B0AE-49F1-1BC256872D45}"/>
              </a:ext>
            </a:extLst>
          </p:cNvPr>
          <p:cNvSpPr txBox="1"/>
          <p:nvPr/>
        </p:nvSpPr>
        <p:spPr>
          <a:xfrm>
            <a:off x="28085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Introduction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A10A0029-A864-7EA9-A412-14CA70326EC2}"/>
              </a:ext>
            </a:extLst>
          </p:cNvPr>
          <p:cNvSpPr txBox="1"/>
          <p:nvPr/>
        </p:nvSpPr>
        <p:spPr>
          <a:xfrm>
            <a:off x="49836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B825ADB2-24E8-285C-6A64-8E3CA31BD2CB}"/>
              </a:ext>
            </a:extLst>
          </p:cNvPr>
          <p:cNvSpPr txBox="1"/>
          <p:nvPr/>
        </p:nvSpPr>
        <p:spPr>
          <a:xfrm>
            <a:off x="71587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r>
              <a:rPr lang="en-US" sz="1800" b="1" i="0" u="none" strike="noStrike" cap="none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Experiments</a:t>
            </a:r>
            <a:endParaRPr sz="170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225ED4A4-5E84-8384-D687-3A5AC4974346}"/>
              </a:ext>
            </a:extLst>
          </p:cNvPr>
          <p:cNvSpPr txBox="1"/>
          <p:nvPr/>
        </p:nvSpPr>
        <p:spPr>
          <a:xfrm>
            <a:off x="9333800" y="3082650"/>
            <a:ext cx="2224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Application in the</a:t>
            </a:r>
            <a:b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Medical Domain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689998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de4f831eb_1_56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Experiments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5" name="Google Shape;405;g36de4f831eb_1_56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28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6" name="Google Shape;406;g36de4f831eb_1_56"/>
          <p:cNvSpPr/>
          <p:nvPr/>
        </p:nvSpPr>
        <p:spPr>
          <a:xfrm>
            <a:off x="513765" y="1371617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g36de4f831eb_1_56"/>
          <p:cNvSpPr txBox="1"/>
          <p:nvPr/>
        </p:nvSpPr>
        <p:spPr>
          <a:xfrm>
            <a:off x="605275" y="1277875"/>
            <a:ext cx="653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EM Segmentation challenge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8" name="Google Shape;408;g36de4f831eb_1_56"/>
          <p:cNvSpPr txBox="1"/>
          <p:nvPr/>
        </p:nvSpPr>
        <p:spPr>
          <a:xfrm>
            <a:off x="8277725" y="4910575"/>
            <a:ext cx="38394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전자 현미경 이미지에서 신경 구조 또는 세포 구조를 분할하는 문제를 다루는 대회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highlight>
                  <a:srgbClr val="CFE2F3"/>
                </a:highlight>
                <a:latin typeface="Noto Sans KR"/>
                <a:ea typeface="Noto Sans KR"/>
                <a:cs typeface="Noto Sans KR"/>
                <a:sym typeface="Noto Sans KR"/>
              </a:rPr>
              <a:t>U-Net이 1위(0.000353 Warping Error) 기록</a:t>
            </a:r>
            <a:endParaRPr b="1">
              <a:highlight>
                <a:srgbClr val="CFE2F3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09" name="Google Shape;409;g36de4f831eb_1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00" y="3019400"/>
            <a:ext cx="7658302" cy="2888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6de4f831eb_1_56"/>
          <p:cNvSpPr txBox="1"/>
          <p:nvPr/>
        </p:nvSpPr>
        <p:spPr>
          <a:xfrm>
            <a:off x="529825" y="1867975"/>
            <a:ext cx="5534400" cy="9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Warping Error :  신경 조직의 구조적 왜곡 정도를 측정하는 지표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Rand Error :  클러스터링 기반으로 객체 간 차이를 측정하는 지표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Noto Sans KR"/>
                <a:ea typeface="Noto Sans KR"/>
                <a:cs typeface="Noto Sans KR"/>
                <a:sym typeface="Noto Sans KR"/>
              </a:rPr>
              <a:t>Pixel Error :  픽셀 단위에서 예측과 정답의 차이를 측정하는 지표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6df4878ce8_0_104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Experiments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7" name="Google Shape;417;g36df4878ce8_0_104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29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8" name="Google Shape;418;g36df4878ce8_0_104"/>
          <p:cNvSpPr/>
          <p:nvPr/>
        </p:nvSpPr>
        <p:spPr>
          <a:xfrm>
            <a:off x="513765" y="1371617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9" name="Google Shape;419;g36df4878ce8_0_104"/>
          <p:cNvSpPr txBox="1"/>
          <p:nvPr/>
        </p:nvSpPr>
        <p:spPr>
          <a:xfrm>
            <a:off x="605275" y="1277875"/>
            <a:ext cx="653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ISBI cell tracking challenge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0" name="Google Shape;420;g36df4878ce8_0_104"/>
          <p:cNvSpPr txBox="1"/>
          <p:nvPr/>
        </p:nvSpPr>
        <p:spPr>
          <a:xfrm>
            <a:off x="529825" y="1867975"/>
            <a:ext cx="7371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세포의 성장, 분열 및 이동을 자동으로 추적하는 문제를 해결하는 대회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ISBI 2015 Cell Tracking Challenge에서 1위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21" name="Google Shape;421;g36df4878ce8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25" y="2880375"/>
            <a:ext cx="3997324" cy="311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6df4878ce8_0_104"/>
          <p:cNvSpPr txBox="1"/>
          <p:nvPr/>
        </p:nvSpPr>
        <p:spPr>
          <a:xfrm>
            <a:off x="5259975" y="3738650"/>
            <a:ext cx="6445500" cy="13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highlight>
                  <a:srgbClr val="CFE2F3"/>
                </a:highlight>
                <a:latin typeface="Noto Sans KR"/>
                <a:ea typeface="Noto Sans KR"/>
                <a:cs typeface="Noto Sans KR"/>
                <a:sym typeface="Noto Sans KR"/>
              </a:rPr>
              <a:t>평가지표: IOU (Intersection over union)</a:t>
            </a:r>
            <a:endParaRPr b="1">
              <a:highlight>
                <a:srgbClr val="CFE2F3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ground truth에 해당하는 bounding box와 prediction에 해당하는 bounding box에 대한 교차 영역의 겹치는 정도를 이용해서 값을 구한다.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이때 겹치는 영역이 넓을수록 IOU 값이 커지고 잘 예측한 것으로 평가할 수 있다.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df4878ce8_0_139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Experiments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9" name="Google Shape;429;g36df4878ce8_0_139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30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0" name="Google Shape;430;g36df4878ce8_0_139"/>
          <p:cNvSpPr/>
          <p:nvPr/>
        </p:nvSpPr>
        <p:spPr>
          <a:xfrm>
            <a:off x="513765" y="1371617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31" name="Google Shape;431;g36df4878ce8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50" y="2192575"/>
            <a:ext cx="4141851" cy="18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36df4878ce8_0_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8000" y="2248900"/>
            <a:ext cx="7595426" cy="17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36df4878ce8_0_139"/>
          <p:cNvSpPr txBox="1"/>
          <p:nvPr/>
        </p:nvSpPr>
        <p:spPr>
          <a:xfrm>
            <a:off x="420225" y="4224125"/>
            <a:ext cx="73326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oto Sans KR"/>
                <a:ea typeface="Noto Sans KR"/>
                <a:cs typeface="Noto Sans KR"/>
                <a:sym typeface="Noto Sans KR"/>
              </a:rPr>
              <a:t>a,c: 입력 이미지</a:t>
            </a:r>
            <a:endParaRPr sz="15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oto Sans KR"/>
                <a:ea typeface="Noto Sans KR"/>
                <a:cs typeface="Noto Sans KR"/>
                <a:sym typeface="Noto Sans KR"/>
              </a:rPr>
              <a:t>b,d: ground truth segmentation map</a:t>
            </a:r>
            <a:endParaRPr sz="15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oto Sans KR"/>
                <a:ea typeface="Noto Sans KR"/>
                <a:cs typeface="Noto Sans KR"/>
                <a:sym typeface="Noto Sans KR"/>
              </a:rPr>
              <a:t>a,c와 같이 광학 현미경에서 얻은 이미지로</a:t>
            </a:r>
            <a:endParaRPr sz="15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oto Sans KR"/>
                <a:ea typeface="Noto Sans KR"/>
                <a:cs typeface="Noto Sans KR"/>
                <a:sym typeface="Noto Sans KR"/>
              </a:rPr>
              <a:t>b,d와 같이 세포를 구별하는 task를 U-Net이 얼마나 잘 수행하는지 시험</a:t>
            </a:r>
            <a:endParaRPr sz="15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oto Sans KR"/>
                <a:ea typeface="Noto Sans KR"/>
                <a:cs typeface="Noto Sans KR"/>
                <a:sym typeface="Noto Sans KR"/>
              </a:rPr>
              <a:t>a=Ph-U373</a:t>
            </a:r>
            <a:endParaRPr sz="15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oto Sans KR"/>
                <a:ea typeface="Noto Sans KR"/>
                <a:cs typeface="Noto Sans KR"/>
                <a:sym typeface="Noto Sans KR"/>
              </a:rPr>
              <a:t>c=DIC-HeLa</a:t>
            </a:r>
            <a:endParaRPr sz="15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4" name="Google Shape;434;g36df4878ce8_0_139"/>
          <p:cNvSpPr txBox="1"/>
          <p:nvPr/>
        </p:nvSpPr>
        <p:spPr>
          <a:xfrm>
            <a:off x="605275" y="1277875"/>
            <a:ext cx="653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ISBI cell tracking challenge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6df4878ce8_0_117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Experiments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1" name="Google Shape;441;g36df4878ce8_0_117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31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2" name="Google Shape;442;g36df4878ce8_0_117"/>
          <p:cNvSpPr/>
          <p:nvPr/>
        </p:nvSpPr>
        <p:spPr>
          <a:xfrm>
            <a:off x="513765" y="1371617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3" name="Google Shape;443;g36df4878ce8_0_117"/>
          <p:cNvSpPr txBox="1"/>
          <p:nvPr/>
        </p:nvSpPr>
        <p:spPr>
          <a:xfrm>
            <a:off x="605275" y="1277875"/>
            <a:ext cx="653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Conclusion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4" name="Google Shape;444;g36df4878ce8_0_117"/>
          <p:cNvSpPr txBox="1"/>
          <p:nvPr/>
        </p:nvSpPr>
        <p:spPr>
          <a:xfrm>
            <a:off x="670825" y="2451988"/>
            <a:ext cx="104577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oto Sans KR"/>
                <a:ea typeface="Noto Sans KR"/>
                <a:cs typeface="Noto Sans KR"/>
                <a:sym typeface="Noto Sans KR"/>
              </a:rPr>
              <a:t>U-Net은 다양한 생물의학 이미지 분할 문제에서 매우 우수한 성능을 보임</a:t>
            </a:r>
            <a:endParaRPr sz="1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oto Sans KR"/>
                <a:ea typeface="Noto Sans KR"/>
                <a:cs typeface="Noto Sans KR"/>
                <a:sym typeface="Noto Sans KR"/>
              </a:rPr>
              <a:t>Elastic Deformation을 활용한 데이터 증강 덕분에 적은 데이터로도 학습 가능</a:t>
            </a:r>
            <a:endParaRPr sz="1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oto Sans KR"/>
                <a:ea typeface="Noto Sans KR"/>
                <a:cs typeface="Noto Sans KR"/>
                <a:sym typeface="Noto Sans KR"/>
              </a:rPr>
              <a:t>NVidia Titan GPU (6GB)에서 10시간 학습→빠르고 효율적인 모델</a:t>
            </a:r>
            <a:endParaRPr sz="1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CFE2F3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highlight>
                  <a:srgbClr val="CFE2F3"/>
                </a:highlight>
                <a:latin typeface="Noto Sans KR"/>
                <a:ea typeface="Noto Sans KR"/>
                <a:cs typeface="Noto Sans KR"/>
                <a:sym typeface="Noto Sans KR"/>
              </a:rPr>
              <a:t>∴U-Net은 의료 영상 분석 및 다양한 이미지 분할 문제에서 표준 모델로 자리 잡음</a:t>
            </a:r>
            <a:endParaRPr sz="1800" b="1">
              <a:highlight>
                <a:srgbClr val="CFE2F3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highlight>
                <a:srgbClr val="CFE2F3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df4878ce8_0_166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Experiments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1" name="Google Shape;451;g36df4878ce8_0_166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32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2" name="Google Shape;452;g36df4878ce8_0_166"/>
          <p:cNvSpPr/>
          <p:nvPr/>
        </p:nvSpPr>
        <p:spPr>
          <a:xfrm>
            <a:off x="513765" y="1371617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3" name="Google Shape;453;g36df4878ce8_0_166"/>
          <p:cNvSpPr txBox="1"/>
          <p:nvPr/>
        </p:nvSpPr>
        <p:spPr>
          <a:xfrm>
            <a:off x="605275" y="1277875"/>
            <a:ext cx="653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Conclusion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54" name="Google Shape;454;g36df4878ce8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00" y="3818875"/>
            <a:ext cx="4651975" cy="239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6df4878ce8_0_166"/>
          <p:cNvPicPr preferRelativeResize="0"/>
          <p:nvPr/>
        </p:nvPicPr>
        <p:blipFill rotWithShape="1">
          <a:blip r:embed="rId4">
            <a:alphaModFix/>
          </a:blip>
          <a:srcRect l="3100"/>
          <a:stretch/>
        </p:blipFill>
        <p:spPr>
          <a:xfrm>
            <a:off x="4912225" y="3999450"/>
            <a:ext cx="7021550" cy="20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6df4878ce8_0_166"/>
          <p:cNvSpPr txBox="1"/>
          <p:nvPr/>
        </p:nvSpPr>
        <p:spPr>
          <a:xfrm>
            <a:off x="808725" y="1984950"/>
            <a:ext cx="10250700" cy="13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highlight>
                  <a:srgbClr val="CFE2F3"/>
                </a:highlight>
                <a:latin typeface="Noto Sans KR"/>
                <a:ea typeface="Noto Sans KR"/>
                <a:cs typeface="Noto Sans KR"/>
                <a:sym typeface="Noto Sans KR"/>
              </a:rPr>
              <a:t>왜 의료용 이미지에서 U-Net을 사용할까?</a:t>
            </a:r>
            <a:endParaRPr sz="1600" b="1">
              <a:highlight>
                <a:srgbClr val="CFE2F3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→ 의료 영상에서는 전체적인 맥락과 세밀한 경계를 동시에 고려하는 것이 중요함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→ U-Net은 Skip connection을 통해 정보 손실 없이 국소적(Local)+전역적(Global) 특징을 모두 활용할 수 있음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C25F55A-DABD-9311-77D1-B8FC4933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B3054B62-24E9-D99C-841A-714567F387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33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06D8CB1F-887A-152C-D549-9DDB72B7F246}"/>
              </a:ext>
            </a:extLst>
          </p:cNvPr>
          <p:cNvSpPr txBox="1"/>
          <p:nvPr/>
        </p:nvSpPr>
        <p:spPr>
          <a:xfrm>
            <a:off x="74893" y="-12741"/>
            <a:ext cx="12042213" cy="695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000" b="1" i="0" u="none" strike="noStrike" cap="none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31AD151F-7F1D-5B01-F297-F68FD3116439}"/>
              </a:ext>
            </a:extLst>
          </p:cNvPr>
          <p:cNvSpPr txBox="1"/>
          <p:nvPr/>
        </p:nvSpPr>
        <p:spPr>
          <a:xfrm>
            <a:off x="6334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Background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BF652960-EB11-D2C5-C21F-446F8F270379}"/>
              </a:ext>
            </a:extLst>
          </p:cNvPr>
          <p:cNvSpPr txBox="1"/>
          <p:nvPr/>
        </p:nvSpPr>
        <p:spPr>
          <a:xfrm>
            <a:off x="28085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Introduction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89B13CE-8E87-0499-3929-EBF279865624}"/>
              </a:ext>
            </a:extLst>
          </p:cNvPr>
          <p:cNvSpPr txBox="1"/>
          <p:nvPr/>
        </p:nvSpPr>
        <p:spPr>
          <a:xfrm>
            <a:off x="49836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B69199E-E0F5-9E29-2325-5E5ADE86C715}"/>
              </a:ext>
            </a:extLst>
          </p:cNvPr>
          <p:cNvSpPr txBox="1"/>
          <p:nvPr/>
        </p:nvSpPr>
        <p:spPr>
          <a:xfrm>
            <a:off x="7158703" y="3082650"/>
            <a:ext cx="2005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r>
              <a:rPr lang="en-US" sz="1800" b="1" i="0" u="none" strike="noStrike" cap="none">
                <a:solidFill>
                  <a:srgbClr val="203864">
                    <a:alpha val="20000"/>
                  </a:srgb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>
                  <a:alpha val="20000"/>
                </a:srgb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>
                    <a:alpha val="2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Experiments</a:t>
            </a:r>
            <a:endParaRPr sz="1700" b="1" i="0" u="none" strike="noStrike" cap="none">
              <a:solidFill>
                <a:schemeClr val="dk1">
                  <a:alpha val="20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D4C03F01-AEDE-211C-C986-D29F6FBDA2DE}"/>
              </a:ext>
            </a:extLst>
          </p:cNvPr>
          <p:cNvSpPr txBox="1"/>
          <p:nvPr/>
        </p:nvSpPr>
        <p:spPr>
          <a:xfrm>
            <a:off x="9333800" y="3082650"/>
            <a:ext cx="2224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r>
              <a:rPr lang="en-US" sz="1800" b="1" i="0" u="none" strike="noStrike" cap="none">
                <a:solidFill>
                  <a:srgbClr val="20386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1" i="0" u="none" strike="noStrike" cap="none">
              <a:solidFill>
                <a:srgbClr val="20386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Application in the</a:t>
            </a:r>
            <a:b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Medical Domain</a:t>
            </a:r>
            <a:endParaRPr sz="170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000824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6df4878ce8_1_4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5" name="Google Shape;475;g36df4878ce8_1_4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34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6" name="Google Shape;476;g36df4878ce8_1_4"/>
          <p:cNvSpPr txBox="1"/>
          <p:nvPr/>
        </p:nvSpPr>
        <p:spPr>
          <a:xfrm>
            <a:off x="731520" y="1645920"/>
            <a:ext cx="54309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Dataset: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ISBI 2012 em segmentation challenge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Image size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512 x 512 x 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Number of samples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Total: 30 frames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Train: 24 frames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Val: 3 frames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Test: 3 frames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Augmentation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Random Flip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Horizontal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Vertical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Label - Pixel 값에 의해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0 - Membrane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1 - Non - membrane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77" name="Google Shape;477;g36df4878ce8_1_4" title="challenge-isbi-2012-animation-input-labels.gif"/>
          <p:cNvPicPr preferRelativeResize="0"/>
          <p:nvPr/>
        </p:nvPicPr>
        <p:blipFill rotWithShape="1">
          <a:blip r:embed="rId3">
            <a:alphaModFix/>
          </a:blip>
          <a:srcRect l="-2940" r="2939"/>
          <a:stretch/>
        </p:blipFill>
        <p:spPr>
          <a:xfrm>
            <a:off x="6110275" y="2453400"/>
            <a:ext cx="5434100" cy="2717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6df4878ce8_1_4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9" name="Google Shape;479;g36df4878ce8_1_4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6de4f831eb_1_63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6" name="Google Shape;486;g36de4f831eb_1_63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35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87" name="Google Shape;487;g36de4f831eb_1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8175" y="1678075"/>
            <a:ext cx="5719449" cy="40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6de4f831eb_1_63"/>
          <p:cNvSpPr txBox="1"/>
          <p:nvPr/>
        </p:nvSpPr>
        <p:spPr>
          <a:xfrm>
            <a:off x="731520" y="1913850"/>
            <a:ext cx="5601900" cy="3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Model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Paper에 나온 구조 그대로 구현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단, Augmentation에서 elastic deformed는 구현 X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Hyper Parmas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Optimizer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Adam 활용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Loss func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Binary Cross Entropy 활용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Epoch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100 epochs 설정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EarlyStopping 활용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patience 10으로 설정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9" name="Google Shape;489;g36de4f831eb_1_63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g36de4f831eb_1_63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6df4878ce8_1_15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7" name="Google Shape;497;g36df4878ce8_1_15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36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8" name="Google Shape;498;g36df4878ce8_1_15"/>
          <p:cNvSpPr txBox="1"/>
          <p:nvPr/>
        </p:nvSpPr>
        <p:spPr>
          <a:xfrm>
            <a:off x="731520" y="1913838"/>
            <a:ext cx="5430900" cy="40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성능 지표 - epoch 68th 기준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Accuracy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0.9028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Recall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0.9590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Precision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0.9164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Specificity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0.7218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F-1 score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0.9372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99" name="Google Shape;499;g36df4878ce8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0750" y="2151750"/>
            <a:ext cx="5628950" cy="3145786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6df4878ce8_1_15"/>
          <p:cNvSpPr/>
          <p:nvPr/>
        </p:nvSpPr>
        <p:spPr>
          <a:xfrm>
            <a:off x="513765" y="1162930"/>
            <a:ext cx="91500" cy="2742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1" name="Google Shape;501;g36df4878ce8_1_15"/>
          <p:cNvSpPr txBox="1"/>
          <p:nvPr/>
        </p:nvSpPr>
        <p:spPr>
          <a:xfrm>
            <a:off x="605275" y="1069188"/>
            <a:ext cx="40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6df4878ce8_1_28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8" name="Google Shape;508;g36df4878ce8_1_28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37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9" name="Google Shape;509;g36df4878ce8_1_28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0" name="Google Shape;510;g36df4878ce8_1_28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1" name="Google Shape;511;g36df4878ce8_1_28"/>
          <p:cNvSpPr txBox="1"/>
          <p:nvPr/>
        </p:nvSpPr>
        <p:spPr>
          <a:xfrm>
            <a:off x="731520" y="191385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Background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유방암 검진 과정에서 DBT 재구성 수행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해당 과정에서 DBT slice가 급증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이를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수작업으로 Segmentation 하기에는 어려움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이 존재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Goal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Automatic mass segmentation framework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구축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TPR : FPR : F-Score : IOU = 0.911 : 0.003 : 0.911 : 0.900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수작업 없이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Mass segmentation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에서 높은 성능 기록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6df4878ce8_4_0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8" name="Google Shape;518;g36df4878ce8_4_0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38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9" name="Google Shape;519;g36df4878ce8_4_0"/>
          <p:cNvSpPr txBox="1"/>
          <p:nvPr/>
        </p:nvSpPr>
        <p:spPr>
          <a:xfrm>
            <a:off x="731525" y="1913850"/>
            <a:ext cx="10815300" cy="44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Introduction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유방암 검진 과정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정기 검진과 조기 검진이 중요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유방 조직의 특성 상 이상 징후를 정확하게 탐지하기 어려움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더불어 때때로 유방의 기능적 조직이 병변과 유사하게 보일 수 있음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DBT 2D slice를 3D로 재구성하여 조직 중첩을 낮추고 비교적 적은 방사선량으로 Mass를 탐지할 수 있음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증가하는 Slice를 Segmentation 하는 성능이 중요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Before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DCNN을 통한 Segmentation 기법 연구 수행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Computational extensiveness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Patch 추출 과정에서 Sliding window 기법은 연산량 증가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Decreased resolution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Pooling 기법에 의해서 출력 이미지의 Resolution 감소로 인한 feature 손실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0" name="Google Shape;520;g36df4878ce8_4_0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g36df4878ce8_4_0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6df4878ce8_4_21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8" name="Google Shape;528;g36df4878ce8_4_21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39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9" name="Google Shape;529;g36df4878ce8_4_21"/>
          <p:cNvSpPr txBox="1"/>
          <p:nvPr/>
        </p:nvSpPr>
        <p:spPr>
          <a:xfrm>
            <a:off x="731520" y="1911096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This Paper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U-Net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을 활용한 AMS 제안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U-Net의 Architecture 특징으로 인해서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Decreased resolution 최소화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Multi-scale context 보존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Highly detailed segmentation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가능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적은 데이터셋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으로 학습 성능이 우수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DCNN보다 빠른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실시간 처리량과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더 좋은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분할 성능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30" name="Google Shape;530;g36df4878ce8_4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0076" y="2050988"/>
            <a:ext cx="5675450" cy="2756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g36df4878ce8_4_21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2" name="Google Shape;532;g36df4878ce8_4_21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6df4878ce8_4_9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9" name="Google Shape;539;g36df4878ce8_4_9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40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0" name="Google Shape;540;g36df4878ce8_4_9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Pre processing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+ U-Net + Post processing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DBT slice 해상도는 매우 높지만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mass region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이 해상도에 비해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매우 작음</a:t>
            </a: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DBT slice를 그저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단순하게 Resizing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하게 되는 경우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해상도 감소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41" name="Google Shape;541;g36df4878ce8_4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975" y="3510125"/>
            <a:ext cx="4504401" cy="294885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g36df4878ce8_4_9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3" name="Google Shape;543;g36df4878ce8_4_9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e05e5f5fe_3_0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0" name="Google Shape;550;g36e05e5f5fe_3_0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41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1" name="Google Shape;551;g36e05e5f5fe_3_0"/>
          <p:cNvSpPr txBox="1"/>
          <p:nvPr/>
        </p:nvSpPr>
        <p:spPr>
          <a:xfrm>
            <a:off x="731525" y="1828800"/>
            <a:ext cx="10815300" cy="45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Pre processing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+ U-Net + Post processing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Pre 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Empty canvas creation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동일한 크기의 빈 캔버스 생성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743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Image alignment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각 원본 이미지를 캔버스 오른쪽을 기준으로 정렬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743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Patch division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각 이미지를 4개의 동일한 크기 패치로 나눔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Ground truth processing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원본 이미지 전처리 과정과 동일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전처리 된 이미지와 실제 레이블 간의 일관성 유지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52" name="Google Shape;552;g36e05e5f5fe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9502" y="2335100"/>
            <a:ext cx="4903398" cy="3799137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36e05e5f5fe_3_0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4" name="Google Shape;554;g36e05e5f5fe_3_0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6df4878ce8_4_31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1" name="Google Shape;561;g36df4878ce8_4_31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42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2" name="Google Shape;562;g36df4878ce8_4_31"/>
          <p:cNvSpPr txBox="1"/>
          <p:nvPr/>
        </p:nvSpPr>
        <p:spPr>
          <a:xfrm>
            <a:off x="731525" y="1828800"/>
            <a:ext cx="10815300" cy="46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Pre processing +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 U-Net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+ Post processing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U-Net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Model input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1024 x 1024 x 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743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Encoder - Downsampling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2 개의 3 x 3 conv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ReLU function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2 x 2 Max-pooling을 통한 Downsampling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743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Decoder - Upsampling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○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 개의 3 x 3 conv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○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ReLU function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○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 x 2 Up-conv을 통한 Upsampling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743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Output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○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 x 1 conv를 통한 Segmentation map 생성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63" name="Google Shape;563;g36df4878ce8_4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1575" y="2113187"/>
            <a:ext cx="5578674" cy="377787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36df4878ce8_4_31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5" name="Google Shape;565;g36df4878ce8_4_31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6df4878ce8_5_12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2" name="Google Shape;572;g36df4878ce8_5_12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43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3" name="Google Shape;573;g36df4878ce8_5_12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Pre processing + U-Net +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 Post 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DBT slice의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낮은 대비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로 인해서  주변 Region과 Mass가 유사하여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Segmentation 성능 저하</a:t>
            </a:r>
            <a:endParaRPr sz="10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Post 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Gaussian filter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노이즈를 효과적으로 줄이면서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객체 경계 보존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OTSU thresholding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남아있는 노이즈 제거 및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배경과 객체 분할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4" name="Google Shape;574;g36df4878ce8_5_12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5" name="Google Shape;575;g36df4878ce8_5_12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76" name="Google Shape;576;g36df4878ce8_5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400" y="4276437"/>
            <a:ext cx="9229501" cy="20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6e05e5f5fe_0_30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3" name="Google Shape;583;g36e05e5f5fe_0_30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44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4" name="Google Shape;584;g36e05e5f5fe_0_30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Pre processing + U-Net +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 Post 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Post 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Gaussian filter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노이즈를 효과적으로 줄이면서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객체 경계 보존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OTSU thresholding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남아있는 노이즈 제거 및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배경과 객체 분할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85" name="Google Shape;585;g36e05e5f5fe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400" y="4276483"/>
            <a:ext cx="9229501" cy="20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36e05e5f5fe_0_30"/>
          <p:cNvSpPr/>
          <p:nvPr/>
        </p:nvSpPr>
        <p:spPr>
          <a:xfrm>
            <a:off x="1526500" y="4197096"/>
            <a:ext cx="3715800" cy="21807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g36e05e5f5fe_0_30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8" name="Google Shape;588;g36e05e5f5fe_0_30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6e05e5f5fe_0_10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5" name="Google Shape;595;g36e05e5f5fe_0_10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45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6" name="Google Shape;596;g36e05e5f5fe_0_10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Pre processing + U-Net +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 Post 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Post 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Gaussian filter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노이즈를 효과적으로 줄이면서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객체 경계 보존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OTSU thresholding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남아있는 노이즈 제거 및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배경과 객체 분할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97" name="Google Shape;597;g36e05e5f5fe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400" y="4276483"/>
            <a:ext cx="9229501" cy="20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g36e05e5f5fe_0_10"/>
          <p:cNvSpPr/>
          <p:nvPr/>
        </p:nvSpPr>
        <p:spPr>
          <a:xfrm>
            <a:off x="5286550" y="4154621"/>
            <a:ext cx="1837200" cy="21807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g36e05e5f5fe_0_10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0" name="Google Shape;600;g36e05e5f5fe_0_10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6e05e5f5fe_19_0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7" name="Google Shape;607;g36e05e5f5fe_19_0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46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8" name="Google Shape;608;g36e05e5f5fe_19_0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Pre processing + U-Net +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 Post 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Post 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Gaussian filter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노이즈를 효과적으로 줄이면서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객체 경계 보존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OTSU thresholding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남아있는 노이즈 제거 및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배경과 객체 분할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09" name="Google Shape;609;g36e05e5f5fe_19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400" y="4276483"/>
            <a:ext cx="9229501" cy="20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g36e05e5f5fe_19_0"/>
          <p:cNvSpPr/>
          <p:nvPr/>
        </p:nvSpPr>
        <p:spPr>
          <a:xfrm>
            <a:off x="7172775" y="4197096"/>
            <a:ext cx="1837200" cy="21807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36e05e5f5fe_19_0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2" name="Google Shape;612;g36e05e5f5fe_19_0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6e05e5f5fe_0_20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9" name="Google Shape;619;g36e05e5f5fe_0_20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47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0" name="Google Shape;620;g36e05e5f5fe_0_20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Methodology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Pre processing + U-Net +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 Post 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Post 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Gaussian filter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노이즈를 효과적으로 줄이면서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객체 경계 보존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OTSU thresholding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0" lvl="4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남아있는 노이즈 제거 및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배경과 객체 분할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21" name="Google Shape;621;g36e05e5f5fe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400" y="4276483"/>
            <a:ext cx="9229501" cy="20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g36e05e5f5fe_0_20"/>
          <p:cNvSpPr/>
          <p:nvPr/>
        </p:nvSpPr>
        <p:spPr>
          <a:xfrm>
            <a:off x="9055525" y="4197096"/>
            <a:ext cx="1837200" cy="21807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g36e05e5f5fe_0_20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4" name="Google Shape;624;g36e05e5f5fe_0_20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6df4878ce8_1_49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1" name="Google Shape;631;g36df4878ce8_1_49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48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2" name="Google Shape;632;g36df4878ce8_1_49"/>
          <p:cNvSpPr txBox="1"/>
          <p:nvPr/>
        </p:nvSpPr>
        <p:spPr>
          <a:xfrm>
            <a:off x="731525" y="1828800"/>
            <a:ext cx="108153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Experiment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Dataset - 원내 데이터 활용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50명의 환자에게서 얻은 DBT 이미지를 활용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Train: 25 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Test: 25 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Augmentation 수행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Rotation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Width/Height shift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Shear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Horizontal flip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TPR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- 0.911 土 0.027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FPR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- 0.003 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土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0.001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F-Score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- 0.911 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土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0.033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IoU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- 0.900 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土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0.036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Hausdorff distance(95%)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- 5.82 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土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1.172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33" name="Google Shape;633;g36df4878ce8_1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025" y="2838926"/>
            <a:ext cx="6077625" cy="2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g36df4878ce8_1_49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5" name="Google Shape;635;g36df4878ce8_1_49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6df4878ce8_5_0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2" name="Google Shape;642;g36df4878ce8_5_0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49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3" name="Google Shape;643;g36df4878ce8_5_0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Experiment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Red line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Pre-processing만 수행한 경우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Noto Sans KR"/>
              <a:buChar char="○"/>
            </a:pPr>
            <a:r>
              <a:rPr lang="en-US">
                <a:solidFill>
                  <a:srgbClr val="0000FF"/>
                </a:solidFill>
                <a:latin typeface="Noto Sans KR"/>
                <a:ea typeface="Noto Sans KR"/>
                <a:cs typeface="Noto Sans KR"/>
                <a:sym typeface="Noto Sans KR"/>
              </a:rPr>
              <a:t>Blue line</a:t>
            </a:r>
            <a:endParaRPr>
              <a:solidFill>
                <a:srgbClr val="0000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OTSU threshold만 수행한 경우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■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Pre-processing만 수행한 경우에 비해 객체 식별 능력 향상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8415"/>
              </a:buClr>
              <a:buSzPts val="1400"/>
              <a:buFont typeface="Noto Sans KR"/>
              <a:buChar char="○"/>
            </a:pPr>
            <a:r>
              <a:rPr lang="en-US">
                <a:solidFill>
                  <a:srgbClr val="0E8415"/>
                </a:solidFill>
                <a:latin typeface="Noto Sans KR"/>
                <a:ea typeface="Noto Sans KR"/>
                <a:cs typeface="Noto Sans KR"/>
                <a:sym typeface="Noto Sans KR"/>
              </a:rPr>
              <a:t>Green line</a:t>
            </a:r>
            <a:endParaRPr>
              <a:solidFill>
                <a:srgbClr val="0E841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Gaussian filter + OTSU threshold 모두 적용한 경우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■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Gaussian filter를 함께 활용하여 객체의 경계 분할에 효과적임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44" name="Google Shape;644;g36df4878ce8_5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8250" y="1837437"/>
            <a:ext cx="4161999" cy="460544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36df4878ce8_5_0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6" name="Google Shape;646;g36df4878ce8_5_0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6df4878ce8_4_41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3" name="Google Shape;653;g36df4878ce8_4_41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50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4" name="Google Shape;654;g36df4878ce8_4_41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Experiment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a - Raw image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b - Ground truth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방사선 전문의가 수동으로 Segmentation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c - AMS-U-Net predict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Ground Truth의 파란색 윤곽선과 매우 유사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병변의 모양과 위치를 정확하게 포착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 - c 이미지 확대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55" name="Google Shape;655;g36df4878ce8_4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9310" y="1913849"/>
            <a:ext cx="3916264" cy="4272649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g36df4878ce8_4_41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7" name="Google Shape;657;g36df4878ce8_4_41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6df4878ce8_4_54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4" name="Google Shape;664;g36df4878ce8_4_54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51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5" name="Google Shape;665;g36df4878ce8_4_54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Experiment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a - Raw image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b - Ground truth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c - AMS-U-Net predict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 - Pre-processing만 수행한 경우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 - Ground truth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f - Post-processing까지 수행한 경우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 - Ground truth(red) &amp; Predict(orange)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66" name="Google Shape;666;g36df4878ce8_4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725" y="2140750"/>
            <a:ext cx="6386399" cy="409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g36df4878ce8_4_54"/>
          <p:cNvSpPr/>
          <p:nvPr/>
        </p:nvSpPr>
        <p:spPr>
          <a:xfrm>
            <a:off x="1360825" y="2487168"/>
            <a:ext cx="2235000" cy="498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8" name="Google Shape;668;g36df4878ce8_4_54"/>
          <p:cNvSpPr/>
          <p:nvPr/>
        </p:nvSpPr>
        <p:spPr>
          <a:xfrm>
            <a:off x="6818300" y="2108225"/>
            <a:ext cx="1678200" cy="41586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g36df4878ce8_4_54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0" name="Google Shape;670;g36df4878ce8_4_54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6df4878ce8_7_2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7" name="Google Shape;677;g36df4878ce8_7_2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52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8" name="Google Shape;678;g36df4878ce8_7_2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Experiment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○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 - Raw image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b - Ground truth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c - AMS-U-Net predict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 - Pre-processing만 수행한 경우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 - Ground truth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f - Post-processing까지 수행한 경우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 - Ground truth(red) &amp; Predict(orange)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9" name="Google Shape;679;g36df4878ce8_7_2"/>
          <p:cNvSpPr/>
          <p:nvPr/>
        </p:nvSpPr>
        <p:spPr>
          <a:xfrm>
            <a:off x="1380744" y="3039575"/>
            <a:ext cx="3010500" cy="236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80" name="Google Shape;680;g36df4878ce8_7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725" y="2140750"/>
            <a:ext cx="6386399" cy="409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g36df4878ce8_7_2"/>
          <p:cNvSpPr/>
          <p:nvPr/>
        </p:nvSpPr>
        <p:spPr>
          <a:xfrm>
            <a:off x="8489675" y="2108225"/>
            <a:ext cx="838500" cy="41586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g36df4878ce8_7_2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3" name="Google Shape;683;g36df4878ce8_7_2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6df4878ce8_7_17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0" name="Google Shape;690;g36df4878ce8_7_17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53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1" name="Google Shape;691;g36df4878ce8_7_17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Experiment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○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 - Raw image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b - Ground truth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c - AMS-U-Net predict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d - Pre-processing만 수행한 경우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 - Ground truth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f - Post-processing까지 수행한 경우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g - Ground truth(red) &amp; Predict(orange)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2" name="Google Shape;692;g36df4878ce8_7_17"/>
          <p:cNvSpPr/>
          <p:nvPr/>
        </p:nvSpPr>
        <p:spPr>
          <a:xfrm>
            <a:off x="1320925" y="3284150"/>
            <a:ext cx="3688800" cy="8559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93" name="Google Shape;693;g36df4878ce8_7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725" y="2140750"/>
            <a:ext cx="6386399" cy="409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6df4878ce8_7_17"/>
          <p:cNvSpPr/>
          <p:nvPr/>
        </p:nvSpPr>
        <p:spPr>
          <a:xfrm>
            <a:off x="9318625" y="2108225"/>
            <a:ext cx="2505000" cy="41586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g36df4878ce8_7_17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6" name="Google Shape;696;g36df4878ce8_7_17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6df4878ce8_1_67"/>
          <p:cNvSpPr txBox="1"/>
          <p:nvPr/>
        </p:nvSpPr>
        <p:spPr>
          <a:xfrm>
            <a:off x="74893" y="-12741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0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in the Medical Domain</a:t>
            </a:r>
            <a:endParaRPr sz="30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3" name="Google Shape;703;g36df4878ce8_1_67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54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4" name="Google Shape;704;g36df4878ce8_1_67"/>
          <p:cNvSpPr txBox="1"/>
          <p:nvPr/>
        </p:nvSpPr>
        <p:spPr>
          <a:xfrm>
            <a:off x="731520" y="1828800"/>
            <a:ext cx="10815300" cy="4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Conclusion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Pre-processing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영상 해상도를 유지하고 객체와 배경 사이의 비율 개선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입력 이미지에 대한 일관성 부여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8288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U-Net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적은 연산량과 실시간 처리량 우수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적은 데이터셋으로 높은 성능 기록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더 자세한 Segmentation이 가능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Multi-scale context 보존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1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Post-processing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2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노이즈 제거로 인한 객체 경계 분할 성능 향상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5" name="Google Shape;705;g36df4878ce8_1_67"/>
          <p:cNvSpPr/>
          <p:nvPr/>
        </p:nvSpPr>
        <p:spPr>
          <a:xfrm>
            <a:off x="513765" y="1161288"/>
            <a:ext cx="91500" cy="365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6" name="Google Shape;706;g36df4878ce8_1_67"/>
          <p:cNvSpPr txBox="1"/>
          <p:nvPr/>
        </p:nvSpPr>
        <p:spPr>
          <a:xfrm>
            <a:off x="605275" y="1036348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Noto Sans KR"/>
                <a:ea typeface="Noto Sans KR"/>
                <a:cs typeface="Noto Sans KR"/>
                <a:sym typeface="Noto Sans KR"/>
              </a:rPr>
              <a:t> AMS-U-Net: automatic mass segmentation in digital breast tomosynthesis via U-Net</a:t>
            </a:r>
            <a:endParaRPr sz="18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  Ahmad Qasem,a Genggeng Qin,b and Zhiguo Zhou (Journal of Medical Imaging)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6d98813954_0_14"/>
          <p:cNvSpPr txBox="1"/>
          <p:nvPr/>
        </p:nvSpPr>
        <p:spPr>
          <a:xfrm>
            <a:off x="4614750" y="3028800"/>
            <a:ext cx="2962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1F386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QnA</a:t>
            </a:r>
            <a:endParaRPr sz="4000" b="0" i="0" u="none" strike="noStrike" cap="none">
              <a:solidFill>
                <a:srgbClr val="1F386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3" name="Google Shape;713;g36d98813954_0_14"/>
          <p:cNvSpPr txBox="1">
            <a:spLocks noGrp="1"/>
          </p:cNvSpPr>
          <p:nvPr>
            <p:ph type="sldNum" idx="12"/>
          </p:nvPr>
        </p:nvSpPr>
        <p:spPr>
          <a:xfrm>
            <a:off x="9407052" y="6519300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600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55</a:t>
            </a:fld>
            <a:endParaRPr sz="1600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3121</Words>
  <Application>Microsoft Office PowerPoint</Application>
  <PresentationFormat>와이드스크린</PresentationFormat>
  <Paragraphs>704</Paragraphs>
  <Slides>55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1" baseType="lpstr">
      <vt:lpstr>Wingdings</vt:lpstr>
      <vt:lpstr>Malgun Gothic</vt:lpstr>
      <vt:lpstr>Arial</vt:lpstr>
      <vt:lpstr>Noto Sans KR</vt:lpstr>
      <vt:lpstr>Helvetica Neue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nano</dc:creator>
  <cp:lastModifiedBy>창희 홍</cp:lastModifiedBy>
  <cp:revision>3</cp:revision>
  <dcterms:created xsi:type="dcterms:W3CDTF">2019-12-16T05:59:14Z</dcterms:created>
  <dcterms:modified xsi:type="dcterms:W3CDTF">2025-07-18T06:41:02Z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